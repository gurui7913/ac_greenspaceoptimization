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2" r:id="rId2"/>
    <p:sldId id="278" r:id="rId3"/>
    <p:sldId id="263" r:id="rId4"/>
    <p:sldId id="264" r:id="rId5"/>
    <p:sldId id="265" r:id="rId6"/>
    <p:sldId id="260" r:id="rId7"/>
    <p:sldId id="267" r:id="rId8"/>
    <p:sldId id="272" r:id="rId9"/>
    <p:sldId id="274" r:id="rId10"/>
    <p:sldId id="275" r:id="rId11"/>
    <p:sldId id="277"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AA8DBB1-1146-45F8-97CE-E9A8964B6E43}">
          <p14:sldIdLst>
            <p14:sldId id="262"/>
          </p14:sldIdLst>
        </p14:section>
        <p14:section name="01_AlgorithmImplementation" id="{D067C433-B253-4063-920A-D3C333D2A0AA}">
          <p14:sldIdLst>
            <p14:sldId id="278"/>
            <p14:sldId id="263"/>
            <p14:sldId id="264"/>
            <p14:sldId id="265"/>
          </p14:sldIdLst>
        </p14:section>
        <p14:section name="02_ReviewOfMethods" id="{3568E756-34BB-4D5B-B659-69CA7AABE7B3}">
          <p14:sldIdLst>
            <p14:sldId id="260"/>
            <p14:sldId id="267"/>
          </p14:sldIdLst>
        </p14:section>
        <p14:section name="03_Results" id="{F5E4AE86-A26B-4CF0-AB14-A43282B80CCC}">
          <p14:sldIdLst>
            <p14:sldId id="272"/>
            <p14:sldId id="274"/>
            <p14:sldId id="275"/>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4C9A"/>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702" autoAdjust="0"/>
  </p:normalViewPr>
  <p:slideViewPr>
    <p:cSldViewPr snapToGrid="0">
      <p:cViewPr>
        <p:scale>
          <a:sx n="75" d="100"/>
          <a:sy n="75" d="100"/>
        </p:scale>
        <p:origin x="1412"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8495D-8281-4B74-BA3A-0481CBDB78C8}" type="datetimeFigureOut">
              <a:rPr lang="zh-CN" altLang="en-US" smtClean="0"/>
              <a:t>2025/5/1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E5E170-AE66-4ABA-9F6D-0E886B2593D7}" type="slidenum">
              <a:rPr lang="zh-CN" altLang="en-US" smtClean="0"/>
              <a:t>‹#›</a:t>
            </a:fld>
            <a:endParaRPr lang="zh-CN" altLang="en-US"/>
          </a:p>
        </p:txBody>
      </p:sp>
    </p:spTree>
    <p:extLst>
      <p:ext uri="{BB962C8B-B14F-4D97-AF65-F5344CB8AC3E}">
        <p14:creationId xmlns:p14="http://schemas.microsoft.com/office/powerpoint/2010/main" val="862351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1</a:t>
            </a:fld>
            <a:endParaRPr lang="zh-CN" altLang="en-US"/>
          </a:p>
        </p:txBody>
      </p:sp>
    </p:spTree>
    <p:extLst>
      <p:ext uri="{BB962C8B-B14F-4D97-AF65-F5344CB8AC3E}">
        <p14:creationId xmlns:p14="http://schemas.microsoft.com/office/powerpoint/2010/main" val="4103629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420D1-714E-C944-2ABE-AAF875F0A8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C41712-F268-99E2-4E0E-365ACAEDB0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DA48A9-E01B-5B3C-6256-29EE07B4E3C5}"/>
              </a:ext>
            </a:extLst>
          </p:cNvPr>
          <p:cNvSpPr>
            <a:spLocks noGrp="1"/>
          </p:cNvSpPr>
          <p:nvPr>
            <p:ph type="body" idx="1"/>
          </p:nvPr>
        </p:nvSpPr>
        <p:spPr/>
        <p:txBody>
          <a:bodyPr/>
          <a:lstStyle/>
          <a:p>
            <a:r>
              <a:rPr lang="en-US" altLang="zh-CN" dirty="0"/>
              <a:t>The motivation for the project is that there are many studies have shown that green spaces are beneficial for human health, especially for the elderly, and that green viewsheds have a significant impact on the health of the elderly. So given to this, I started my project. </a:t>
            </a:r>
          </a:p>
          <a:p>
            <a:r>
              <a:rPr lang="en-US" altLang="zh-CN" dirty="0"/>
              <a:t>The optimization has two optimization objectives: maximizing the green visibility on the path in residential area </a:t>
            </a:r>
          </a:p>
          <a:p>
            <a:r>
              <a:rPr lang="en-US" altLang="zh-CN" dirty="0"/>
              <a:t>and minimizing deviation from target green area which means maximizing the total green space area.</a:t>
            </a:r>
          </a:p>
          <a:p>
            <a:endParaRPr lang="en-US" altLang="zh-CN" dirty="0"/>
          </a:p>
          <a:p>
            <a:r>
              <a:rPr lang="en-US" altLang="zh-CN" dirty="0"/>
              <a:t>The main workflow can be divided into three main parts:</a:t>
            </a:r>
          </a:p>
          <a:p>
            <a:r>
              <a:rPr lang="en-US" altLang="zh-CN" dirty="0"/>
              <a:t>The first step is about data preparation </a:t>
            </a:r>
          </a:p>
          <a:p>
            <a:r>
              <a:rPr lang="en-US" altLang="zh-CN" dirty="0"/>
              <a:t>The next is to set my three core fitness functions.</a:t>
            </a:r>
          </a:p>
          <a:p>
            <a:r>
              <a:rPr lang="en-US" altLang="zh-CN" dirty="0"/>
              <a:t>They are defined to compute the green view score, area variance, and distribution uniformity to make sure each region has some green space distributed in it;</a:t>
            </a:r>
          </a:p>
          <a:p>
            <a:endParaRPr lang="en-US" altLang="zh-CN" dirty="0"/>
          </a:p>
          <a:p>
            <a:r>
              <a:rPr lang="en-US" altLang="zh-CN" dirty="0"/>
              <a:t>Finally running the NSGA-II algorithm to obtain solutions</a:t>
            </a:r>
            <a:endParaRPr lang="zh-CN" altLang="en-US" dirty="0"/>
          </a:p>
        </p:txBody>
      </p:sp>
      <p:sp>
        <p:nvSpPr>
          <p:cNvPr id="4" name="灯片编号占位符 3">
            <a:extLst>
              <a:ext uri="{FF2B5EF4-FFF2-40B4-BE49-F238E27FC236}">
                <a16:creationId xmlns:a16="http://schemas.microsoft.com/office/drawing/2014/main" id="{3B93E4CA-E0A3-F16C-7529-B233FD8F692E}"/>
              </a:ext>
            </a:extLst>
          </p:cNvPr>
          <p:cNvSpPr>
            <a:spLocks noGrp="1"/>
          </p:cNvSpPr>
          <p:nvPr>
            <p:ph type="sldNum" sz="quarter" idx="5"/>
          </p:nvPr>
        </p:nvSpPr>
        <p:spPr/>
        <p:txBody>
          <a:bodyPr/>
          <a:lstStyle/>
          <a:p>
            <a:fld id="{A2E5E170-AE66-4ABA-9F6D-0E886B2593D7}" type="slidenum">
              <a:rPr lang="zh-CN" altLang="en-US" smtClean="0"/>
              <a:t>2</a:t>
            </a:fld>
            <a:endParaRPr lang="zh-CN" altLang="en-US"/>
          </a:p>
        </p:txBody>
      </p:sp>
    </p:spTree>
    <p:extLst>
      <p:ext uri="{BB962C8B-B14F-4D97-AF65-F5344CB8AC3E}">
        <p14:creationId xmlns:p14="http://schemas.microsoft.com/office/powerpoint/2010/main" val="1819244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comes to some details about how I set my core function</a:t>
            </a:r>
          </a:p>
          <a:p>
            <a:endParaRPr lang="en-US" altLang="zh-CN" dirty="0"/>
          </a:p>
          <a:p>
            <a:r>
              <a:rPr lang="en-US" altLang="zh-CN" dirty="0"/>
              <a:t>Core Function 1: The green field of view calculation function on the left converts Boolean genomes to geometric shapes, </a:t>
            </a:r>
          </a:p>
          <a:p>
            <a:r>
              <a:rPr lang="en-US" altLang="zh-CN" dirty="0"/>
              <a:t>then emits 30 90-meter-long rays from the path sampling point </a:t>
            </a:r>
            <a:r>
              <a:rPr lang="en-US" altLang="zh-CN"/>
              <a:t>and calculates </a:t>
            </a:r>
            <a:r>
              <a:rPr lang="en-US" altLang="zh-CN" dirty="0"/>
              <a:t>the proportion of rays that can see the green space and are not blocked by buildings,</a:t>
            </a:r>
          </a:p>
          <a:p>
            <a:r>
              <a:rPr lang="en-US" altLang="zh-CN" dirty="0"/>
              <a:t> with a score ranging from 0 to 1, the higher the better.</a:t>
            </a:r>
          </a:p>
          <a:p>
            <a:endParaRPr lang="en-US" altLang="zh-CN" dirty="0"/>
          </a:p>
          <a:p>
            <a:r>
              <a:rPr lang="en-US" altLang="zh-CN" dirty="0"/>
              <a:t>Core Function 2: The area difference calculation function on the top right counts the number of activated green space grids, </a:t>
            </a:r>
          </a:p>
          <a:p>
            <a:r>
              <a:rPr lang="en-US" altLang="zh-CN" dirty="0"/>
              <a:t>multiplies them by the grid size to get the actual area, and then calculates the absolute difference from the target area, the smaller the better.</a:t>
            </a:r>
          </a:p>
          <a:p>
            <a:endParaRPr lang="en-US" altLang="zh-CN" dirty="0"/>
          </a:p>
          <a:p>
            <a:r>
              <a:rPr lang="en-US" altLang="zh-CN" dirty="0"/>
              <a:t>Core Function 3: the distribution penalty function on the lower right ensures that green space is evenly distributed in each area</a:t>
            </a:r>
            <a:endParaRPr lang="zh-CN" altLang="en-US" dirty="0"/>
          </a:p>
          <a:p>
            <a:endParaRPr lang="en-US" altLang="zh-CN"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3</a:t>
            </a:fld>
            <a:endParaRPr lang="zh-CN" altLang="en-US"/>
          </a:p>
        </p:txBody>
      </p:sp>
    </p:spTree>
    <p:extLst>
      <p:ext uri="{BB962C8B-B14F-4D97-AF65-F5344CB8AC3E}">
        <p14:creationId xmlns:p14="http://schemas.microsoft.com/office/powerpoint/2010/main" val="3714947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a simplified flow of the genetic algorithm applied to green space optimization illustrating the core steps of the algorithm:</a:t>
            </a:r>
          </a:p>
          <a:p>
            <a:r>
              <a:rPr lang="en-US" altLang="zh-CN" dirty="0"/>
              <a:t>The illustration on the right side illustrates the representation of the solutions: </a:t>
            </a:r>
          </a:p>
          <a:p>
            <a:r>
              <a:rPr lang="en-US" altLang="zh-CN" dirty="0"/>
              <a:t>each chromosome is a Boolean array corresponding to 613 grid cells, </a:t>
            </a:r>
          </a:p>
          <a:p>
            <a:r>
              <a:rPr lang="en-US" altLang="zh-CN" dirty="0"/>
              <a:t>with 1 indicating a green field and 0 a non-green field. </a:t>
            </a:r>
          </a:p>
          <a:p>
            <a:r>
              <a:rPr lang="en-US" altLang="zh-CN" dirty="0"/>
              <a:t>These Boolean values are eventually converted into a 2D layout for evaluating the two optimization objectives of green field of view and area</a:t>
            </a:r>
            <a:endParaRPr lang="zh-CN" altLang="en-US"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4</a:t>
            </a:fld>
            <a:endParaRPr lang="zh-CN" altLang="en-US"/>
          </a:p>
        </p:txBody>
      </p:sp>
    </p:spTree>
    <p:extLst>
      <p:ext uri="{BB962C8B-B14F-4D97-AF65-F5344CB8AC3E}">
        <p14:creationId xmlns:p14="http://schemas.microsoft.com/office/powerpoint/2010/main" val="4090731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left side is the same simplified pseudo-code of the algorithm</a:t>
            </a:r>
          </a:p>
          <a:p>
            <a:r>
              <a:rPr lang="en-US" altLang="zh-CN" dirty="0"/>
              <a:t>The illustration on the right side shows the specific genetic operations:  the customized mutation, crossover and selection process </a:t>
            </a:r>
          </a:p>
          <a:p>
            <a:r>
              <a:rPr lang="en-US" altLang="zh-CN" dirty="0"/>
              <a:t>The whole optimization process considers both the objectives of maximizing the green visibility and minimizing the area difference which is maximizing the green space area, referring to the method proposed by Deb et al. 2002.</a:t>
            </a:r>
            <a:endParaRPr lang="zh-CN" altLang="en-US"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5</a:t>
            </a:fld>
            <a:endParaRPr lang="zh-CN" altLang="en-US"/>
          </a:p>
        </p:txBody>
      </p:sp>
    </p:spTree>
    <p:extLst>
      <p:ext uri="{BB962C8B-B14F-4D97-AF65-F5344CB8AC3E}">
        <p14:creationId xmlns:p14="http://schemas.microsoft.com/office/powerpoint/2010/main" val="99237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first stage is site analysis and data processing: processing the greenspace boundaries excluding the building footprints, and generating visual sampling </a:t>
            </a:r>
            <a:r>
              <a:rPr lang="en-US" altLang="zh-CN" dirty="0" err="1"/>
              <a:t>poits</a:t>
            </a:r>
            <a:r>
              <a:rPr lang="en-US" altLang="zh-CN" dirty="0"/>
              <a:t> on the </a:t>
            </a:r>
            <a:r>
              <a:rPr lang="en-US" altLang="zh-CN" dirty="0" err="1"/>
              <a:t>paths,turn</a:t>
            </a:r>
            <a:r>
              <a:rPr lang="en-US" altLang="zh-CN" dirty="0"/>
              <a:t> the valid green space area into 5*% grid network</a:t>
            </a:r>
          </a:p>
          <a:p>
            <a:r>
              <a:rPr lang="en-US" altLang="zh-CN" dirty="0"/>
              <a:t>The second stage is grid representation and modeling: it’s more about create grid units and calculate the grid centers, and them goes to using the Boolean array to represent green space status, then distributed those green areas evenly in nearby residential buildings</a:t>
            </a:r>
            <a:endParaRPr lang="zh-CN" altLang="en-US"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6</a:t>
            </a:fld>
            <a:endParaRPr lang="zh-CN" altLang="en-US"/>
          </a:p>
        </p:txBody>
      </p:sp>
    </p:spTree>
    <p:extLst>
      <p:ext uri="{BB962C8B-B14F-4D97-AF65-F5344CB8AC3E}">
        <p14:creationId xmlns:p14="http://schemas.microsoft.com/office/powerpoint/2010/main" val="3706900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left side is about the objective function for green field of view calculation: casting the rays from sampling points, detecting those rays hits the greenspaces or not and excluding those hitting buildings</a:t>
            </a:r>
          </a:p>
          <a:p>
            <a:r>
              <a:rPr lang="en-US" altLang="zh-CN" dirty="0"/>
              <a:t>On the right is the objective function for green area calculation: calculating the generated total green area, and then minus the target area, to achieve the smaller the better goal. As well as to make sure those green space areas distribute evenly here</a:t>
            </a:r>
          </a:p>
          <a:p>
            <a:r>
              <a:rPr lang="en-US" altLang="zh-CN" dirty="0"/>
              <a:t>Bottom summarizes the Pareto optimal solution set: to find the best solution for the two optimization goals</a:t>
            </a:r>
          </a:p>
        </p:txBody>
      </p:sp>
      <p:sp>
        <p:nvSpPr>
          <p:cNvPr id="4" name="灯片编号占位符 3"/>
          <p:cNvSpPr>
            <a:spLocks noGrp="1"/>
          </p:cNvSpPr>
          <p:nvPr>
            <p:ph type="sldNum" sz="quarter" idx="5"/>
          </p:nvPr>
        </p:nvSpPr>
        <p:spPr/>
        <p:txBody>
          <a:bodyPr/>
          <a:lstStyle/>
          <a:p>
            <a:fld id="{A2E5E170-AE66-4ABA-9F6D-0E886B2593D7}" type="slidenum">
              <a:rPr lang="zh-CN" altLang="en-US" smtClean="0"/>
              <a:t>7</a:t>
            </a:fld>
            <a:endParaRPr lang="zh-CN" altLang="en-US"/>
          </a:p>
        </p:txBody>
      </p:sp>
    </p:spTree>
    <p:extLst>
      <p:ext uri="{BB962C8B-B14F-4D97-AF65-F5344CB8AC3E}">
        <p14:creationId xmlns:p14="http://schemas.microsoft.com/office/powerpoint/2010/main" val="723553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left is a simple depiction of the current state of the green space layout in the study area, </a:t>
            </a:r>
          </a:p>
          <a:p>
            <a:r>
              <a:rPr lang="en-US" altLang="zh-CN" dirty="0"/>
              <a:t>and on the right is one of optimization solutions which achieves to balance both two optimization goals</a:t>
            </a:r>
          </a:p>
          <a:p>
            <a:r>
              <a:rPr lang="en-US" altLang="zh-CN" dirty="0"/>
              <a:t>Through comparing the before and after optimized layout, it shows that the optimized green space layout achieves to be more evenly distributed along the community paths and next to the community houses compared to the current state of the site, showing an effective result</a:t>
            </a:r>
            <a:endParaRPr lang="zh-CN" altLang="en-US"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8</a:t>
            </a:fld>
            <a:endParaRPr lang="zh-CN" altLang="en-US"/>
          </a:p>
        </p:txBody>
      </p:sp>
    </p:spTree>
    <p:extLst>
      <p:ext uri="{BB962C8B-B14F-4D97-AF65-F5344CB8AC3E}">
        <p14:creationId xmlns:p14="http://schemas.microsoft.com/office/powerpoint/2010/main" val="3907178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 chose two of the Pareto frontiers solutions</a:t>
            </a:r>
          </a:p>
          <a:p>
            <a:r>
              <a:rPr lang="en-US" altLang="zh-CN" dirty="0"/>
              <a:t>Through comparing them, I found that, in fact, it is not that the larger the green space area, the better the green visual field value obtained.</a:t>
            </a:r>
          </a:p>
          <a:p>
            <a:r>
              <a:rPr lang="en-US" altLang="zh-CN" dirty="0"/>
              <a:t>So here comes to my project’s limitations</a:t>
            </a:r>
          </a:p>
        </p:txBody>
      </p:sp>
      <p:sp>
        <p:nvSpPr>
          <p:cNvPr id="4" name="灯片编号占位符 3"/>
          <p:cNvSpPr>
            <a:spLocks noGrp="1"/>
          </p:cNvSpPr>
          <p:nvPr>
            <p:ph type="sldNum" sz="quarter" idx="5"/>
          </p:nvPr>
        </p:nvSpPr>
        <p:spPr/>
        <p:txBody>
          <a:bodyPr/>
          <a:lstStyle/>
          <a:p>
            <a:fld id="{A2E5E170-AE66-4ABA-9F6D-0E886B2593D7}" type="slidenum">
              <a:rPr lang="zh-CN" altLang="en-US" smtClean="0"/>
              <a:t>9</a:t>
            </a:fld>
            <a:endParaRPr lang="zh-CN" altLang="en-US"/>
          </a:p>
        </p:txBody>
      </p:sp>
    </p:spTree>
    <p:extLst>
      <p:ext uri="{BB962C8B-B14F-4D97-AF65-F5344CB8AC3E}">
        <p14:creationId xmlns:p14="http://schemas.microsoft.com/office/powerpoint/2010/main" val="3817888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There are still a lot of shortcomings in this project, like the choice of the fitness function and lack of consideration of other elements like the building layouts.</a:t>
            </a:r>
          </a:p>
          <a:p>
            <a:r>
              <a:rPr lang="en-US" altLang="zh-CN" dirty="0"/>
              <a:t>And only 2D layout can not indicate the green field of view is good or bad, </a:t>
            </a:r>
          </a:p>
          <a:p>
            <a:r>
              <a:rPr lang="en-US" altLang="zh-CN" dirty="0"/>
              <a:t>the green field of view is only reflected in the figures, </a:t>
            </a:r>
          </a:p>
          <a:p>
            <a:r>
              <a:rPr lang="en-US" altLang="zh-CN" dirty="0"/>
              <a:t>or need to be combined with the plants in the 3D space.</a:t>
            </a:r>
          </a:p>
          <a:p>
            <a:endParaRPr lang="en-US" altLang="zh-CN" dirty="0"/>
          </a:p>
          <a:p>
            <a:r>
              <a:rPr lang="en-US" altLang="zh-CN" dirty="0"/>
              <a:t>That’s all about my project.</a:t>
            </a:r>
          </a:p>
          <a:p>
            <a:endParaRPr lang="zh-CN" altLang="en-US" dirty="0"/>
          </a:p>
        </p:txBody>
      </p:sp>
      <p:sp>
        <p:nvSpPr>
          <p:cNvPr id="4" name="灯片编号占位符 3"/>
          <p:cNvSpPr>
            <a:spLocks noGrp="1"/>
          </p:cNvSpPr>
          <p:nvPr>
            <p:ph type="sldNum" sz="quarter" idx="5"/>
          </p:nvPr>
        </p:nvSpPr>
        <p:spPr/>
        <p:txBody>
          <a:bodyPr/>
          <a:lstStyle/>
          <a:p>
            <a:fld id="{A2E5E170-AE66-4ABA-9F6D-0E886B2593D7}" type="slidenum">
              <a:rPr lang="zh-CN" altLang="en-US" smtClean="0"/>
              <a:t>10</a:t>
            </a:fld>
            <a:endParaRPr lang="zh-CN" altLang="en-US"/>
          </a:p>
        </p:txBody>
      </p:sp>
    </p:spTree>
    <p:extLst>
      <p:ext uri="{BB962C8B-B14F-4D97-AF65-F5344CB8AC3E}">
        <p14:creationId xmlns:p14="http://schemas.microsoft.com/office/powerpoint/2010/main" val="2365167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F98B5-D7F9-9314-44C3-1071C600DCF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627F732-83C8-9948-9B30-3FFF7918D8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865546-C5DB-E33A-9851-2317BCBD12BA}"/>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5" name="页脚占位符 4">
            <a:extLst>
              <a:ext uri="{FF2B5EF4-FFF2-40B4-BE49-F238E27FC236}">
                <a16:creationId xmlns:a16="http://schemas.microsoft.com/office/drawing/2014/main" id="{F48516D5-584B-1225-7747-15F3769669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BF903F-E47D-B4D6-DC04-5CCB65D8BC68}"/>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4057903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22B55-7075-4DFD-206B-C7287CE6CA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4D080CC-0A9B-1584-DD35-D4FFF73730F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96C9EE-27FD-4185-B3F9-F8D2DB26A716}"/>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5" name="页脚占位符 4">
            <a:extLst>
              <a:ext uri="{FF2B5EF4-FFF2-40B4-BE49-F238E27FC236}">
                <a16:creationId xmlns:a16="http://schemas.microsoft.com/office/drawing/2014/main" id="{692192DE-2F8D-EB91-6E98-40E2B8EDC0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404A54-A30F-2B7A-39F6-8075F324F035}"/>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553260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4CDF07-2471-CA96-8C1F-E009890E00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F15594B-5B05-3ABB-DFEB-915E18704A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50C582E-A3AA-5B7F-AF63-CA11A8CDD0B7}"/>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5" name="页脚占位符 4">
            <a:extLst>
              <a:ext uri="{FF2B5EF4-FFF2-40B4-BE49-F238E27FC236}">
                <a16:creationId xmlns:a16="http://schemas.microsoft.com/office/drawing/2014/main" id="{A3B64A0B-32C3-D6ED-7CCB-C0DF5EBA42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DF574B-4862-CCAC-D6FD-84E258DF7339}"/>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1950024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D2897-5345-F3B9-2D8D-44C69F8FFE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1863F83-4C46-5790-9CA1-8AFF79CAD0B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66E3A3A-2C12-9C63-F6F2-D116A10313E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0023D06-18E1-797F-76C4-53270BED124A}"/>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6" name="页脚占位符 5">
            <a:extLst>
              <a:ext uri="{FF2B5EF4-FFF2-40B4-BE49-F238E27FC236}">
                <a16:creationId xmlns:a16="http://schemas.microsoft.com/office/drawing/2014/main" id="{6BFEE641-7056-47AA-8540-726016CF5DB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D18973-793E-C749-95A4-93606F408333}"/>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562523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22678-4A83-E5F5-1ACE-BC86F4A7FB3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C968655-9AED-649D-033B-6D4D6B1891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58A66CF-6AC9-8CBF-9432-D888E2A9D1A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38B9B3A-054F-C810-43F8-D476D69AC3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534292-BC2C-66EC-045D-063A374A5BF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38F8752-4F16-DFF1-F1FC-89CDCFBFBD4A}"/>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8" name="页脚占位符 7">
            <a:extLst>
              <a:ext uri="{FF2B5EF4-FFF2-40B4-BE49-F238E27FC236}">
                <a16:creationId xmlns:a16="http://schemas.microsoft.com/office/drawing/2014/main" id="{BD5422E4-F584-B7B6-BFF4-D708D9EEF31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8BA320-ED2D-0BCB-378F-372484E803BC}"/>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87793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4AFF2-D422-FC3B-1560-43B89C8DB7C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F35852B-9A67-D910-3705-99CA9FB72CB5}"/>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4" name="页脚占位符 3">
            <a:extLst>
              <a:ext uri="{FF2B5EF4-FFF2-40B4-BE49-F238E27FC236}">
                <a16:creationId xmlns:a16="http://schemas.microsoft.com/office/drawing/2014/main" id="{0F08F660-EC7C-306E-BC41-FDB7AF25D8A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AC623B8-9230-D521-A8F5-8000C6AFB535}"/>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95136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C741A93-F0AA-A449-98F4-2C04C01EEE1E}"/>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3" name="页脚占位符 2">
            <a:extLst>
              <a:ext uri="{FF2B5EF4-FFF2-40B4-BE49-F238E27FC236}">
                <a16:creationId xmlns:a16="http://schemas.microsoft.com/office/drawing/2014/main" id="{9DB6912A-7C65-A03B-510B-F173D1105D9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7E88B92-8891-EC44-9504-CB550359EFC1}"/>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32593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A76FD-1C33-CD39-28E0-691FF545CD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2A0F544-018E-D0C3-6E0C-7103937DFB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61ACEDB-6515-C2DD-35F2-AED94D792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7C13348-CDEC-5342-1ADA-36B6029573E6}"/>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6" name="页脚占位符 5">
            <a:extLst>
              <a:ext uri="{FF2B5EF4-FFF2-40B4-BE49-F238E27FC236}">
                <a16:creationId xmlns:a16="http://schemas.microsoft.com/office/drawing/2014/main" id="{9833494B-3EB2-050E-BBB9-C916D99978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44F0EB-2549-A2C8-1C51-C5100DF287CC}"/>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899630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30AB6D-F679-97AF-4F70-F4EA14A7637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9746D92-B1B3-D8EC-B54A-4B76964A1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113C762-BF48-FCC6-3B5E-4CFF1FE5E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3C20C0F-AD36-B748-7FCF-806AE8B1F42E}"/>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6" name="页脚占位符 5">
            <a:extLst>
              <a:ext uri="{FF2B5EF4-FFF2-40B4-BE49-F238E27FC236}">
                <a16:creationId xmlns:a16="http://schemas.microsoft.com/office/drawing/2014/main" id="{CBE90FCE-8511-807C-1C4C-128218F9283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9FBE45-264D-4F45-0145-5E97CE7E1D82}"/>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2980054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6136A-B308-CD49-0671-2868AC4FE37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9FE546B-DFD5-7F77-C466-779EFFFD258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450BD4D-8880-E8C2-BBE7-E1BB857FED15}"/>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5" name="页脚占位符 4">
            <a:extLst>
              <a:ext uri="{FF2B5EF4-FFF2-40B4-BE49-F238E27FC236}">
                <a16:creationId xmlns:a16="http://schemas.microsoft.com/office/drawing/2014/main" id="{B12914AA-CE89-B99C-1EC1-30ED7D5DAD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A1F2AB-9B13-DA5C-1CD5-B84AA72C983E}"/>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129749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CEBD67-F8FD-C5B3-C4A2-7EE03C73B72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EA6141A-3BA8-DBD9-3673-1DE0E9D013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906421-BD7D-CB32-E7A7-CAA548C73DE1}"/>
              </a:ext>
            </a:extLst>
          </p:cNvPr>
          <p:cNvSpPr>
            <a:spLocks noGrp="1"/>
          </p:cNvSpPr>
          <p:nvPr>
            <p:ph type="dt" sz="half" idx="10"/>
          </p:nvPr>
        </p:nvSpPr>
        <p:spPr/>
        <p:txBody>
          <a:bodyPr/>
          <a:lstStyle/>
          <a:p>
            <a:fld id="{B1FCF131-922B-4273-9A13-F51D403BB592}" type="datetimeFigureOut">
              <a:rPr lang="zh-CN" altLang="en-US" smtClean="0"/>
              <a:t>2025/5/1</a:t>
            </a:fld>
            <a:endParaRPr lang="zh-CN" altLang="en-US"/>
          </a:p>
        </p:txBody>
      </p:sp>
      <p:sp>
        <p:nvSpPr>
          <p:cNvPr id="5" name="页脚占位符 4">
            <a:extLst>
              <a:ext uri="{FF2B5EF4-FFF2-40B4-BE49-F238E27FC236}">
                <a16:creationId xmlns:a16="http://schemas.microsoft.com/office/drawing/2014/main" id="{3D0A6CFD-6AF3-FBE3-74A5-A57C508713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594BA7-728B-2033-69C6-34C731CA7A50}"/>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729110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BCF3B0-5EFE-98B4-7A6C-5AB809E86E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ADC37ED-BE7E-8DFD-2EC3-045536A504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5F3B46-6389-9147-971C-9BDEEBB04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FCF131-922B-4273-9A13-F51D403BB592}" type="datetimeFigureOut">
              <a:rPr lang="zh-CN" altLang="en-US" smtClean="0"/>
              <a:t>2025/5/1</a:t>
            </a:fld>
            <a:endParaRPr lang="zh-CN" altLang="en-US"/>
          </a:p>
        </p:txBody>
      </p:sp>
      <p:sp>
        <p:nvSpPr>
          <p:cNvPr id="5" name="页脚占位符 4">
            <a:extLst>
              <a:ext uri="{FF2B5EF4-FFF2-40B4-BE49-F238E27FC236}">
                <a16:creationId xmlns:a16="http://schemas.microsoft.com/office/drawing/2014/main" id="{EB90640C-77DC-35A2-B56B-2518E704A1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A932172-187D-5077-E424-71CCAC0C44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4039389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0647D97-DB83-228C-EB50-C1E425D65F16}"/>
            </a:ext>
          </a:extLst>
        </p:cNvPr>
        <p:cNvGrpSpPr/>
        <p:nvPr/>
      </p:nvGrpSpPr>
      <p:grpSpPr>
        <a:xfrm>
          <a:off x="0" y="0"/>
          <a:ext cx="0" cy="0"/>
          <a:chOff x="0" y="0"/>
          <a:chExt cx="0" cy="0"/>
        </a:xfrm>
      </p:grpSpPr>
      <p:pic>
        <p:nvPicPr>
          <p:cNvPr id="11" name="图片 10" descr="图表">
            <a:extLst>
              <a:ext uri="{FF2B5EF4-FFF2-40B4-BE49-F238E27FC236}">
                <a16:creationId xmlns:a16="http://schemas.microsoft.com/office/drawing/2014/main" id="{DDB7DEE7-8FA6-7B68-D39D-012F41FEE031}"/>
              </a:ext>
            </a:extLst>
          </p:cNvPr>
          <p:cNvPicPr>
            <a:picLocks noGrp="1" noRot="1" noChangeAspect="1" noMove="1" noResize="1" noEditPoints="1" noAdjustHandles="1" noChangeArrowheads="1" noChangeShapeType="1" noCrop="1"/>
          </p:cNvPicPr>
          <p:nvPr/>
        </p:nvPicPr>
        <p:blipFill>
          <a:blip r:embed="rId3">
            <a:alphaModFix/>
            <a:extLst>
              <a:ext uri="{28A0092B-C50C-407E-A947-70E740481C1C}">
                <a14:useLocalDpi xmlns:a14="http://schemas.microsoft.com/office/drawing/2010/main" val="0"/>
              </a:ext>
            </a:extLst>
          </a:blip>
          <a:stretch>
            <a:fillRect/>
          </a:stretch>
        </p:blipFill>
        <p:spPr>
          <a:xfrm>
            <a:off x="0" y="-101601"/>
            <a:ext cx="12192000" cy="6973175"/>
          </a:xfrm>
          <a:prstGeom prst="rect">
            <a:avLst/>
          </a:prstGeom>
        </p:spPr>
      </p:pic>
      <p:sp>
        <p:nvSpPr>
          <p:cNvPr id="4" name="文本框 3">
            <a:extLst>
              <a:ext uri="{FF2B5EF4-FFF2-40B4-BE49-F238E27FC236}">
                <a16:creationId xmlns:a16="http://schemas.microsoft.com/office/drawing/2014/main" id="{7630D647-8327-1BF0-1C56-F93CE1449163}"/>
              </a:ext>
            </a:extLst>
          </p:cNvPr>
          <p:cNvSpPr txBox="1"/>
          <p:nvPr/>
        </p:nvSpPr>
        <p:spPr>
          <a:xfrm>
            <a:off x="3911601" y="2782669"/>
            <a:ext cx="4572000" cy="646331"/>
          </a:xfrm>
          <a:prstGeom prst="rect">
            <a:avLst/>
          </a:prstGeom>
          <a:noFill/>
        </p:spPr>
        <p:txBody>
          <a:bodyPr wrap="square" rtlCol="0">
            <a:spAutoFit/>
          </a:bodyPr>
          <a:lstStyle/>
          <a:p>
            <a:pPr algn="ctr"/>
            <a:r>
              <a:rPr lang="en-US" altLang="zh-CN" sz="3600" dirty="0">
                <a:solidFill>
                  <a:schemeClr val="bg1"/>
                </a:solidFill>
                <a:latin typeface="Segoe UI Semibold" panose="020B0702040204020203" pitchFamily="34" charset="0"/>
                <a:ea typeface="Segoe UI Black" panose="020B0A02040204020203" pitchFamily="34" charset="0"/>
                <a:cs typeface="Segoe UI Semibold" panose="020B0702040204020203" pitchFamily="34" charset="0"/>
              </a:rPr>
              <a:t>COMFORT IN SIGHT</a:t>
            </a:r>
            <a:endParaRPr lang="zh-CN" altLang="en-US" sz="3600" dirty="0">
              <a:solidFill>
                <a:schemeClr val="bg1"/>
              </a:solidFill>
              <a:latin typeface="Segoe UI Semibold" panose="020B0702040204020203" pitchFamily="34" charset="0"/>
              <a:ea typeface="Arial Unicode MS" panose="020B0604020202020204" pitchFamily="34" charset="-122"/>
              <a:cs typeface="Segoe UI Semibold" panose="020B0702040204020203" pitchFamily="34" charset="0"/>
            </a:endParaRPr>
          </a:p>
        </p:txBody>
      </p:sp>
      <p:sp>
        <p:nvSpPr>
          <p:cNvPr id="5" name="文本框 4">
            <a:extLst>
              <a:ext uri="{FF2B5EF4-FFF2-40B4-BE49-F238E27FC236}">
                <a16:creationId xmlns:a16="http://schemas.microsoft.com/office/drawing/2014/main" id="{53D86AF1-0AC7-8F9C-575B-F85E44E5E339}"/>
              </a:ext>
            </a:extLst>
          </p:cNvPr>
          <p:cNvSpPr txBox="1"/>
          <p:nvPr/>
        </p:nvSpPr>
        <p:spPr>
          <a:xfrm>
            <a:off x="397165" y="801675"/>
            <a:ext cx="3602182" cy="307777"/>
          </a:xfrm>
          <a:prstGeom prst="rect">
            <a:avLst/>
          </a:prstGeom>
          <a:noFill/>
        </p:spPr>
        <p:txBody>
          <a:bodyPr wrap="square" rtlCol="0">
            <a:spAutoFit/>
          </a:bodyPr>
          <a:lstStyle/>
          <a:p>
            <a:pPr algn="ctr"/>
            <a:r>
              <a:rPr lang="en-US" altLang="zh-CN" sz="1400" dirty="0">
                <a:solidFill>
                  <a:schemeClr val="bg1"/>
                </a:solidFill>
                <a:latin typeface="Segoe UI Semibold" panose="020B0702040204020203" pitchFamily="34" charset="0"/>
                <a:cs typeface="Segoe UI Semibold" panose="020B0702040204020203" pitchFamily="34" charset="0"/>
              </a:rPr>
              <a:t>BARC0034 Morphogenetic Programming</a:t>
            </a:r>
            <a:endParaRPr lang="zh-CN" altLang="en-US" sz="1400" dirty="0">
              <a:solidFill>
                <a:schemeClr val="bg1"/>
              </a:solidFill>
              <a:latin typeface="Segoe UI Semibold" panose="020B0702040204020203" pitchFamily="34" charset="0"/>
              <a:cs typeface="Segoe UI Semibold" panose="020B0702040204020203" pitchFamily="34" charset="0"/>
            </a:endParaRPr>
          </a:p>
        </p:txBody>
      </p:sp>
      <p:sp>
        <p:nvSpPr>
          <p:cNvPr id="6" name="文本框 5">
            <a:extLst>
              <a:ext uri="{FF2B5EF4-FFF2-40B4-BE49-F238E27FC236}">
                <a16:creationId xmlns:a16="http://schemas.microsoft.com/office/drawing/2014/main" id="{C3AD7486-1D4F-2D14-3D4C-9C22B85713E0}"/>
              </a:ext>
            </a:extLst>
          </p:cNvPr>
          <p:cNvSpPr txBox="1"/>
          <p:nvPr/>
        </p:nvSpPr>
        <p:spPr>
          <a:xfrm>
            <a:off x="441038" y="493898"/>
            <a:ext cx="3470563" cy="307777"/>
          </a:xfrm>
          <a:prstGeom prst="rect">
            <a:avLst/>
          </a:prstGeom>
          <a:noFill/>
        </p:spPr>
        <p:txBody>
          <a:bodyPr wrap="square" rtlCol="0">
            <a:spAutoFit/>
          </a:bodyPr>
          <a:lstStyle/>
          <a:p>
            <a:pPr algn="ctr"/>
            <a:r>
              <a:rPr lang="en-US" altLang="zh-CN" sz="1400" dirty="0">
                <a:solidFill>
                  <a:schemeClr val="bg1"/>
                </a:solidFill>
                <a:latin typeface="Segoe UI Semibold" panose="020B0702040204020203" pitchFamily="34" charset="0"/>
                <a:cs typeface="Segoe UI Semibold" panose="020B0702040204020203" pitchFamily="34" charset="0"/>
              </a:rPr>
              <a:t>The Bartlett School of Architecture , UCL</a:t>
            </a:r>
            <a:endParaRPr lang="zh-CN" altLang="en-US" sz="1400" dirty="0">
              <a:solidFill>
                <a:schemeClr val="bg1"/>
              </a:solidFill>
              <a:latin typeface="Segoe UI Semibold" panose="020B0702040204020203" pitchFamily="34" charset="0"/>
              <a:cs typeface="Segoe UI Semibold" panose="020B0702040204020203" pitchFamily="34" charset="0"/>
            </a:endParaRPr>
          </a:p>
        </p:txBody>
      </p:sp>
      <p:sp>
        <p:nvSpPr>
          <p:cNvPr id="7" name="文本框 6">
            <a:extLst>
              <a:ext uri="{FF2B5EF4-FFF2-40B4-BE49-F238E27FC236}">
                <a16:creationId xmlns:a16="http://schemas.microsoft.com/office/drawing/2014/main" id="{BF256538-025B-184F-CBFD-9F5C868F0523}"/>
              </a:ext>
            </a:extLst>
          </p:cNvPr>
          <p:cNvSpPr txBox="1"/>
          <p:nvPr/>
        </p:nvSpPr>
        <p:spPr>
          <a:xfrm>
            <a:off x="5033819" y="3729609"/>
            <a:ext cx="2327564" cy="338554"/>
          </a:xfrm>
          <a:prstGeom prst="rect">
            <a:avLst/>
          </a:prstGeom>
          <a:noFill/>
        </p:spPr>
        <p:txBody>
          <a:bodyPr wrap="square" rtlCol="0">
            <a:spAutoFit/>
          </a:bodyPr>
          <a:lstStyle/>
          <a:p>
            <a:pPr algn="ctr"/>
            <a:r>
              <a:rPr lang="en-US" altLang="zh-CN" sz="1600" dirty="0">
                <a:solidFill>
                  <a:schemeClr val="bg1"/>
                </a:solidFill>
                <a:latin typeface="Segoe UI Semibold" panose="020B0702040204020203" pitchFamily="34" charset="0"/>
                <a:cs typeface="Segoe UI Semibold" panose="020B0702040204020203" pitchFamily="34" charset="0"/>
              </a:rPr>
              <a:t>CREATED BY: Rui Gu</a:t>
            </a:r>
            <a:endParaRPr lang="zh-CN" altLang="en-US" sz="1600" dirty="0">
              <a:solidFill>
                <a:schemeClr val="bg1"/>
              </a:solidFill>
              <a:latin typeface="Segoe UI Semibold" panose="020B0702040204020203" pitchFamily="34" charset="0"/>
              <a:cs typeface="Segoe UI Semibold" panose="020B0702040204020203" pitchFamily="34" charset="0"/>
            </a:endParaRPr>
          </a:p>
        </p:txBody>
      </p:sp>
      <p:sp>
        <p:nvSpPr>
          <p:cNvPr id="2" name="文本框 1">
            <a:extLst>
              <a:ext uri="{FF2B5EF4-FFF2-40B4-BE49-F238E27FC236}">
                <a16:creationId xmlns:a16="http://schemas.microsoft.com/office/drawing/2014/main" id="{DB8552C8-EE23-6378-AB2B-B2EB50D70689}"/>
              </a:ext>
            </a:extLst>
          </p:cNvPr>
          <p:cNvSpPr txBox="1"/>
          <p:nvPr/>
        </p:nvSpPr>
        <p:spPr>
          <a:xfrm>
            <a:off x="3528128" y="3391055"/>
            <a:ext cx="5688701" cy="338554"/>
          </a:xfrm>
          <a:prstGeom prst="rect">
            <a:avLst/>
          </a:prstGeom>
          <a:noFill/>
        </p:spPr>
        <p:txBody>
          <a:bodyPr wrap="square" rtlCol="0">
            <a:spAutoFit/>
          </a:bodyPr>
          <a:lstStyle/>
          <a:p>
            <a:pPr algn="ctr"/>
            <a:r>
              <a:rPr lang="en-US" altLang="zh-CN" sz="1600" dirty="0">
                <a:solidFill>
                  <a:schemeClr val="bg1"/>
                </a:solidFill>
                <a:latin typeface="Segoe UI Semibold" panose="020B0702040204020203" pitchFamily="34" charset="0"/>
                <a:cs typeface="Segoe UI Semibold" panose="020B0702040204020203" pitchFamily="34" charset="0"/>
              </a:rPr>
              <a:t>Using NSGA-II to Optimize Residential Green Space Layout</a:t>
            </a:r>
            <a:endParaRPr lang="zh-CN" altLang="en-US" sz="16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35902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38E55CE-AFB6-3239-01B9-0EB62C0019B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7E5298D-34F8-A960-AE84-A6585E293B6F}"/>
              </a:ext>
            </a:extLst>
          </p:cNvPr>
          <p:cNvSpPr txBox="1"/>
          <p:nvPr/>
        </p:nvSpPr>
        <p:spPr>
          <a:xfrm>
            <a:off x="2739437" y="189512"/>
            <a:ext cx="671312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14" name="文本框 13">
            <a:extLst>
              <a:ext uri="{FF2B5EF4-FFF2-40B4-BE49-F238E27FC236}">
                <a16:creationId xmlns:a16="http://schemas.microsoft.com/office/drawing/2014/main" id="{E34C38A5-3F25-B716-9CD2-090F44BA0FC1}"/>
              </a:ext>
            </a:extLst>
          </p:cNvPr>
          <p:cNvSpPr txBox="1"/>
          <p:nvPr/>
        </p:nvSpPr>
        <p:spPr>
          <a:xfrm>
            <a:off x="4290334" y="1410708"/>
            <a:ext cx="3140074" cy="2643224"/>
          </a:xfrm>
          <a:prstGeom prst="rect">
            <a:avLst/>
          </a:prstGeom>
          <a:noFill/>
        </p:spPr>
        <p:txBody>
          <a:bodyPr wrap="square" rtlCol="0">
            <a:spAutoFit/>
          </a:bodyPr>
          <a:lstStyle/>
          <a:p>
            <a:pPr marR="0" rtl="0">
              <a:lnSpc>
                <a:spcPct val="150000"/>
              </a:lnSpc>
            </a:pPr>
            <a:r>
              <a:rPr lang="en-GB" altLang="zh-CN" sz="2000" b="0" i="0" u="none" strike="noStrike" baseline="30000" dirty="0">
                <a:solidFill>
                  <a:srgbClr val="6C4C9A"/>
                </a:solidFill>
                <a:latin typeface="Segoe UI Semibold" panose="020B0702040204020203" pitchFamily="34" charset="0"/>
              </a:rPr>
              <a:t> // 1. Data Preparation</a:t>
            </a:r>
            <a:endParaRPr lang="en-GB" altLang="zh-CN" sz="2000" b="0" i="0" u="none" strike="noStrike" baseline="30000" dirty="0">
              <a:solidFill>
                <a:srgbClr val="6C4C9A"/>
              </a:solidFill>
              <a:latin typeface="Segoe UI" panose="020B05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greenSurfaces</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CreateEffectiveGreenAreas</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greenBoundaries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buildingFootprints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60000"/>
                    <a:lumOff val="40000"/>
                  </a:schemeClr>
                </a:solidFill>
                <a:latin typeface="Segoe UI" panose="020B0502040204020203" pitchFamily="34" charset="0"/>
              </a:rPr>
              <a:t>// Boolean difference: green - buildings</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samplePoints</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SampleAlongPaths</a:t>
            </a:r>
            <a:r>
              <a:rPr lang="en-US" altLang="zh-CN" sz="1800" b="0" i="0" u="none" strike="noStrike" baseline="30000" dirty="0">
                <a:solidFill>
                  <a:schemeClr val="bg1"/>
                </a:solidFill>
                <a:latin typeface="Segoe UI" panose="020B0502040204020203" pitchFamily="34" charset="0"/>
              </a:rPr>
              <a:t>(paths, 5.0)  </a:t>
            </a:r>
            <a:r>
              <a:rPr lang="en-US" altLang="zh-CN" sz="1800" b="0" i="0" u="none" strike="noStrike" baseline="30000" dirty="0">
                <a:solidFill>
                  <a:schemeClr val="accent5">
                    <a:lumMod val="60000"/>
                    <a:lumOff val="40000"/>
                  </a:schemeClr>
                </a:solidFill>
                <a:latin typeface="Segoe UI" panose="020B0502040204020203" pitchFamily="34" charset="0"/>
              </a:rPr>
              <a:t>// One sample every 5 meters</a:t>
            </a:r>
          </a:p>
          <a:p>
            <a:pPr marR="0" algn="l" rtl="0">
              <a:lnSpc>
                <a:spcPct val="150000"/>
              </a:lnSpc>
            </a:pPr>
            <a:r>
              <a:rPr lang="en-US" altLang="zh-CN" sz="1800" b="0" i="0" u="none" strike="noStrike" baseline="30000" dirty="0">
                <a:solidFill>
                  <a:schemeClr val="bg1"/>
                </a:solidFill>
                <a:latin typeface="Segoe UI" panose="020B0502040204020203" pitchFamily="34" charset="0"/>
              </a:rPr>
              <a:t>    grid = </a:t>
            </a:r>
            <a:r>
              <a:rPr lang="en-US" altLang="zh-CN" sz="1800" b="0" i="0" u="none" strike="noStrike" baseline="30000" dirty="0" err="1">
                <a:solidFill>
                  <a:schemeClr val="bg1"/>
                </a:solidFill>
                <a:latin typeface="Segoe UI" panose="020B0502040204020203" pitchFamily="34" charset="0"/>
              </a:rPr>
              <a:t>CreateUniformGrid</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greenSurfaces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60000"/>
                    <a:lumOff val="40000"/>
                  </a:schemeClr>
                </a:solidFill>
                <a:latin typeface="Segoe UI" panose="020B0502040204020203" pitchFamily="34" charset="0"/>
              </a:rPr>
              <a:t>// Divide green areas into grid cells</a:t>
            </a:r>
          </a:p>
        </p:txBody>
      </p:sp>
      <p:sp>
        <p:nvSpPr>
          <p:cNvPr id="17" name="文本框 16">
            <a:extLst>
              <a:ext uri="{FF2B5EF4-FFF2-40B4-BE49-F238E27FC236}">
                <a16:creationId xmlns:a16="http://schemas.microsoft.com/office/drawing/2014/main" id="{744A0093-51C6-691C-763D-34959CDF0298}"/>
              </a:ext>
            </a:extLst>
          </p:cNvPr>
          <p:cNvSpPr txBox="1"/>
          <p:nvPr/>
        </p:nvSpPr>
        <p:spPr>
          <a:xfrm>
            <a:off x="4290334" y="4217768"/>
            <a:ext cx="3105945" cy="2435410"/>
          </a:xfrm>
          <a:prstGeom prst="rect">
            <a:avLst/>
          </a:prstGeom>
          <a:noFill/>
        </p:spPr>
        <p:txBody>
          <a:bodyPr wrap="square">
            <a:spAutoFit/>
          </a:bodyPr>
          <a:lstStyle/>
          <a:p>
            <a:pPr marR="0" algn="l" rtl="0">
              <a:lnSpc>
                <a:spcPct val="150000"/>
              </a:lnSpc>
            </a:pPr>
            <a:r>
              <a:rPr lang="en-GB" altLang="zh-CN" sz="2000" b="0" i="0" u="none" strike="noStrike" baseline="30000" dirty="0">
                <a:solidFill>
                  <a:srgbClr val="6C4C9A"/>
                </a:solidFill>
                <a:latin typeface="Segoe UI Semibold" panose="020B0702040204020203" pitchFamily="34" charset="0"/>
              </a:rPr>
              <a:t> // 3. Optimize using NSGA-II</a:t>
            </a:r>
            <a:endParaRPr lang="en-GB" altLang="zh-CN" sz="2000" b="0" i="0" u="none" strike="noStrike" baseline="30000" dirty="0">
              <a:solidFill>
                <a:srgbClr val="6C4C9A"/>
              </a:solidFill>
              <a:latin typeface="Segoe UI" panose="020B05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paretoSet</a:t>
            </a:r>
            <a:r>
              <a:rPr lang="en-US" altLang="zh-CN" sz="1800" b="0" i="0" u="none" strike="noStrike" baseline="30000" dirty="0">
                <a:solidFill>
                  <a:schemeClr val="bg1"/>
                </a:solidFill>
                <a:latin typeface="Segoe UI" panose="020B0502040204020203" pitchFamily="34" charset="0"/>
              </a:rPr>
              <a:t> = RunNSGA2(</a:t>
            </a:r>
            <a:r>
              <a:rPr lang="en-US" altLang="zh-CN" sz="1800" b="0" i="0" u="none" strike="noStrike" baseline="30000" dirty="0" err="1">
                <a:solidFill>
                  <a:schemeClr val="bg1"/>
                </a:solidFill>
                <a:latin typeface="Segoe UI" panose="020B0502040204020203" pitchFamily="34" charset="0"/>
              </a:rPr>
              <a:t>CalculateFitness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grid.Count</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bestSolution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SelectCompromiseSolution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paretoSet</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ConvertToGeometry</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bestSolution</a:t>
            </a:r>
            <a:r>
              <a:rPr lang="en-GB" altLang="zh-CN" sz="1800" b="0" i="0" u="none" strike="noStrike" baseline="30000" dirty="0">
                <a:solidFill>
                  <a:schemeClr val="bg1"/>
                </a:solidFill>
                <a:latin typeface="Segoe UI" panose="020B0502040204020203" pitchFamily="34" charset="0"/>
              </a:rPr>
              <a:t>, grid)</a:t>
            </a:r>
            <a:endParaRPr lang="zh-CN" altLang="en-US" dirty="0"/>
          </a:p>
        </p:txBody>
      </p:sp>
      <p:sp>
        <p:nvSpPr>
          <p:cNvPr id="19" name="文本框 18">
            <a:extLst>
              <a:ext uri="{FF2B5EF4-FFF2-40B4-BE49-F238E27FC236}">
                <a16:creationId xmlns:a16="http://schemas.microsoft.com/office/drawing/2014/main" id="{8C7C8A65-027E-A373-2EF9-803C654A4FB0}"/>
              </a:ext>
            </a:extLst>
          </p:cNvPr>
          <p:cNvSpPr txBox="1"/>
          <p:nvPr/>
        </p:nvSpPr>
        <p:spPr>
          <a:xfrm>
            <a:off x="7479872" y="1410708"/>
            <a:ext cx="3943927" cy="5351658"/>
          </a:xfrm>
          <a:prstGeom prst="rect">
            <a:avLst/>
          </a:prstGeom>
          <a:noFill/>
        </p:spPr>
        <p:txBody>
          <a:bodyPr wrap="square">
            <a:spAutoFit/>
          </a:bodyPr>
          <a:lstStyle/>
          <a:p>
            <a:pPr marR="0" algn="l" rtl="0">
              <a:lnSpc>
                <a:spcPct val="150000"/>
              </a:lnSpc>
            </a:pPr>
            <a:r>
              <a:rPr lang="en-US" altLang="zh-CN" sz="2000" b="0" i="0" u="none" strike="noStrike" baseline="30000" dirty="0">
                <a:solidFill>
                  <a:srgbClr val="6C4C9A"/>
                </a:solidFill>
                <a:latin typeface="Segoe UI Semibold" panose="020B0702040204020203" pitchFamily="34" charset="0"/>
              </a:rPr>
              <a:t>// 2. Define Fitness Functions (CORE)</a:t>
            </a:r>
            <a:endParaRPr lang="en-US" altLang="zh-CN" sz="1800" b="0" i="0" u="none" strike="noStrike" baseline="30000" dirty="0">
              <a:solidFill>
                <a:srgbClr val="6C4C9A"/>
              </a:solidFill>
              <a:latin typeface="Segoe UI Semibold" panose="020B07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    function </a:t>
            </a:r>
            <a:r>
              <a:rPr lang="en-US" altLang="zh-CN" sz="1800" b="0" i="0" u="none" strike="noStrike" baseline="30000" dirty="0" err="1">
                <a:solidFill>
                  <a:schemeClr val="bg1"/>
                </a:solidFill>
                <a:latin typeface="Segoe UI" panose="020B0502040204020203" pitchFamily="34" charset="0"/>
              </a:rPr>
              <a:t>CalculateFitness</a:t>
            </a:r>
            <a:r>
              <a:rPr lang="en-US" altLang="zh-CN" sz="1800" b="0" i="0" u="none" strike="noStrike" baseline="30000" dirty="0">
                <a:solidFill>
                  <a:schemeClr val="bg1"/>
                </a:solidFill>
                <a:latin typeface="Segoe UI" panose="020B0502040204020203" pitchFamily="34" charset="0"/>
              </a:rPr>
              <a:t>(genes):  </a:t>
            </a:r>
            <a:r>
              <a:rPr lang="en-US" altLang="zh-CN" sz="1800" b="0" i="0" u="none" strike="noStrike" baseline="30000" dirty="0">
                <a:solidFill>
                  <a:schemeClr val="accent5">
                    <a:lumMod val="60000"/>
                    <a:lumOff val="40000"/>
                  </a:schemeClr>
                </a:solidFill>
                <a:latin typeface="Segoe UI" panose="020B0502040204020203" pitchFamily="34" charset="0"/>
              </a:rPr>
              <a:t>// Genes: Boolean array representing green state (true=green)</a:t>
            </a:r>
          </a:p>
          <a:p>
            <a:pPr marR="0" algn="l" rtl="0">
              <a:lnSpc>
                <a:spcPct val="150000"/>
              </a:lnSpc>
            </a:pPr>
            <a:r>
              <a:rPr lang="en-US" altLang="zh-CN" sz="1800" b="0" i="0" u="none" strike="noStrike" baseline="30000" dirty="0">
                <a:solidFill>
                  <a:schemeClr val="accent5">
                    <a:lumMod val="20000"/>
                    <a:lumOff val="80000"/>
                  </a:schemeClr>
                </a:solidFill>
                <a:latin typeface="Segoe UI" panose="020B0502040204020203" pitchFamily="34" charset="0"/>
              </a:rPr>
              <a:t>        // Objective 1: Green View Score (maximize)</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greenViewScore</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CalculateGreenView</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samplePoints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buildingFootprints</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accent5">
                    <a:lumMod val="20000"/>
                    <a:lumOff val="80000"/>
                  </a:schemeClr>
                </a:solidFill>
                <a:latin typeface="Segoe UI" panose="020B0502040204020203" pitchFamily="34" charset="0"/>
              </a:rPr>
              <a:t>        // Objective 2: Area Difference from Target (minimize)</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areaDifference</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CalculateAreaDifference</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targetArea</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accent5">
                    <a:lumMod val="60000"/>
                    <a:lumOff val="40000"/>
                  </a:schemeClr>
                </a:solidFill>
                <a:latin typeface="Segoe UI" panose="020B0502040204020203" pitchFamily="34" charset="0"/>
              </a:rPr>
              <a:t>        </a:t>
            </a:r>
            <a:r>
              <a:rPr lang="en-GB" altLang="zh-CN" sz="1800" b="0" i="0" u="none" strike="noStrike" baseline="30000" dirty="0">
                <a:solidFill>
                  <a:schemeClr val="accent5">
                    <a:lumMod val="20000"/>
                    <a:lumOff val="80000"/>
                  </a:schemeClr>
                </a:solidFill>
                <a:latin typeface="Segoe UI" panose="020B0502040204020203" pitchFamily="34" charset="0"/>
              </a:rPr>
              <a:t>// Objective 3: Distribution Uniformity (minimize)</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distributionPenalty</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CalculateDistributionPenalty</a:t>
            </a:r>
            <a:r>
              <a:rPr lang="en-GB" altLang="zh-CN" sz="1800" b="0" i="0" u="none" strike="noStrike" baseline="30000" dirty="0">
                <a:solidFill>
                  <a:schemeClr val="bg1"/>
                </a:solidFill>
                <a:latin typeface="Segoe UI" panose="020B0502040204020203" pitchFamily="34" charset="0"/>
              </a:rPr>
              <a:t>(genes, grid)</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greenViewScore</a:t>
            </a: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areaDifference</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distributionPenalty</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p:txBody>
      </p:sp>
      <p:sp>
        <p:nvSpPr>
          <p:cNvPr id="20" name="矩形 19">
            <a:extLst>
              <a:ext uri="{FF2B5EF4-FFF2-40B4-BE49-F238E27FC236}">
                <a16:creationId xmlns:a16="http://schemas.microsoft.com/office/drawing/2014/main" id="{2AE2B4C7-5C80-173D-46DC-6BF5536F56C8}"/>
              </a:ext>
            </a:extLst>
          </p:cNvPr>
          <p:cNvSpPr/>
          <p:nvPr/>
        </p:nvSpPr>
        <p:spPr>
          <a:xfrm>
            <a:off x="4290335" y="878463"/>
            <a:ext cx="7133464"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C4C9A"/>
              </a:solidFill>
            </a:endParaRPr>
          </a:p>
        </p:txBody>
      </p:sp>
      <p:sp>
        <p:nvSpPr>
          <p:cNvPr id="21" name="文本框 20">
            <a:extLst>
              <a:ext uri="{FF2B5EF4-FFF2-40B4-BE49-F238E27FC236}">
                <a16:creationId xmlns:a16="http://schemas.microsoft.com/office/drawing/2014/main" id="{66EEFF5F-D46E-2A56-FDBE-A3AC05146568}"/>
              </a:ext>
            </a:extLst>
          </p:cNvPr>
          <p:cNvSpPr txBox="1"/>
          <p:nvPr/>
        </p:nvSpPr>
        <p:spPr>
          <a:xfrm>
            <a:off x="7075801" y="972939"/>
            <a:ext cx="1562532"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Main Workflow</a:t>
            </a:r>
          </a:p>
        </p:txBody>
      </p:sp>
      <p:sp>
        <p:nvSpPr>
          <p:cNvPr id="3" name="矩形 2">
            <a:extLst>
              <a:ext uri="{FF2B5EF4-FFF2-40B4-BE49-F238E27FC236}">
                <a16:creationId xmlns:a16="http://schemas.microsoft.com/office/drawing/2014/main" id="{766F3F45-31C5-4EB6-A687-9EEDBA8FABCD}"/>
              </a:ext>
            </a:extLst>
          </p:cNvPr>
          <p:cNvSpPr/>
          <p:nvPr/>
        </p:nvSpPr>
        <p:spPr>
          <a:xfrm>
            <a:off x="168388" y="2827027"/>
            <a:ext cx="3641612"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BDA20142-6FDE-8B4C-2F0F-AF3C1D09F32E}"/>
              </a:ext>
            </a:extLst>
          </p:cNvPr>
          <p:cNvSpPr txBox="1"/>
          <p:nvPr/>
        </p:nvSpPr>
        <p:spPr>
          <a:xfrm>
            <a:off x="762309" y="2954421"/>
            <a:ext cx="2453770"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Two Optimization Objectives</a:t>
            </a:r>
          </a:p>
        </p:txBody>
      </p:sp>
      <p:sp>
        <p:nvSpPr>
          <p:cNvPr id="6" name="文本框 5">
            <a:extLst>
              <a:ext uri="{FF2B5EF4-FFF2-40B4-BE49-F238E27FC236}">
                <a16:creationId xmlns:a16="http://schemas.microsoft.com/office/drawing/2014/main" id="{A3D30146-9D94-F42A-FC20-0D898387A482}"/>
              </a:ext>
            </a:extLst>
          </p:cNvPr>
          <p:cNvSpPr txBox="1"/>
          <p:nvPr/>
        </p:nvSpPr>
        <p:spPr>
          <a:xfrm>
            <a:off x="168387" y="3305374"/>
            <a:ext cx="3807620" cy="669671"/>
          </a:xfrm>
          <a:prstGeom prst="rect">
            <a:avLst/>
          </a:prstGeom>
          <a:noFill/>
        </p:spPr>
        <p:txBody>
          <a:bodyPr wrap="square" rtlCol="0">
            <a:spAutoFit/>
          </a:bodyPr>
          <a:lstStyle/>
          <a:p>
            <a:pPr marR="0" algn="l" rtl="0">
              <a:lnSpc>
                <a:spcPct val="150000"/>
              </a:lnSpc>
            </a:pPr>
            <a:r>
              <a:rPr lang="en-US" altLang="zh-CN" sz="2000" b="0" i="0" u="none" strike="noStrike" baseline="30000" dirty="0">
                <a:solidFill>
                  <a:schemeClr val="bg1"/>
                </a:solidFill>
                <a:latin typeface="Segoe UI" panose="020B0502040204020203" pitchFamily="34" charset="0"/>
              </a:rPr>
              <a:t>1) Maximize Path Green View Index</a:t>
            </a:r>
          </a:p>
          <a:p>
            <a:pPr marR="0" algn="l" rtl="0">
              <a:lnSpc>
                <a:spcPct val="150000"/>
              </a:lnSpc>
            </a:pPr>
            <a:r>
              <a:rPr lang="en-US" altLang="zh-CN" sz="2000" b="0" i="0" u="none" strike="noStrike" baseline="30000" dirty="0">
                <a:solidFill>
                  <a:schemeClr val="bg1"/>
                </a:solidFill>
                <a:latin typeface="Segoe UI" panose="020B0502040204020203" pitchFamily="34" charset="0"/>
              </a:rPr>
              <a:t>2) Minimize Deviation from Target Green Area</a:t>
            </a:r>
          </a:p>
        </p:txBody>
      </p:sp>
    </p:spTree>
    <p:extLst>
      <p:ext uri="{BB962C8B-B14F-4D97-AF65-F5344CB8AC3E}">
        <p14:creationId xmlns:p14="http://schemas.microsoft.com/office/powerpoint/2010/main" val="1140783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6BD467-9A5A-79C7-856D-79207BBF453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19D2B00-5E09-084C-F341-C9FD070CCE6E}"/>
              </a:ext>
            </a:extLst>
          </p:cNvPr>
          <p:cNvSpPr txBox="1"/>
          <p:nvPr/>
        </p:nvSpPr>
        <p:spPr>
          <a:xfrm>
            <a:off x="3076853" y="252656"/>
            <a:ext cx="66940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3" name="文本框 2">
            <a:extLst>
              <a:ext uri="{FF2B5EF4-FFF2-40B4-BE49-F238E27FC236}">
                <a16:creationId xmlns:a16="http://schemas.microsoft.com/office/drawing/2014/main" id="{A52FF34E-7839-ED45-C607-CE603CBE34E3}"/>
              </a:ext>
            </a:extLst>
          </p:cNvPr>
          <p:cNvSpPr txBox="1"/>
          <p:nvPr/>
        </p:nvSpPr>
        <p:spPr>
          <a:xfrm>
            <a:off x="258618" y="652766"/>
            <a:ext cx="5509492" cy="6374950"/>
          </a:xfrm>
          <a:prstGeom prst="rect">
            <a:avLst/>
          </a:prstGeom>
          <a:noFill/>
        </p:spPr>
        <p:txBody>
          <a:bodyPr wrap="square" rtlCol="0">
            <a:spAutoFit/>
          </a:bodyPr>
          <a:lstStyle/>
          <a:p>
            <a:pPr marR="0" algn="l" rtl="0">
              <a:lnSpc>
                <a:spcPct val="150000"/>
              </a:lnSpc>
            </a:pPr>
            <a:r>
              <a:rPr lang="en-US" altLang="zh-CN" sz="2400" b="0" i="0" u="none" strike="noStrike" baseline="30000" dirty="0">
                <a:solidFill>
                  <a:srgbClr val="6C4C9A"/>
                </a:solidFill>
                <a:latin typeface="Segoe UI Semibold" panose="020B0702040204020203" pitchFamily="34" charset="0"/>
              </a:rPr>
              <a:t>// Core Function 1: Green View Calculation</a:t>
            </a:r>
            <a:endParaRPr lang="en-US" altLang="zh-CN" sz="2400" b="0" i="0" u="none" strike="noStrike" baseline="30000" dirty="0">
              <a:solidFill>
                <a:srgbClr val="000000"/>
              </a:solidFill>
              <a:latin typeface="Segoe UI Semibold" panose="020B07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function </a:t>
            </a:r>
            <a:r>
              <a:rPr lang="en-US" altLang="zh-CN" sz="1800" b="0" i="0" u="none" strike="noStrike" baseline="30000" dirty="0" err="1">
                <a:solidFill>
                  <a:schemeClr val="bg1"/>
                </a:solidFill>
                <a:latin typeface="Segoe UI" panose="020B0502040204020203" pitchFamily="34" charset="0"/>
              </a:rPr>
              <a:t>CalculateGreenView</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samplePoints</a:t>
            </a:r>
            <a:r>
              <a:rPr lang="en-US" altLang="zh-CN" sz="1800" b="0" i="0" u="none" strike="noStrike" baseline="30000" dirty="0">
                <a:solidFill>
                  <a:schemeClr val="bg1"/>
                </a:solidFill>
                <a:latin typeface="Segoe UI" panose="020B0502040204020203" pitchFamily="34" charset="0"/>
              </a:rPr>
              <a:t>, buildings):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Convert active genes to green geometry</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greenGeometry</a:t>
            </a:r>
            <a:r>
              <a:rPr lang="en-GB" altLang="zh-CN" sz="1800" b="0" i="0" u="none" strike="noStrike" baseline="30000" dirty="0">
                <a:solidFill>
                  <a:schemeClr val="bg1"/>
                </a:solidFill>
                <a:latin typeface="Segoe UI" panose="020B0502040204020203" pitchFamily="34" charset="0"/>
              </a:rPr>
              <a:t> =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0 to genes.Length-1:</a:t>
            </a:r>
          </a:p>
          <a:p>
            <a:pPr marR="0" algn="l" rtl="0">
              <a:lnSpc>
                <a:spcPct val="150000"/>
              </a:lnSpc>
            </a:pPr>
            <a:r>
              <a:rPr lang="en-GB" altLang="zh-CN" sz="1800" b="0" i="0" u="none" strike="noStrike" baseline="30000" dirty="0">
                <a:solidFill>
                  <a:schemeClr val="bg1"/>
                </a:solidFill>
                <a:latin typeface="Segoe UI" panose="020B0502040204020203" pitchFamily="34" charset="0"/>
              </a:rPr>
              <a:t>        if genes[</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true:</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greenGeometry.Add</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CreateRectangle</a:t>
            </a:r>
            <a:r>
              <a:rPr lang="en-US" altLang="zh-CN" sz="1800" b="0" i="0" u="none" strike="noStrike" baseline="30000" dirty="0">
                <a:solidFill>
                  <a:schemeClr val="bg1"/>
                </a:solidFill>
                <a:latin typeface="Segoe UI" panose="020B0502040204020203" pitchFamily="34" charset="0"/>
              </a:rPr>
              <a:t>(grid[</a:t>
            </a:r>
            <a:r>
              <a:rPr lang="en-US" altLang="zh-CN" sz="1800" b="0" i="0" u="none" strike="noStrike" baseline="30000" dirty="0" err="1">
                <a:solidFill>
                  <a:schemeClr val="bg1"/>
                </a:solidFill>
                <a:latin typeface="Segoe UI" panose="020B0502040204020203" pitchFamily="34" charset="0"/>
              </a:rPr>
              <a:t>i</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centerPoint</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gridSize</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visibleGreenRayCount</a:t>
            </a:r>
            <a:r>
              <a:rPr lang="en-GB" altLang="zh-CN" sz="1800" b="0" i="0" u="none" strike="noStrike" baseline="30000" dirty="0">
                <a:solidFill>
                  <a:schemeClr val="bg1"/>
                </a:solidFill>
                <a:latin typeface="Segoe UI" panose="020B0502040204020203" pitchFamily="34" charset="0"/>
              </a:rPr>
              <a:t> = 0</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totalRayCount</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samplePoints.Count</a:t>
            </a:r>
            <a:r>
              <a:rPr lang="en-US" altLang="zh-CN" sz="1800" b="0" i="0" u="none" strike="noStrike" baseline="30000" dirty="0">
                <a:solidFill>
                  <a:schemeClr val="bg1"/>
                </a:solidFill>
                <a:latin typeface="Segoe UI" panose="020B0502040204020203" pitchFamily="34" charset="0"/>
              </a:rPr>
              <a:t> * 30  </a:t>
            </a:r>
            <a:r>
              <a:rPr lang="en-US" altLang="zh-CN" sz="1800" b="0" i="0" u="none" strike="noStrike" baseline="30000" dirty="0">
                <a:solidFill>
                  <a:schemeClr val="accent5">
                    <a:lumMod val="40000"/>
                    <a:lumOff val="60000"/>
                  </a:schemeClr>
                </a:solidFill>
                <a:latin typeface="Segoe UI" panose="020B0502040204020203" pitchFamily="34" charset="0"/>
              </a:rPr>
              <a:t>// 30 rays per sample point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endParaRPr lang="en-GB" altLang="zh-CN" sz="1800" b="0" i="0" u="none" strike="noStrike" baseline="30000" dirty="0">
              <a:solidFill>
                <a:schemeClr val="accent5">
                  <a:lumMod val="40000"/>
                  <a:lumOff val="60000"/>
                </a:schemeClr>
              </a:solidFill>
              <a:latin typeface="Segoe UI" panose="020B0502040204020203" pitchFamily="34" charset="0"/>
            </a:endParaRP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Cast rays from each sample point to check green visibility</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foreach point in </a:t>
            </a:r>
            <a:r>
              <a:rPr lang="en-GB" altLang="zh-CN" sz="1800" b="0" i="0" u="none" strike="noStrike" baseline="30000" dirty="0" err="1">
                <a:solidFill>
                  <a:schemeClr val="bg1"/>
                </a:solidFill>
                <a:latin typeface="Segoe UI" panose="020B0502040204020203" pitchFamily="34" charset="0"/>
              </a:rPr>
              <a:t>samplePoints</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bg1"/>
                </a:solidFill>
                <a:latin typeface="Segoe UI" panose="020B0502040204020203" pitchFamily="34" charset="0"/>
              </a:rPr>
              <a:t>        rays = </a:t>
            </a:r>
            <a:r>
              <a:rPr lang="en-US" altLang="zh-CN" sz="1800" b="0" i="0" u="none" strike="noStrike" baseline="30000" dirty="0" err="1">
                <a:solidFill>
                  <a:schemeClr val="bg1"/>
                </a:solidFill>
                <a:latin typeface="Segoe UI" panose="020B0502040204020203" pitchFamily="34" charset="0"/>
              </a:rPr>
              <a:t>GenerateRays</a:t>
            </a:r>
            <a:r>
              <a:rPr lang="en-US" altLang="zh-CN" sz="1800" b="0" i="0" u="none" strike="noStrike" baseline="30000" dirty="0">
                <a:solidFill>
                  <a:schemeClr val="bg1"/>
                </a:solidFill>
                <a:latin typeface="Segoe UI" panose="020B0502040204020203" pitchFamily="34" charset="0"/>
              </a:rPr>
              <a:t>(point, 30, 90.0)  </a:t>
            </a:r>
            <a:r>
              <a:rPr lang="en-US" altLang="zh-CN" sz="1800" b="0" i="0" u="none" strike="noStrike" baseline="30000" dirty="0">
                <a:solidFill>
                  <a:schemeClr val="accent5">
                    <a:lumMod val="40000"/>
                    <a:lumOff val="60000"/>
                  </a:schemeClr>
                </a:solidFill>
                <a:latin typeface="Segoe UI" panose="020B0502040204020203" pitchFamily="34" charset="0"/>
              </a:rPr>
              <a:t>// 30 rays with radius 90m</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foreach ray in rays:</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Check if ray intersects green and is not blocked by buildings</a:t>
            </a:r>
          </a:p>
          <a:p>
            <a:pPr marR="0" algn="l" rtl="0">
              <a:lnSpc>
                <a:spcPct val="150000"/>
              </a:lnSpc>
            </a:pPr>
            <a:r>
              <a:rPr lang="en-US" altLang="zh-CN" sz="1800" b="0" i="0" u="none" strike="noStrike" baseline="30000" dirty="0">
                <a:solidFill>
                  <a:schemeClr val="bg1"/>
                </a:solidFill>
                <a:latin typeface="Segoe UI" panose="020B0502040204020203" pitchFamily="34" charset="0"/>
              </a:rPr>
              <a:t>            if </a:t>
            </a:r>
            <a:r>
              <a:rPr lang="en-US" altLang="zh-CN" sz="1800" b="0" i="0" u="none" strike="noStrike" baseline="30000" dirty="0" err="1">
                <a:solidFill>
                  <a:schemeClr val="bg1"/>
                </a:solidFill>
                <a:latin typeface="Segoe UI" panose="020B0502040204020203" pitchFamily="34" charset="0"/>
              </a:rPr>
              <a:t>RayIntersectsGreen</a:t>
            </a:r>
            <a:r>
              <a:rPr lang="en-US" altLang="zh-CN" sz="1800" b="0" i="0" u="none" strike="noStrike" baseline="30000" dirty="0">
                <a:solidFill>
                  <a:schemeClr val="bg1"/>
                </a:solidFill>
                <a:latin typeface="Segoe UI" panose="020B0502040204020203" pitchFamily="34" charset="0"/>
              </a:rPr>
              <a:t>(ray, </a:t>
            </a:r>
            <a:r>
              <a:rPr lang="en-US" altLang="zh-CN" sz="1800" b="0" i="0" u="none" strike="noStrike" baseline="30000" dirty="0" err="1">
                <a:solidFill>
                  <a:schemeClr val="bg1"/>
                </a:solidFill>
                <a:latin typeface="Segoe UI" panose="020B0502040204020203" pitchFamily="34" charset="0"/>
              </a:rPr>
              <a:t>greenGeometry</a:t>
            </a:r>
            <a:r>
              <a:rPr lang="en-US" altLang="zh-CN" sz="1800" b="0" i="0" u="none" strike="noStrike" baseline="30000" dirty="0">
                <a:solidFill>
                  <a:schemeClr val="bg1"/>
                </a:solidFill>
                <a:latin typeface="Segoe UI" panose="020B0502040204020203" pitchFamily="34" charset="0"/>
              </a:rPr>
              <a:t>) and</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RayIsBlockedByBuildings</a:t>
            </a:r>
            <a:r>
              <a:rPr lang="en-GB" altLang="zh-CN" sz="1800" b="0" i="0" u="none" strike="noStrike" baseline="30000" dirty="0">
                <a:solidFill>
                  <a:schemeClr val="bg1"/>
                </a:solidFill>
                <a:latin typeface="Segoe UI" panose="020B0502040204020203" pitchFamily="34" charset="0"/>
              </a:rPr>
              <a:t>(ray, buildings, </a:t>
            </a:r>
            <a:r>
              <a:rPr lang="en-GB" altLang="zh-CN" sz="1800" b="0" i="0" u="none" strike="noStrike" baseline="30000" dirty="0" err="1">
                <a:solidFill>
                  <a:schemeClr val="bg1"/>
                </a:solidFill>
                <a:latin typeface="Segoe UI" panose="020B0502040204020203" pitchFamily="34" charset="0"/>
              </a:rPr>
              <a:t>greenGeometry</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visibleGreenRayCount</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return </a:t>
            </a:r>
            <a:r>
              <a:rPr lang="en-US" altLang="zh-CN" sz="1800" b="0" i="0" u="none" strike="noStrike" baseline="30000" dirty="0" err="1">
                <a:solidFill>
                  <a:schemeClr val="bg1"/>
                </a:solidFill>
                <a:latin typeface="Segoe UI" panose="020B0502040204020203" pitchFamily="34" charset="0"/>
              </a:rPr>
              <a:t>visibleGreenRayCount</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totalRayCount</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Normalized score (0-1)</a:t>
            </a:r>
            <a:endParaRPr lang="zh-CN" altLang="en-US" dirty="0">
              <a:solidFill>
                <a:schemeClr val="accent5">
                  <a:lumMod val="40000"/>
                  <a:lumOff val="60000"/>
                </a:schemeClr>
              </a:solidFill>
            </a:endParaRPr>
          </a:p>
        </p:txBody>
      </p:sp>
      <p:sp>
        <p:nvSpPr>
          <p:cNvPr id="4" name="文本框 3">
            <a:extLst>
              <a:ext uri="{FF2B5EF4-FFF2-40B4-BE49-F238E27FC236}">
                <a16:creationId xmlns:a16="http://schemas.microsoft.com/office/drawing/2014/main" id="{FCC2DF95-B808-865B-2459-CAD6464B24B0}"/>
              </a:ext>
            </a:extLst>
          </p:cNvPr>
          <p:cNvSpPr txBox="1"/>
          <p:nvPr/>
        </p:nvSpPr>
        <p:spPr>
          <a:xfrm>
            <a:off x="6423891" y="652766"/>
            <a:ext cx="5218546" cy="6190284"/>
          </a:xfrm>
          <a:prstGeom prst="rect">
            <a:avLst/>
          </a:prstGeom>
          <a:noFill/>
        </p:spPr>
        <p:txBody>
          <a:bodyPr wrap="square" rtlCol="0">
            <a:spAutoFit/>
          </a:bodyPr>
          <a:lstStyle/>
          <a:p>
            <a:pPr marR="0" algn="l" rtl="0">
              <a:lnSpc>
                <a:spcPct val="150000"/>
              </a:lnSpc>
            </a:pPr>
            <a:r>
              <a:rPr lang="en-US" altLang="zh-CN" sz="2400" b="0" i="0" u="none" strike="noStrike" baseline="30000" dirty="0">
                <a:solidFill>
                  <a:srgbClr val="6C4C9A"/>
                </a:solidFill>
                <a:latin typeface="Segoe UI Semibold" panose="020B0702040204020203" pitchFamily="34" charset="0"/>
              </a:rPr>
              <a:t>// Core Function 2: Area Difference Calculation</a:t>
            </a:r>
          </a:p>
          <a:p>
            <a:pPr marR="0" algn="l" rtl="0">
              <a:lnSpc>
                <a:spcPct val="150000"/>
              </a:lnSpc>
            </a:pPr>
            <a:r>
              <a:rPr lang="en-US" altLang="zh-CN" sz="1800" b="0" i="0" u="none" strike="noStrike" baseline="30000" dirty="0">
                <a:solidFill>
                  <a:schemeClr val="bg1"/>
                </a:solidFill>
                <a:latin typeface="Segoe UI" panose="020B0502040204020203" pitchFamily="34" charset="0"/>
              </a:rPr>
              <a:t>function </a:t>
            </a:r>
            <a:r>
              <a:rPr lang="en-US" altLang="zh-CN" sz="1800" b="0" i="0" u="none" strike="noStrike" baseline="30000" dirty="0" err="1">
                <a:solidFill>
                  <a:schemeClr val="bg1"/>
                </a:solidFill>
                <a:latin typeface="Segoe UI" panose="020B0502040204020203" pitchFamily="34" charset="0"/>
              </a:rPr>
              <a:t>CalculateAreaDifference</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targetArea</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activeCount</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CountTrueValues</a:t>
            </a:r>
            <a:r>
              <a:rPr lang="en-GB" altLang="zh-CN" sz="1800" b="0" i="0" u="none" strike="noStrike" baseline="30000" dirty="0">
                <a:solidFill>
                  <a:schemeClr val="bg1"/>
                </a:solidFill>
                <a:latin typeface="Segoe UI" panose="020B0502040204020203" pitchFamily="34" charset="0"/>
              </a:rPr>
              <a:t>(genes)</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actualArea</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activeCount</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gridSize</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gridSize</a:t>
            </a: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return |</a:t>
            </a:r>
            <a:r>
              <a:rPr lang="en-US" altLang="zh-CN" sz="1800" b="0" i="0" u="none" strike="noStrike" baseline="30000" dirty="0" err="1">
                <a:solidFill>
                  <a:schemeClr val="bg1"/>
                </a:solidFill>
                <a:latin typeface="Segoe UI" panose="020B0502040204020203" pitchFamily="34" charset="0"/>
              </a:rPr>
              <a:t>actualArea</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targetArea</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Absolute difference, smaller is better</a:t>
            </a:r>
          </a:p>
          <a:p>
            <a:pPr marR="0" algn="l" rtl="0">
              <a:lnSpc>
                <a:spcPct val="150000"/>
              </a:lnSpc>
            </a:pP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US" altLang="zh-CN" sz="2400" b="0" i="0" u="none" strike="noStrike" baseline="30000" dirty="0">
                <a:solidFill>
                  <a:srgbClr val="6C4C9A"/>
                </a:solidFill>
                <a:latin typeface="Segoe UI Semibold" panose="020B0702040204020203" pitchFamily="34" charset="0"/>
                <a:cs typeface="Segoe UI Semibold" panose="020B0702040204020203" pitchFamily="34" charset="0"/>
              </a:rPr>
              <a:t>// Core Function 3: Distribution Penalty Calculation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a:t>
            </a:r>
            <a:r>
              <a:rPr lang="en-GB" altLang="zh-CN" sz="1800" b="0" i="0" u="none" strike="noStrike" baseline="30000" dirty="0" err="1">
                <a:solidFill>
                  <a:schemeClr val="bg1"/>
                </a:solidFill>
                <a:latin typeface="Segoe UI" panose="020B0502040204020203" pitchFamily="34" charset="0"/>
              </a:rPr>
              <a:t>CalculateDistributionPenalty</a:t>
            </a:r>
            <a:r>
              <a:rPr lang="en-GB" altLang="zh-CN" sz="1800" b="0" i="0" u="none" strike="noStrike" baseline="30000" dirty="0">
                <a:solidFill>
                  <a:schemeClr val="bg1"/>
                </a:solidFill>
                <a:latin typeface="Segoe UI" panose="020B0502040204020203" pitchFamily="34" charset="0"/>
              </a:rPr>
              <a:t>(genes, grid):</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Calculate green ratio for each region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regionGreenRatios</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CalculateRegionGreenRatios</a:t>
            </a:r>
            <a:r>
              <a:rPr lang="en-GB" altLang="zh-CN" sz="1800" b="0" i="0" u="none" strike="noStrike" baseline="30000" dirty="0">
                <a:solidFill>
                  <a:schemeClr val="bg1"/>
                </a:solidFill>
                <a:latin typeface="Segoe UI" panose="020B0502040204020203" pitchFamily="34" charset="0"/>
              </a:rPr>
              <a:t>(genes, grid)</a:t>
            </a:r>
          </a:p>
          <a:p>
            <a:pPr marR="0" algn="l" rtl="0">
              <a:lnSpc>
                <a:spcPct val="150000"/>
              </a:lnSpc>
            </a:pPr>
            <a:r>
              <a:rPr lang="en-GB" altLang="zh-CN" sz="1800" b="0" i="0" u="none" strike="noStrike" baseline="30000" dirty="0">
                <a:solidFill>
                  <a:schemeClr val="bg1"/>
                </a:solidFill>
                <a:latin typeface="Segoe UI" panose="020B0502040204020203" pitchFamily="34" charset="0"/>
              </a:rPr>
              <a:t>    penalty = 0</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foreach region in </a:t>
            </a:r>
            <a:r>
              <a:rPr lang="en-GB" altLang="zh-CN" sz="1800" b="0" i="0" u="none" strike="noStrike" baseline="30000" dirty="0" err="1">
                <a:solidFill>
                  <a:schemeClr val="bg1"/>
                </a:solidFill>
                <a:latin typeface="Segoe UI" panose="020B0502040204020203" pitchFamily="34" charset="0"/>
              </a:rPr>
              <a:t>regionGreenRatios</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Heavy penalty for regions with no green</a:t>
            </a:r>
          </a:p>
          <a:p>
            <a:pPr marR="0" algn="l" rtl="0">
              <a:lnSpc>
                <a:spcPct val="150000"/>
              </a:lnSpc>
            </a:pPr>
            <a:r>
              <a:rPr lang="en-GB" altLang="zh-CN" sz="1800" b="0" i="0" u="none" strike="noStrike" baseline="30000" dirty="0">
                <a:solidFill>
                  <a:schemeClr val="bg1"/>
                </a:solidFill>
                <a:latin typeface="Segoe UI" panose="020B0502040204020203" pitchFamily="34" charset="0"/>
              </a:rPr>
              <a:t>        if </a:t>
            </a:r>
            <a:r>
              <a:rPr lang="en-GB" altLang="zh-CN" sz="1800" b="0" i="0" u="none" strike="noStrike" baseline="30000" dirty="0" err="1">
                <a:solidFill>
                  <a:schemeClr val="bg1"/>
                </a:solidFill>
                <a:latin typeface="Segoe UI" panose="020B0502040204020203" pitchFamily="34" charset="0"/>
              </a:rPr>
              <a:t>region.ratio</a:t>
            </a:r>
            <a:r>
              <a:rPr lang="en-GB" altLang="zh-CN" sz="1800" b="0" i="0" u="none" strike="noStrike" baseline="30000" dirty="0">
                <a:solidFill>
                  <a:schemeClr val="bg1"/>
                </a:solidFill>
                <a:latin typeface="Segoe UI" panose="020B0502040204020203" pitchFamily="34" charset="0"/>
              </a:rPr>
              <a:t> == 0:</a:t>
            </a:r>
          </a:p>
          <a:p>
            <a:pPr marR="0" algn="l" rtl="0">
              <a:lnSpc>
                <a:spcPct val="150000"/>
              </a:lnSpc>
            </a:pPr>
            <a:r>
              <a:rPr lang="en-GB" altLang="zh-CN" sz="1800" b="0" i="0" u="none" strike="noStrike" baseline="30000" dirty="0">
                <a:solidFill>
                  <a:schemeClr val="bg1"/>
                </a:solidFill>
                <a:latin typeface="Segoe UI" panose="020B0502040204020203" pitchFamily="34" charset="0"/>
              </a:rPr>
              <a:t>            penalty += 1.0</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Light penalty for regions with low green ratio</a:t>
            </a:r>
          </a:p>
          <a:p>
            <a:pPr marR="0" algn="l" rtl="0">
              <a:lnSpc>
                <a:spcPct val="150000"/>
              </a:lnSpc>
            </a:pPr>
            <a:r>
              <a:rPr lang="en-US" altLang="zh-CN" sz="1800" b="0" i="0" u="none" strike="noStrike" baseline="30000" dirty="0">
                <a:solidFill>
                  <a:schemeClr val="bg1"/>
                </a:solidFill>
                <a:latin typeface="Segoe UI" panose="020B0502040204020203" pitchFamily="34" charset="0"/>
              </a:rPr>
              <a:t>        else if </a:t>
            </a:r>
            <a:r>
              <a:rPr lang="en-US" altLang="zh-CN" sz="1800" b="0" i="0" u="none" strike="noStrike" baseline="30000" dirty="0" err="1">
                <a:solidFill>
                  <a:schemeClr val="bg1"/>
                </a:solidFill>
                <a:latin typeface="Segoe UI" panose="020B0502040204020203" pitchFamily="34" charset="0"/>
              </a:rPr>
              <a:t>region.ratio</a:t>
            </a:r>
            <a:r>
              <a:rPr lang="en-US" altLang="zh-CN" sz="1800" b="0" i="0" u="none" strike="noStrike" baseline="30000" dirty="0">
                <a:solidFill>
                  <a:schemeClr val="bg1"/>
                </a:solidFill>
                <a:latin typeface="Segoe UI" panose="020B0502040204020203" pitchFamily="34" charset="0"/>
              </a:rPr>
              <a:t> &lt; 0.1:</a:t>
            </a:r>
          </a:p>
          <a:p>
            <a:pPr marR="0" algn="l" rtl="0">
              <a:lnSpc>
                <a:spcPct val="150000"/>
              </a:lnSpc>
            </a:pPr>
            <a:r>
              <a:rPr lang="en-US" altLang="zh-CN" sz="1800" b="0" i="0" u="none" strike="noStrike" baseline="30000" dirty="0">
                <a:solidFill>
                  <a:schemeClr val="bg1"/>
                </a:solidFill>
                <a:latin typeface="Segoe UI" panose="020B0502040204020203" pitchFamily="34" charset="0"/>
              </a:rPr>
              <a:t>            penalty += (0.1 - </a:t>
            </a:r>
            <a:r>
              <a:rPr lang="en-US" altLang="zh-CN" sz="1800" b="0" i="0" u="none" strike="noStrike" baseline="30000" dirty="0" err="1">
                <a:solidFill>
                  <a:schemeClr val="bg1"/>
                </a:solidFill>
                <a:latin typeface="Segoe UI" panose="020B0502040204020203" pitchFamily="34" charset="0"/>
              </a:rPr>
              <a:t>region.ratio</a:t>
            </a:r>
            <a:r>
              <a:rPr lang="en-US" altLang="zh-CN" sz="1800" b="0" i="0" u="none" strike="noStrike" baseline="30000" dirty="0">
                <a:solidFill>
                  <a:schemeClr val="bg1"/>
                </a:solidFill>
                <a:latin typeface="Segoe UI" panose="020B0502040204020203" pitchFamily="34" charset="0"/>
              </a:rPr>
              <a:t>) * 5.0</a:t>
            </a: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GB" altLang="zh-CN" sz="1800" b="0" i="0" u="none" strike="noStrike" baseline="30000" dirty="0">
                <a:solidFill>
                  <a:schemeClr val="bg1"/>
                </a:solidFill>
                <a:latin typeface="Segoe UI" panose="020B0502040204020203" pitchFamily="34" charset="0"/>
              </a:rPr>
              <a:t>return penalty</a:t>
            </a:r>
            <a:endParaRPr lang="zh-CN" altLang="en-US" dirty="0">
              <a:solidFill>
                <a:schemeClr val="bg1"/>
              </a:solidFill>
            </a:endParaRPr>
          </a:p>
        </p:txBody>
      </p:sp>
    </p:spTree>
    <p:extLst>
      <p:ext uri="{BB962C8B-B14F-4D97-AF65-F5344CB8AC3E}">
        <p14:creationId xmlns:p14="http://schemas.microsoft.com/office/powerpoint/2010/main" val="625055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67E33A-6D45-5CA7-76AB-337D522C5F9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58B6715-79AA-BE36-21B3-296550AD156A}"/>
              </a:ext>
            </a:extLst>
          </p:cNvPr>
          <p:cNvSpPr txBox="1"/>
          <p:nvPr/>
        </p:nvSpPr>
        <p:spPr>
          <a:xfrm>
            <a:off x="226890" y="760049"/>
            <a:ext cx="5749037" cy="6097951"/>
          </a:xfrm>
          <a:prstGeom prst="rect">
            <a:avLst/>
          </a:prstGeom>
          <a:noFill/>
        </p:spPr>
        <p:txBody>
          <a:bodyPr wrap="square" rtlCol="0">
            <a:spAutoFit/>
          </a:bodyPr>
          <a:lstStyle/>
          <a:p>
            <a:pPr marR="0" algn="l" rtl="0">
              <a:lnSpc>
                <a:spcPct val="150000"/>
              </a:lnSpc>
            </a:pPr>
            <a:r>
              <a:rPr lang="en-GB" altLang="zh-CN" sz="2400" b="0" i="0" u="none" strike="noStrike" baseline="30000" dirty="0">
                <a:solidFill>
                  <a:srgbClr val="6C4C9A"/>
                </a:solidFill>
                <a:latin typeface="Segoe UI Semibold" panose="020B0702040204020203" pitchFamily="34" charset="0"/>
              </a:rPr>
              <a:t>// NSGA-II Algorithm Simplified</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RunNSGA2(</a:t>
            </a:r>
            <a:r>
              <a:rPr lang="en-GB" altLang="zh-CN" sz="1800" b="0" i="0" u="none" strike="noStrike" baseline="30000" dirty="0" err="1">
                <a:solidFill>
                  <a:schemeClr val="bg1"/>
                </a:solidFill>
                <a:latin typeface="Segoe UI" panose="020B0502040204020203" pitchFamily="34" charset="0"/>
              </a:rPr>
              <a:t>fitnessFunction</a:t>
            </a: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Representation: Binary array (true/false) for grid cells</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GenerateRandomPopulation</a:t>
            </a:r>
            <a:r>
              <a:rPr lang="en-GB" altLang="zh-CN" sz="1800" b="0" i="0" u="none" strike="noStrike" baseline="30000" dirty="0">
                <a:solidFill>
                  <a:schemeClr val="bg1"/>
                </a:solidFill>
                <a:latin typeface="Segoe UI" panose="020B0502040204020203" pitchFamily="34" charset="0"/>
              </a:rPr>
              <a:t>(100,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  // 100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 generation = 1 to 50:  // Evolve for 50 generations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Selection: Binary tournament based on non-dominated ranking and crowding</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Crossover: Uniform crossover exchanging genes between parents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Mutation: Low-probability bit-flip mutation changing individual grid states</a:t>
            </a:r>
          </a:p>
          <a:p>
            <a:pPr marR="0" algn="l" rtl="0">
              <a:lnSpc>
                <a:spcPct val="150000"/>
              </a:lnSpc>
            </a:pPr>
            <a:r>
              <a:rPr lang="en-GB" altLang="zh-CN" sz="1800" b="0" i="0" u="none" strike="noStrike" baseline="30000" dirty="0">
                <a:solidFill>
                  <a:schemeClr val="bg1"/>
                </a:solidFill>
                <a:latin typeface="Segoe UI" panose="020B0502040204020203" pitchFamily="34" charset="0"/>
              </a:rPr>
              <a:t>        offspring = </a:t>
            </a:r>
            <a:r>
              <a:rPr lang="en-GB" altLang="zh-CN" sz="1800" b="0" i="0" u="none" strike="noStrike" baseline="30000" dirty="0" err="1">
                <a:solidFill>
                  <a:schemeClr val="bg1"/>
                </a:solidFill>
                <a:latin typeface="Segoe UI" panose="020B0502040204020203" pitchFamily="34" charset="0"/>
              </a:rPr>
              <a:t>CreateOffspring</a:t>
            </a:r>
            <a:r>
              <a:rPr lang="en-GB" altLang="zh-CN" sz="1800" b="0" i="0" u="none" strike="noStrike" baseline="30000" dirty="0">
                <a:solidFill>
                  <a:schemeClr val="bg1"/>
                </a:solidFill>
                <a:latin typeface="Segoe UI" panose="020B0502040204020203" pitchFamily="34" charset="0"/>
              </a:rPr>
              <a:t>(population)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Combine and sort by non-domination relationship</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 = population + offspring</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NonDominatedSort</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a:solidFill>
                  <a:schemeClr val="accent5">
                    <a:lumMod val="40000"/>
                    <a:lumOff val="60000"/>
                  </a:schemeClr>
                </a:solidFill>
                <a:latin typeface="Segoe UI" panose="020B0502040204020203" pitchFamily="34" charset="0"/>
              </a:rPr>
              <a:t>// Select new generation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SelectNewGeneration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100)</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accent5">
                    <a:lumMod val="40000"/>
                    <a:lumOff val="60000"/>
                  </a:schemeClr>
                </a:solidFill>
                <a:latin typeface="Segoe UI" panose="020B0502040204020203" pitchFamily="34" charset="0"/>
              </a:rPr>
              <a:t>    // Return Pareto-optimal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GetParetoFront</a:t>
            </a:r>
            <a:r>
              <a:rPr lang="en-GB" altLang="zh-CN" sz="1800" b="0" i="0" u="none" strike="noStrike" baseline="30000" dirty="0">
                <a:solidFill>
                  <a:schemeClr val="bg1"/>
                </a:solidFill>
                <a:latin typeface="Segoe UI" panose="020B0502040204020203" pitchFamily="34" charset="0"/>
              </a:rPr>
              <a:t>(population)</a:t>
            </a:r>
            <a:endParaRPr lang="zh-CN" altLang="en-US" dirty="0">
              <a:solidFill>
                <a:schemeClr val="bg1"/>
              </a:solidFill>
            </a:endParaRPr>
          </a:p>
        </p:txBody>
      </p:sp>
      <p:grpSp>
        <p:nvGrpSpPr>
          <p:cNvPr id="12" name="组合 11">
            <a:extLst>
              <a:ext uri="{FF2B5EF4-FFF2-40B4-BE49-F238E27FC236}">
                <a16:creationId xmlns:a16="http://schemas.microsoft.com/office/drawing/2014/main" id="{5545E717-EA0A-6439-77D7-205D8CDDCDB9}"/>
              </a:ext>
            </a:extLst>
          </p:cNvPr>
          <p:cNvGrpSpPr/>
          <p:nvPr/>
        </p:nvGrpSpPr>
        <p:grpSpPr>
          <a:xfrm>
            <a:off x="6005266" y="2344598"/>
            <a:ext cx="6186734" cy="2365948"/>
            <a:chOff x="5287817" y="415840"/>
            <a:chExt cx="6816436" cy="2606760"/>
          </a:xfrm>
        </p:grpSpPr>
        <p:pic>
          <p:nvPicPr>
            <p:cNvPr id="6" name="图片 5">
              <a:extLst>
                <a:ext uri="{FF2B5EF4-FFF2-40B4-BE49-F238E27FC236}">
                  <a16:creationId xmlns:a16="http://schemas.microsoft.com/office/drawing/2014/main" id="{FE38C806-E9D4-F0D5-167E-1C59451E70EC}"/>
                </a:ext>
              </a:extLst>
            </p:cNvPr>
            <p:cNvPicPr>
              <a:picLocks noChangeAspect="1"/>
            </p:cNvPicPr>
            <p:nvPr/>
          </p:nvPicPr>
          <p:blipFill>
            <a:blip r:embed="rId3"/>
            <a:srcRect b="2792"/>
            <a:stretch/>
          </p:blipFill>
          <p:spPr>
            <a:xfrm>
              <a:off x="5287817" y="415840"/>
              <a:ext cx="6816436" cy="2526010"/>
            </a:xfrm>
            <a:prstGeom prst="rect">
              <a:avLst/>
            </a:prstGeom>
          </p:spPr>
        </p:pic>
        <p:sp>
          <p:nvSpPr>
            <p:cNvPr id="7" name="矩形 6">
              <a:extLst>
                <a:ext uri="{FF2B5EF4-FFF2-40B4-BE49-F238E27FC236}">
                  <a16:creationId xmlns:a16="http://schemas.microsoft.com/office/drawing/2014/main" id="{17AACD32-81E2-6A80-FE68-8FF0018D9C91}"/>
                </a:ext>
              </a:extLst>
            </p:cNvPr>
            <p:cNvSpPr/>
            <p:nvPr/>
          </p:nvSpPr>
          <p:spPr>
            <a:xfrm>
              <a:off x="5287817" y="2197100"/>
              <a:ext cx="4525822" cy="825500"/>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15" name="文本框 14">
            <a:extLst>
              <a:ext uri="{FF2B5EF4-FFF2-40B4-BE49-F238E27FC236}">
                <a16:creationId xmlns:a16="http://schemas.microsoft.com/office/drawing/2014/main" id="{F11AF98F-E77B-A119-B5D0-C6CE83C6D1F5}"/>
              </a:ext>
            </a:extLst>
          </p:cNvPr>
          <p:cNvSpPr txBox="1"/>
          <p:nvPr/>
        </p:nvSpPr>
        <p:spPr>
          <a:xfrm>
            <a:off x="3076853" y="252656"/>
            <a:ext cx="66940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64521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D6E4CFC-0AED-3636-14F2-15D06DF8CFF0}"/>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1BDD8DA2-F25D-69EE-EC4F-41ABFF2C4F5E}"/>
              </a:ext>
            </a:extLst>
          </p:cNvPr>
          <p:cNvGrpSpPr/>
          <p:nvPr/>
        </p:nvGrpSpPr>
        <p:grpSpPr>
          <a:xfrm>
            <a:off x="6441196" y="760049"/>
            <a:ext cx="5523914" cy="2000226"/>
            <a:chOff x="5375565" y="3772567"/>
            <a:chExt cx="6581486" cy="2383176"/>
          </a:xfrm>
        </p:grpSpPr>
        <p:pic>
          <p:nvPicPr>
            <p:cNvPr id="9" name="图片 8">
              <a:extLst>
                <a:ext uri="{FF2B5EF4-FFF2-40B4-BE49-F238E27FC236}">
                  <a16:creationId xmlns:a16="http://schemas.microsoft.com/office/drawing/2014/main" id="{78ADF1B0-ECCB-5AD8-AC37-2E65CF5F6321}"/>
                </a:ext>
              </a:extLst>
            </p:cNvPr>
            <p:cNvPicPr>
              <a:picLocks noChangeAspect="1"/>
            </p:cNvPicPr>
            <p:nvPr/>
          </p:nvPicPr>
          <p:blipFill>
            <a:blip r:embed="rId3"/>
            <a:srcRect r="895"/>
            <a:stretch/>
          </p:blipFill>
          <p:spPr>
            <a:xfrm>
              <a:off x="5375565" y="3772567"/>
              <a:ext cx="6581486" cy="2383176"/>
            </a:xfrm>
            <a:prstGeom prst="rect">
              <a:avLst/>
            </a:prstGeom>
          </p:spPr>
        </p:pic>
        <p:sp>
          <p:nvSpPr>
            <p:cNvPr id="10" name="矩形 9">
              <a:extLst>
                <a:ext uri="{FF2B5EF4-FFF2-40B4-BE49-F238E27FC236}">
                  <a16:creationId xmlns:a16="http://schemas.microsoft.com/office/drawing/2014/main" id="{2DF0BD41-13D1-A8F2-D68F-AC733AFB1B6B}"/>
                </a:ext>
              </a:extLst>
            </p:cNvPr>
            <p:cNvSpPr/>
            <p:nvPr/>
          </p:nvSpPr>
          <p:spPr>
            <a:xfrm>
              <a:off x="9813639" y="3772567"/>
              <a:ext cx="2143412" cy="655782"/>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5BFF1537-95E1-3B9E-6229-537A4B7AD816}"/>
              </a:ext>
            </a:extLst>
          </p:cNvPr>
          <p:cNvSpPr txBox="1"/>
          <p:nvPr/>
        </p:nvSpPr>
        <p:spPr>
          <a:xfrm>
            <a:off x="226890" y="760049"/>
            <a:ext cx="5749037" cy="6097951"/>
          </a:xfrm>
          <a:prstGeom prst="rect">
            <a:avLst/>
          </a:prstGeom>
          <a:noFill/>
        </p:spPr>
        <p:txBody>
          <a:bodyPr wrap="square" rtlCol="0">
            <a:spAutoFit/>
          </a:bodyPr>
          <a:lstStyle/>
          <a:p>
            <a:pPr marR="0" algn="l" rtl="0">
              <a:lnSpc>
                <a:spcPct val="150000"/>
              </a:lnSpc>
            </a:pPr>
            <a:r>
              <a:rPr lang="en-GB" altLang="zh-CN" sz="2400" b="0" i="0" u="none" strike="noStrike" baseline="30000" dirty="0">
                <a:solidFill>
                  <a:srgbClr val="6C4C9A"/>
                </a:solidFill>
                <a:latin typeface="Segoe UI Semibold" panose="020B0702040204020203" pitchFamily="34" charset="0"/>
              </a:rPr>
              <a:t>// NSGA-II Algorithm Simplified</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RunNSGA2(</a:t>
            </a:r>
            <a:r>
              <a:rPr lang="en-GB" altLang="zh-CN" sz="1800" b="0" i="0" u="none" strike="noStrike" baseline="30000" dirty="0" err="1">
                <a:solidFill>
                  <a:schemeClr val="bg1"/>
                </a:solidFill>
                <a:latin typeface="Segoe UI" panose="020B0502040204020203" pitchFamily="34" charset="0"/>
              </a:rPr>
              <a:t>fitnessFunction</a:t>
            </a: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Representation: Binary array (true/false) for grid cells</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GenerateRandomPopulation</a:t>
            </a:r>
            <a:r>
              <a:rPr lang="en-GB" altLang="zh-CN" sz="1800" b="0" i="0" u="none" strike="noStrike" baseline="30000" dirty="0">
                <a:solidFill>
                  <a:schemeClr val="bg1"/>
                </a:solidFill>
                <a:latin typeface="Segoe UI" panose="020B0502040204020203" pitchFamily="34" charset="0"/>
              </a:rPr>
              <a:t>(100,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  // 100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 generation = 1 to 50:  // Evolve for 50 generations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Selection: Binary tournament based on non-dominated ranking and crowding</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Crossover: Uniform crossover exchanging genes between parents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Mutation: Low-probability bit-flip mutation changing individual grid states</a:t>
            </a:r>
          </a:p>
          <a:p>
            <a:pPr marR="0" algn="l" rtl="0">
              <a:lnSpc>
                <a:spcPct val="150000"/>
              </a:lnSpc>
            </a:pPr>
            <a:r>
              <a:rPr lang="en-GB" altLang="zh-CN" sz="1800" b="0" i="0" u="none" strike="noStrike" baseline="30000" dirty="0">
                <a:solidFill>
                  <a:schemeClr val="bg1"/>
                </a:solidFill>
                <a:latin typeface="Segoe UI" panose="020B0502040204020203" pitchFamily="34" charset="0"/>
              </a:rPr>
              <a:t>        offspring = </a:t>
            </a:r>
            <a:r>
              <a:rPr lang="en-GB" altLang="zh-CN" sz="1800" b="0" i="0" u="none" strike="noStrike" baseline="30000" dirty="0" err="1">
                <a:solidFill>
                  <a:schemeClr val="bg1"/>
                </a:solidFill>
                <a:latin typeface="Segoe UI" panose="020B0502040204020203" pitchFamily="34" charset="0"/>
              </a:rPr>
              <a:t>CreateOffspring</a:t>
            </a:r>
            <a:r>
              <a:rPr lang="en-GB" altLang="zh-CN" sz="1800" b="0" i="0" u="none" strike="noStrike" baseline="30000" dirty="0">
                <a:solidFill>
                  <a:schemeClr val="bg1"/>
                </a:solidFill>
                <a:latin typeface="Segoe UI" panose="020B0502040204020203" pitchFamily="34" charset="0"/>
              </a:rPr>
              <a:t>(population)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Combine and sort by non-domination relationship</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 = population + offspring</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NonDominatedSort</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a:solidFill>
                  <a:schemeClr val="accent5">
                    <a:lumMod val="40000"/>
                    <a:lumOff val="60000"/>
                  </a:schemeClr>
                </a:solidFill>
                <a:latin typeface="Segoe UI" panose="020B0502040204020203" pitchFamily="34" charset="0"/>
              </a:rPr>
              <a:t>// Select new generation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SelectNewGeneration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100)</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accent5">
                    <a:lumMod val="40000"/>
                    <a:lumOff val="60000"/>
                  </a:schemeClr>
                </a:solidFill>
                <a:latin typeface="Segoe UI" panose="020B0502040204020203" pitchFamily="34" charset="0"/>
              </a:rPr>
              <a:t>    // Return Pareto-optimal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GetParetoFront</a:t>
            </a:r>
            <a:r>
              <a:rPr lang="en-GB" altLang="zh-CN" sz="1800" b="0" i="0" u="none" strike="noStrike" baseline="30000" dirty="0">
                <a:solidFill>
                  <a:schemeClr val="bg1"/>
                </a:solidFill>
                <a:latin typeface="Segoe UI" panose="020B0502040204020203" pitchFamily="34" charset="0"/>
              </a:rPr>
              <a:t>(population)</a:t>
            </a:r>
            <a:endParaRPr lang="zh-CN" altLang="en-US" dirty="0">
              <a:solidFill>
                <a:schemeClr val="bg1"/>
              </a:solidFill>
            </a:endParaRPr>
          </a:p>
        </p:txBody>
      </p:sp>
      <p:pic>
        <p:nvPicPr>
          <p:cNvPr id="5" name="图片 4">
            <a:extLst>
              <a:ext uri="{FF2B5EF4-FFF2-40B4-BE49-F238E27FC236}">
                <a16:creationId xmlns:a16="http://schemas.microsoft.com/office/drawing/2014/main" id="{EA65845B-D289-F33A-7CDC-18B603CD602C}"/>
              </a:ext>
            </a:extLst>
          </p:cNvPr>
          <p:cNvPicPr>
            <a:picLocks noChangeAspect="1"/>
          </p:cNvPicPr>
          <p:nvPr/>
        </p:nvPicPr>
        <p:blipFill>
          <a:blip r:embed="rId4"/>
          <a:srcRect r="1863"/>
          <a:stretch/>
        </p:blipFill>
        <p:spPr>
          <a:xfrm>
            <a:off x="7383551" y="2905658"/>
            <a:ext cx="3639203" cy="3881268"/>
          </a:xfrm>
          <a:prstGeom prst="rect">
            <a:avLst/>
          </a:prstGeom>
        </p:spPr>
      </p:pic>
      <p:sp>
        <p:nvSpPr>
          <p:cNvPr id="8" name="文本框 7">
            <a:extLst>
              <a:ext uri="{FF2B5EF4-FFF2-40B4-BE49-F238E27FC236}">
                <a16:creationId xmlns:a16="http://schemas.microsoft.com/office/drawing/2014/main" id="{2DA5EA26-9A32-BC12-E8B2-C6157202C4A9}"/>
              </a:ext>
            </a:extLst>
          </p:cNvPr>
          <p:cNvSpPr txBox="1"/>
          <p:nvPr/>
        </p:nvSpPr>
        <p:spPr>
          <a:xfrm>
            <a:off x="3094158" y="235723"/>
            <a:ext cx="66940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268324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F770DC-EFC1-C6AD-9835-96093F3F523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B998740-621B-F625-D5BE-BDC4EB611A4A}"/>
              </a:ext>
            </a:extLst>
          </p:cNvPr>
          <p:cNvSpPr txBox="1"/>
          <p:nvPr/>
        </p:nvSpPr>
        <p:spPr>
          <a:xfrm>
            <a:off x="3133724" y="281261"/>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METHODOLOGY FRAMEWORK</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F47CD286-385F-F630-1BBA-4F12650B9FB5}"/>
              </a:ext>
            </a:extLst>
          </p:cNvPr>
          <p:cNvPicPr>
            <a:picLocks noChangeAspect="1"/>
          </p:cNvPicPr>
          <p:nvPr/>
        </p:nvPicPr>
        <p:blipFill>
          <a:blip r:embed="rId3"/>
          <a:srcRect t="1" r="949" b="1651"/>
          <a:stretch/>
        </p:blipFill>
        <p:spPr>
          <a:xfrm>
            <a:off x="1874043" y="1118707"/>
            <a:ext cx="8443913" cy="2519843"/>
          </a:xfrm>
          <a:prstGeom prst="rect">
            <a:avLst/>
          </a:prstGeom>
        </p:spPr>
      </p:pic>
      <p:pic>
        <p:nvPicPr>
          <p:cNvPr id="7" name="图片 6">
            <a:extLst>
              <a:ext uri="{FF2B5EF4-FFF2-40B4-BE49-F238E27FC236}">
                <a16:creationId xmlns:a16="http://schemas.microsoft.com/office/drawing/2014/main" id="{285B6FF3-6BD6-49E7-D553-453198B12632}"/>
              </a:ext>
            </a:extLst>
          </p:cNvPr>
          <p:cNvPicPr>
            <a:picLocks noChangeAspect="1"/>
          </p:cNvPicPr>
          <p:nvPr/>
        </p:nvPicPr>
        <p:blipFill>
          <a:blip r:embed="rId4"/>
          <a:srcRect b="4301"/>
          <a:stretch/>
        </p:blipFill>
        <p:spPr>
          <a:xfrm>
            <a:off x="1874043" y="4275941"/>
            <a:ext cx="8524875" cy="1712832"/>
          </a:xfrm>
          <a:prstGeom prst="rect">
            <a:avLst/>
          </a:prstGeom>
        </p:spPr>
      </p:pic>
    </p:spTree>
    <p:extLst>
      <p:ext uri="{BB962C8B-B14F-4D97-AF65-F5344CB8AC3E}">
        <p14:creationId xmlns:p14="http://schemas.microsoft.com/office/powerpoint/2010/main" val="3721976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B0C6522-324B-8C2B-BC1E-BE410D0F6D6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B67D7FD-DE03-00FA-5CC0-7D6846845784}"/>
              </a:ext>
            </a:extLst>
          </p:cNvPr>
          <p:cNvSpPr txBox="1"/>
          <p:nvPr/>
        </p:nvSpPr>
        <p:spPr>
          <a:xfrm>
            <a:off x="3371850" y="251312"/>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METHODOLOGY FRAMEWORK</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7" name="图片 6">
            <a:extLst>
              <a:ext uri="{FF2B5EF4-FFF2-40B4-BE49-F238E27FC236}">
                <a16:creationId xmlns:a16="http://schemas.microsoft.com/office/drawing/2014/main" id="{48BE8753-A9B2-1A52-F8AB-52C3198FF81E}"/>
              </a:ext>
            </a:extLst>
          </p:cNvPr>
          <p:cNvPicPr>
            <a:picLocks noChangeAspect="1"/>
          </p:cNvPicPr>
          <p:nvPr/>
        </p:nvPicPr>
        <p:blipFill>
          <a:blip r:embed="rId3"/>
          <a:stretch>
            <a:fillRect/>
          </a:stretch>
        </p:blipFill>
        <p:spPr>
          <a:xfrm>
            <a:off x="1496291" y="779403"/>
            <a:ext cx="9675668" cy="5864041"/>
          </a:xfrm>
          <a:prstGeom prst="rect">
            <a:avLst/>
          </a:prstGeom>
        </p:spPr>
      </p:pic>
    </p:spTree>
    <p:extLst>
      <p:ext uri="{BB962C8B-B14F-4D97-AF65-F5344CB8AC3E}">
        <p14:creationId xmlns:p14="http://schemas.microsoft.com/office/powerpoint/2010/main" val="2047667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A9D2F8-1717-D9D4-D38F-307C9EA39BF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20B21C4-4A00-D68E-9C0D-FEA028E27E7D}"/>
              </a:ext>
            </a:extLst>
          </p:cNvPr>
          <p:cNvSpPr txBox="1"/>
          <p:nvPr/>
        </p:nvSpPr>
        <p:spPr>
          <a:xfrm>
            <a:off x="3443322" y="313258"/>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BEFORE AND AFTER OPTIMISATION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9" name="图片 8" descr="游戏机里面的人物&#10;&#10;AI 生成的内容可能不正确。">
            <a:extLst>
              <a:ext uri="{FF2B5EF4-FFF2-40B4-BE49-F238E27FC236}">
                <a16:creationId xmlns:a16="http://schemas.microsoft.com/office/drawing/2014/main" id="{922A2A0F-1C0F-F023-10C8-23ADDC3DE721}"/>
              </a:ext>
            </a:extLst>
          </p:cNvPr>
          <p:cNvPicPr>
            <a:picLocks noChangeAspect="1"/>
          </p:cNvPicPr>
          <p:nvPr/>
        </p:nvPicPr>
        <p:blipFill>
          <a:blip r:embed="rId3">
            <a:extLst>
              <a:ext uri="{28A0092B-C50C-407E-A947-70E740481C1C}">
                <a14:useLocalDpi xmlns:a14="http://schemas.microsoft.com/office/drawing/2010/main" val="0"/>
              </a:ext>
            </a:extLst>
          </a:blip>
          <a:srcRect l="16894" t="7572" r="21969" b="6869"/>
          <a:stretch/>
        </p:blipFill>
        <p:spPr>
          <a:xfrm>
            <a:off x="424874" y="1523700"/>
            <a:ext cx="3615438" cy="2846065"/>
          </a:xfrm>
          <a:prstGeom prst="rect">
            <a:avLst/>
          </a:prstGeom>
        </p:spPr>
      </p:pic>
      <p:sp>
        <p:nvSpPr>
          <p:cNvPr id="11" name="文本框 10">
            <a:extLst>
              <a:ext uri="{FF2B5EF4-FFF2-40B4-BE49-F238E27FC236}">
                <a16:creationId xmlns:a16="http://schemas.microsoft.com/office/drawing/2014/main" id="{BF70D20B-1807-E75E-81E8-45A92F0EF2EE}"/>
              </a:ext>
            </a:extLst>
          </p:cNvPr>
          <p:cNvSpPr txBox="1"/>
          <p:nvPr/>
        </p:nvSpPr>
        <p:spPr>
          <a:xfrm>
            <a:off x="323274" y="1062182"/>
            <a:ext cx="3265652" cy="297517"/>
          </a:xfrm>
          <a:prstGeom prst="rect">
            <a:avLst/>
          </a:prstGeom>
          <a:noFill/>
        </p:spPr>
        <p:txBody>
          <a:bodyPr wrap="square" rtlCol="0">
            <a:spAutoFit/>
          </a:bodyPr>
          <a:lstStyle/>
          <a:p>
            <a:pPr algn="ctr"/>
            <a:r>
              <a:rPr lang="en-US" altLang="zh-CN" sz="2000" b="0" i="0" u="none" strike="noStrike" baseline="30000" dirty="0">
                <a:solidFill>
                  <a:schemeClr val="bg1"/>
                </a:solidFill>
                <a:latin typeface="Segoe UI Semibold" panose="020B0702040204020203" pitchFamily="34" charset="0"/>
              </a:rPr>
              <a:t>Current Status Of The Site</a:t>
            </a:r>
          </a:p>
        </p:txBody>
      </p:sp>
      <p:sp>
        <p:nvSpPr>
          <p:cNvPr id="12" name="文本框 11">
            <a:extLst>
              <a:ext uri="{FF2B5EF4-FFF2-40B4-BE49-F238E27FC236}">
                <a16:creationId xmlns:a16="http://schemas.microsoft.com/office/drawing/2014/main" id="{D18BDF3B-9614-A7AB-72A8-79B88A1BFE67}"/>
              </a:ext>
            </a:extLst>
          </p:cNvPr>
          <p:cNvSpPr txBox="1"/>
          <p:nvPr/>
        </p:nvSpPr>
        <p:spPr>
          <a:xfrm>
            <a:off x="5751837" y="1062181"/>
            <a:ext cx="3616035" cy="297517"/>
          </a:xfrm>
          <a:prstGeom prst="rect">
            <a:avLst/>
          </a:prstGeom>
          <a:noFill/>
        </p:spPr>
        <p:txBody>
          <a:bodyPr wrap="square" rtlCol="0">
            <a:spAutoFit/>
          </a:bodyPr>
          <a:lstStyle/>
          <a:p>
            <a:pPr algn="ctr"/>
            <a:r>
              <a:rPr lang="en-US" altLang="zh-CN" sz="2000" b="0" i="0" u="none" strike="noStrike" baseline="30000" dirty="0">
                <a:solidFill>
                  <a:schemeClr val="bg1"/>
                </a:solidFill>
                <a:latin typeface="Segoe UI Semibold" panose="020B0702040204020203" pitchFamily="34" charset="0"/>
              </a:rPr>
              <a:t>Optimized Green Space Layout</a:t>
            </a:r>
          </a:p>
        </p:txBody>
      </p:sp>
      <p:pic>
        <p:nvPicPr>
          <p:cNvPr id="14" name="图片 13" descr="电脑萤幕画面&#10;&#10;AI 生成的内容可能不正确。">
            <a:extLst>
              <a:ext uri="{FF2B5EF4-FFF2-40B4-BE49-F238E27FC236}">
                <a16:creationId xmlns:a16="http://schemas.microsoft.com/office/drawing/2014/main" id="{29CB0609-AEC0-A2AB-3AE2-0E82DB412BF0}"/>
              </a:ext>
            </a:extLst>
          </p:cNvPr>
          <p:cNvPicPr>
            <a:picLocks noChangeAspect="1"/>
          </p:cNvPicPr>
          <p:nvPr/>
        </p:nvPicPr>
        <p:blipFill>
          <a:blip r:embed="rId4">
            <a:extLst>
              <a:ext uri="{28A0092B-C50C-407E-A947-70E740481C1C}">
                <a14:useLocalDpi xmlns:a14="http://schemas.microsoft.com/office/drawing/2010/main" val="0"/>
              </a:ext>
            </a:extLst>
          </a:blip>
          <a:srcRect l="19243" t="9201" r="21591" b="8934"/>
          <a:stretch/>
        </p:blipFill>
        <p:spPr>
          <a:xfrm>
            <a:off x="4816774" y="1359698"/>
            <a:ext cx="5334476" cy="4151750"/>
          </a:xfrm>
          <a:prstGeom prst="rect">
            <a:avLst/>
          </a:prstGeom>
        </p:spPr>
      </p:pic>
      <p:sp>
        <p:nvSpPr>
          <p:cNvPr id="15" name="文本框 14">
            <a:extLst>
              <a:ext uri="{FF2B5EF4-FFF2-40B4-BE49-F238E27FC236}">
                <a16:creationId xmlns:a16="http://schemas.microsoft.com/office/drawing/2014/main" id="{6F2045E0-4EE1-0064-B12E-6321F5874571}"/>
              </a:ext>
            </a:extLst>
          </p:cNvPr>
          <p:cNvSpPr txBox="1"/>
          <p:nvPr/>
        </p:nvSpPr>
        <p:spPr>
          <a:xfrm>
            <a:off x="424874" y="4536019"/>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Visibility: 0.753</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6" name="文本框 15">
            <a:extLst>
              <a:ext uri="{FF2B5EF4-FFF2-40B4-BE49-F238E27FC236}">
                <a16:creationId xmlns:a16="http://schemas.microsoft.com/office/drawing/2014/main" id="{356FDF34-5C7F-C273-F5D2-D5D5FC513A8A}"/>
              </a:ext>
            </a:extLst>
          </p:cNvPr>
          <p:cNvSpPr txBox="1"/>
          <p:nvPr/>
        </p:nvSpPr>
        <p:spPr>
          <a:xfrm>
            <a:off x="424874" y="4813018"/>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Area: 2488.193</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7" name="文本框 16">
            <a:extLst>
              <a:ext uri="{FF2B5EF4-FFF2-40B4-BE49-F238E27FC236}">
                <a16:creationId xmlns:a16="http://schemas.microsoft.com/office/drawing/2014/main" id="{4C22CFC6-D7D7-327E-7439-95A713A6FBC4}"/>
              </a:ext>
            </a:extLst>
          </p:cNvPr>
          <p:cNvSpPr txBox="1"/>
          <p:nvPr/>
        </p:nvSpPr>
        <p:spPr>
          <a:xfrm>
            <a:off x="2159310" y="4536019"/>
            <a:ext cx="1483034"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Planned Area: 6476</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8" name="文本框 17">
            <a:extLst>
              <a:ext uri="{FF2B5EF4-FFF2-40B4-BE49-F238E27FC236}">
                <a16:creationId xmlns:a16="http://schemas.microsoft.com/office/drawing/2014/main" id="{7E2650A3-C496-1764-EAFB-8F24930F256D}"/>
              </a:ext>
            </a:extLst>
          </p:cNvPr>
          <p:cNvSpPr txBox="1"/>
          <p:nvPr/>
        </p:nvSpPr>
        <p:spPr>
          <a:xfrm>
            <a:off x="2159309" y="4813017"/>
            <a:ext cx="1915947"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Area Difference: 3987.806</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9" name="文本框 18">
            <a:extLst>
              <a:ext uri="{FF2B5EF4-FFF2-40B4-BE49-F238E27FC236}">
                <a16:creationId xmlns:a16="http://schemas.microsoft.com/office/drawing/2014/main" id="{25554306-B41B-1DD4-06EB-DEEB4DC80AD7}"/>
              </a:ext>
            </a:extLst>
          </p:cNvPr>
          <p:cNvSpPr txBox="1"/>
          <p:nvPr/>
        </p:nvSpPr>
        <p:spPr>
          <a:xfrm>
            <a:off x="10151250" y="4536019"/>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Visibility: 0.972</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21" name="文本框 20">
            <a:extLst>
              <a:ext uri="{FF2B5EF4-FFF2-40B4-BE49-F238E27FC236}">
                <a16:creationId xmlns:a16="http://schemas.microsoft.com/office/drawing/2014/main" id="{6996CEDE-A069-4BB1-1EC4-C7EB20EFAC0C}"/>
              </a:ext>
            </a:extLst>
          </p:cNvPr>
          <p:cNvSpPr txBox="1"/>
          <p:nvPr/>
        </p:nvSpPr>
        <p:spPr>
          <a:xfrm>
            <a:off x="10151250" y="4813018"/>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Area: 5239.824</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25" name="文本框 24">
            <a:extLst>
              <a:ext uri="{FF2B5EF4-FFF2-40B4-BE49-F238E27FC236}">
                <a16:creationId xmlns:a16="http://schemas.microsoft.com/office/drawing/2014/main" id="{52FB9C49-54A0-CFD8-15ED-CC82C428BFBE}"/>
              </a:ext>
            </a:extLst>
          </p:cNvPr>
          <p:cNvSpPr txBox="1"/>
          <p:nvPr/>
        </p:nvSpPr>
        <p:spPr>
          <a:xfrm>
            <a:off x="10151250" y="5090017"/>
            <a:ext cx="1915947"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Area Difference: 1236.175</a:t>
            </a:r>
            <a:endParaRPr lang="zh-CN" altLang="en-US" sz="120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27578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03C5B8-31DE-B2FF-7F03-D2454FEBDEB4}"/>
            </a:ext>
          </a:extLst>
        </p:cNvPr>
        <p:cNvGrpSpPr/>
        <p:nvPr/>
      </p:nvGrpSpPr>
      <p:grpSpPr>
        <a:xfrm>
          <a:off x="0" y="0"/>
          <a:ext cx="0" cy="0"/>
          <a:chOff x="0" y="0"/>
          <a:chExt cx="0" cy="0"/>
        </a:xfrm>
      </p:grpSpPr>
      <p:pic>
        <p:nvPicPr>
          <p:cNvPr id="2" name="布局优化">
            <a:hlinkClick r:id="" action="ppaction://media"/>
            <a:extLst>
              <a:ext uri="{FF2B5EF4-FFF2-40B4-BE49-F238E27FC236}">
                <a16:creationId xmlns:a16="http://schemas.microsoft.com/office/drawing/2014/main" id="{206BBD7D-7D32-9AB9-AE17-3D83147CCAE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51709" y="998668"/>
            <a:ext cx="9837173" cy="5082540"/>
          </a:xfrm>
          <a:prstGeom prst="rect">
            <a:avLst/>
          </a:prstGeom>
        </p:spPr>
      </p:pic>
      <p:sp>
        <p:nvSpPr>
          <p:cNvPr id="3" name="文本框 2">
            <a:extLst>
              <a:ext uri="{FF2B5EF4-FFF2-40B4-BE49-F238E27FC236}">
                <a16:creationId xmlns:a16="http://schemas.microsoft.com/office/drawing/2014/main" id="{8B1616B5-23BF-BED1-FE9C-DACDD60CD3FD}"/>
              </a:ext>
            </a:extLst>
          </p:cNvPr>
          <p:cNvSpPr txBox="1"/>
          <p:nvPr/>
        </p:nvSpPr>
        <p:spPr>
          <a:xfrm>
            <a:off x="3509818" y="214556"/>
            <a:ext cx="6003658"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EVALUATE SOLUTIONS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CC9CF0D9-48A9-CD07-12DB-0965EEB817D4}"/>
              </a:ext>
            </a:extLst>
          </p:cNvPr>
          <p:cNvPicPr>
            <a:picLocks noChangeAspect="1"/>
          </p:cNvPicPr>
          <p:nvPr/>
        </p:nvPicPr>
        <p:blipFill>
          <a:blip r:embed="rId6"/>
          <a:srcRect t="3213" r="67197"/>
          <a:stretch/>
        </p:blipFill>
        <p:spPr>
          <a:xfrm>
            <a:off x="6822098" y="1068844"/>
            <a:ext cx="3187865" cy="2471094"/>
          </a:xfrm>
          <a:prstGeom prst="rect">
            <a:avLst/>
          </a:prstGeom>
        </p:spPr>
      </p:pic>
      <p:pic>
        <p:nvPicPr>
          <p:cNvPr id="7" name="图片 6">
            <a:extLst>
              <a:ext uri="{FF2B5EF4-FFF2-40B4-BE49-F238E27FC236}">
                <a16:creationId xmlns:a16="http://schemas.microsoft.com/office/drawing/2014/main" id="{271B9775-0421-191E-9B04-57059EF97558}"/>
              </a:ext>
            </a:extLst>
          </p:cNvPr>
          <p:cNvPicPr>
            <a:picLocks noChangeAspect="1"/>
          </p:cNvPicPr>
          <p:nvPr/>
        </p:nvPicPr>
        <p:blipFill>
          <a:blip r:embed="rId6"/>
          <a:srcRect l="49754" t="2018" r="17443" b="1195"/>
          <a:stretch/>
        </p:blipFill>
        <p:spPr>
          <a:xfrm>
            <a:off x="6822098" y="3920225"/>
            <a:ext cx="3187865" cy="2471094"/>
          </a:xfrm>
          <a:prstGeom prst="rect">
            <a:avLst/>
          </a:prstGeom>
        </p:spPr>
      </p:pic>
      <p:pic>
        <p:nvPicPr>
          <p:cNvPr id="9" name="图片 8">
            <a:extLst>
              <a:ext uri="{FF2B5EF4-FFF2-40B4-BE49-F238E27FC236}">
                <a16:creationId xmlns:a16="http://schemas.microsoft.com/office/drawing/2014/main" id="{1B820E40-C823-2FE5-41F7-3018CA0BC0DC}"/>
              </a:ext>
            </a:extLst>
          </p:cNvPr>
          <p:cNvPicPr>
            <a:picLocks noChangeAspect="1"/>
          </p:cNvPicPr>
          <p:nvPr/>
        </p:nvPicPr>
        <p:blipFill>
          <a:blip r:embed="rId7"/>
          <a:srcRect b="5026"/>
          <a:stretch/>
        </p:blipFill>
        <p:spPr>
          <a:xfrm>
            <a:off x="10009964" y="2690951"/>
            <a:ext cx="1930634" cy="738049"/>
          </a:xfrm>
          <a:prstGeom prst="rect">
            <a:avLst/>
          </a:prstGeom>
        </p:spPr>
      </p:pic>
      <p:pic>
        <p:nvPicPr>
          <p:cNvPr id="11" name="图片 10">
            <a:extLst>
              <a:ext uri="{FF2B5EF4-FFF2-40B4-BE49-F238E27FC236}">
                <a16:creationId xmlns:a16="http://schemas.microsoft.com/office/drawing/2014/main" id="{CDE39B6E-608F-34E9-ADDD-68C98BD7A27E}"/>
              </a:ext>
            </a:extLst>
          </p:cNvPr>
          <p:cNvPicPr>
            <a:picLocks noChangeAspect="1"/>
          </p:cNvPicPr>
          <p:nvPr/>
        </p:nvPicPr>
        <p:blipFill>
          <a:blip r:embed="rId8"/>
          <a:srcRect b="6325"/>
          <a:stretch/>
        </p:blipFill>
        <p:spPr>
          <a:xfrm>
            <a:off x="10009964" y="5534164"/>
            <a:ext cx="1930634" cy="738049"/>
          </a:xfrm>
          <a:prstGeom prst="rect">
            <a:avLst/>
          </a:prstGeom>
        </p:spPr>
      </p:pic>
    </p:spTree>
    <p:extLst>
      <p:ext uri="{BB962C8B-B14F-4D97-AF65-F5344CB8AC3E}">
        <p14:creationId xmlns:p14="http://schemas.microsoft.com/office/powerpoint/2010/main" val="252144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67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D9E31B-E27B-DE90-BFA8-62C4B1B5DAD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1B6D08C-40EB-1996-1306-F07F8D18746D}"/>
              </a:ext>
            </a:extLst>
          </p:cNvPr>
          <p:cNvSpPr txBox="1"/>
          <p:nvPr/>
        </p:nvSpPr>
        <p:spPr>
          <a:xfrm>
            <a:off x="3509818" y="214556"/>
            <a:ext cx="6003658"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FUTURE WORK &amp; LIMITATIONS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2" name="文本框 1">
            <a:extLst>
              <a:ext uri="{FF2B5EF4-FFF2-40B4-BE49-F238E27FC236}">
                <a16:creationId xmlns:a16="http://schemas.microsoft.com/office/drawing/2014/main" id="{7BB21732-873A-856F-63D7-5E80EB38544C}"/>
              </a:ext>
            </a:extLst>
          </p:cNvPr>
          <p:cNvSpPr txBox="1"/>
          <p:nvPr/>
        </p:nvSpPr>
        <p:spPr>
          <a:xfrm>
            <a:off x="1300898" y="1348032"/>
            <a:ext cx="4986780" cy="369332"/>
          </a:xfrm>
          <a:prstGeom prst="rect">
            <a:avLst/>
          </a:prstGeom>
          <a:noFill/>
        </p:spPr>
        <p:txBody>
          <a:bodyPr wrap="square" rtlCol="0">
            <a:spAutoFit/>
          </a:bodyPr>
          <a:lstStyle/>
          <a:p>
            <a:r>
              <a:rPr lang="en-US" altLang="zh-CN" dirty="0">
                <a:solidFill>
                  <a:srgbClr val="6C4C9A"/>
                </a:solidFill>
                <a:latin typeface="Segoe UI Semibold" panose="020B0702040204020203" pitchFamily="34" charset="0"/>
                <a:cs typeface="Segoe UI Semibold" panose="020B0702040204020203" pitchFamily="34" charset="0"/>
              </a:rPr>
              <a:t>Lack of Parameter Calibration in View Analysis</a:t>
            </a:r>
            <a:endParaRPr lang="zh-CN" altLang="en-US" dirty="0">
              <a:solidFill>
                <a:srgbClr val="6C4C9A"/>
              </a:solidFill>
              <a:latin typeface="Segoe UI Semibold" panose="020B0702040204020203" pitchFamily="34" charset="0"/>
              <a:cs typeface="Segoe UI Semibold" panose="020B0702040204020203" pitchFamily="34" charset="0"/>
            </a:endParaRPr>
          </a:p>
        </p:txBody>
      </p:sp>
      <p:sp>
        <p:nvSpPr>
          <p:cNvPr id="4" name="文本框 3">
            <a:extLst>
              <a:ext uri="{FF2B5EF4-FFF2-40B4-BE49-F238E27FC236}">
                <a16:creationId xmlns:a16="http://schemas.microsoft.com/office/drawing/2014/main" id="{F448738E-90A9-BB47-39ED-0D521C37B391}"/>
              </a:ext>
            </a:extLst>
          </p:cNvPr>
          <p:cNvSpPr txBox="1"/>
          <p:nvPr/>
        </p:nvSpPr>
        <p:spPr>
          <a:xfrm>
            <a:off x="1297756" y="1948196"/>
            <a:ext cx="6400801" cy="369332"/>
          </a:xfrm>
          <a:prstGeom prst="rect">
            <a:avLst/>
          </a:prstGeom>
          <a:noFill/>
        </p:spPr>
        <p:txBody>
          <a:bodyPr wrap="square" rtlCol="0">
            <a:spAutoFit/>
          </a:bodyPr>
          <a:lstStyle/>
          <a:p>
            <a:r>
              <a:rPr lang="en-US" altLang="zh-CN" dirty="0">
                <a:solidFill>
                  <a:srgbClr val="6C4C9A"/>
                </a:solidFill>
                <a:latin typeface="Segoe UI Semibold" panose="020B0702040204020203" pitchFamily="34" charset="0"/>
                <a:cs typeface="Segoe UI Semibold" panose="020B0702040204020203" pitchFamily="34" charset="0"/>
              </a:rPr>
              <a:t>No Control Over Spatial Continuity or Shape of Green Areas</a:t>
            </a:r>
            <a:endParaRPr lang="zh-CN" altLang="en-US" dirty="0">
              <a:solidFill>
                <a:srgbClr val="6C4C9A"/>
              </a:solidFill>
              <a:latin typeface="Segoe UI Semibold" panose="020B0702040204020203" pitchFamily="34" charset="0"/>
              <a:cs typeface="Segoe UI Semibold" panose="020B0702040204020203" pitchFamily="34" charset="0"/>
            </a:endParaRPr>
          </a:p>
        </p:txBody>
      </p:sp>
      <p:sp>
        <p:nvSpPr>
          <p:cNvPr id="10" name="文本框 9">
            <a:extLst>
              <a:ext uri="{FF2B5EF4-FFF2-40B4-BE49-F238E27FC236}">
                <a16:creationId xmlns:a16="http://schemas.microsoft.com/office/drawing/2014/main" id="{C0207D83-0D34-DB4A-1B3F-EA8CD189209A}"/>
              </a:ext>
            </a:extLst>
          </p:cNvPr>
          <p:cNvSpPr txBox="1"/>
          <p:nvPr/>
        </p:nvSpPr>
        <p:spPr>
          <a:xfrm>
            <a:off x="1297757" y="3958662"/>
            <a:ext cx="10358534" cy="1569982"/>
          </a:xfrm>
          <a:prstGeom prst="rect">
            <a:avLst/>
          </a:prstGeom>
          <a:noFill/>
        </p:spPr>
        <p:txBody>
          <a:bodyPr wrap="square" rtlCol="0">
            <a:spAutoFit/>
          </a:bodyPr>
          <a:lstStyle/>
          <a:p>
            <a:pPr>
              <a:lnSpc>
                <a:spcPct val="150000"/>
              </a:lnSpc>
            </a:pPr>
            <a:r>
              <a:rPr lang="en-US" altLang="zh-CN" dirty="0">
                <a:solidFill>
                  <a:srgbClr val="6C4C9A"/>
                </a:solidFill>
                <a:latin typeface="Segoe UI Semibold" panose="020B0702040204020203" pitchFamily="34" charset="0"/>
                <a:cs typeface="Segoe UI Semibold" panose="020B0702040204020203" pitchFamily="34" charset="0"/>
              </a:rPr>
              <a:t>Limited Evaluation Dimensions:</a:t>
            </a:r>
          </a:p>
          <a:p>
            <a:pPr>
              <a:lnSpc>
                <a:spcPct val="150000"/>
              </a:lnSpc>
            </a:pPr>
            <a:r>
              <a:rPr lang="en-US" altLang="zh-CN" sz="1600" dirty="0">
                <a:solidFill>
                  <a:schemeClr val="bg1"/>
                </a:solidFill>
                <a:latin typeface="Segoe UI" panose="020B0502040204020203" pitchFamily="34" charset="0"/>
                <a:cs typeface="Segoe UI" panose="020B0502040204020203" pitchFamily="34" charset="0"/>
              </a:rPr>
              <a:t>The optimization currently considers only visual exposure and area compliance. Other important aspects such as accessibility usability, sunlight exposure, and acoustic buffering are not yet incorporated into the fitness evaluation.</a:t>
            </a:r>
            <a:endParaRPr lang="zh-CN" altLang="en-US" sz="1600" dirty="0">
              <a:solidFill>
                <a:schemeClr val="bg1"/>
              </a:solidFill>
              <a:latin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CD15631D-4AC8-9181-D2BC-7AC815F21F40}"/>
              </a:ext>
            </a:extLst>
          </p:cNvPr>
          <p:cNvSpPr txBox="1"/>
          <p:nvPr/>
        </p:nvSpPr>
        <p:spPr>
          <a:xfrm>
            <a:off x="1297756" y="2548360"/>
            <a:ext cx="10358535" cy="1200650"/>
          </a:xfrm>
          <a:prstGeom prst="rect">
            <a:avLst/>
          </a:prstGeom>
          <a:noFill/>
        </p:spPr>
        <p:txBody>
          <a:bodyPr wrap="square" rtlCol="0">
            <a:spAutoFit/>
          </a:bodyPr>
          <a:lstStyle/>
          <a:p>
            <a:pPr>
              <a:lnSpc>
                <a:spcPct val="150000"/>
              </a:lnSpc>
            </a:pPr>
            <a:r>
              <a:rPr lang="en-US" altLang="zh-CN" dirty="0">
                <a:solidFill>
                  <a:srgbClr val="6C4C9A"/>
                </a:solidFill>
                <a:latin typeface="Segoe UI Semibold" panose="020B0702040204020203" pitchFamily="34" charset="0"/>
                <a:cs typeface="Segoe UI Semibold" panose="020B0702040204020203" pitchFamily="34" charset="0"/>
              </a:rPr>
              <a:t>No integration with Environmental or Behavioral Data: </a:t>
            </a:r>
          </a:p>
          <a:p>
            <a:pPr>
              <a:lnSpc>
                <a:spcPct val="150000"/>
              </a:lnSpc>
            </a:pPr>
            <a:r>
              <a:rPr lang="en-US" altLang="zh-CN" sz="1600" dirty="0">
                <a:solidFill>
                  <a:schemeClr val="bg1"/>
                </a:solidFill>
                <a:latin typeface="Segoe UI" panose="020B0502040204020203" pitchFamily="34" charset="0"/>
                <a:cs typeface="Segoe UI" panose="020B0502040204020203" pitchFamily="34" charset="0"/>
              </a:rPr>
              <a:t>The optimization is static and does not respond to external data such as sunlight, wind, or pedestrian movement, Future work could integrate real-time or context-aware inputs to enable adaptive green space planning</a:t>
            </a:r>
            <a:endParaRPr lang="zh-CN" altLang="en-US" sz="1600" dirty="0">
              <a:solidFill>
                <a:schemeClr val="bg1"/>
              </a:solidFill>
              <a:latin typeface="Segoe UI" panose="020B0502040204020203" pitchFamily="34" charset="0"/>
              <a:cs typeface="Segoe UI" panose="020B0502040204020203" pitchFamily="34" charset="0"/>
            </a:endParaRPr>
          </a:p>
        </p:txBody>
      </p:sp>
      <p:sp>
        <p:nvSpPr>
          <p:cNvPr id="12" name="椭圆 11">
            <a:extLst>
              <a:ext uri="{FF2B5EF4-FFF2-40B4-BE49-F238E27FC236}">
                <a16:creationId xmlns:a16="http://schemas.microsoft.com/office/drawing/2014/main" id="{CB036832-95F4-2B17-1EE7-DEF9BF4D2C77}"/>
              </a:ext>
            </a:extLst>
          </p:cNvPr>
          <p:cNvSpPr/>
          <p:nvPr/>
        </p:nvSpPr>
        <p:spPr>
          <a:xfrm>
            <a:off x="891423" y="1440460"/>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C1D0CD8-298A-9E36-0AB3-4481D09B153F}"/>
              </a:ext>
            </a:extLst>
          </p:cNvPr>
          <p:cNvSpPr/>
          <p:nvPr/>
        </p:nvSpPr>
        <p:spPr>
          <a:xfrm>
            <a:off x="891423" y="2041998"/>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E89628BC-6563-D88C-C1A9-037B2B83CA62}"/>
              </a:ext>
            </a:extLst>
          </p:cNvPr>
          <p:cNvSpPr/>
          <p:nvPr/>
        </p:nvSpPr>
        <p:spPr>
          <a:xfrm>
            <a:off x="891423" y="2721448"/>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B37BC23-23FC-BC8B-C47D-2C38A2B7D671}"/>
              </a:ext>
            </a:extLst>
          </p:cNvPr>
          <p:cNvSpPr/>
          <p:nvPr/>
        </p:nvSpPr>
        <p:spPr>
          <a:xfrm>
            <a:off x="891423" y="4147658"/>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7879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38543C-CDD4-197B-F0E6-977E4771CA3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0846A8D-1E94-68BB-BF18-1464849E9E57}"/>
              </a:ext>
            </a:extLst>
          </p:cNvPr>
          <p:cNvSpPr txBox="1"/>
          <p:nvPr/>
        </p:nvSpPr>
        <p:spPr>
          <a:xfrm>
            <a:off x="3325018" y="3105834"/>
            <a:ext cx="5541963" cy="646331"/>
          </a:xfrm>
          <a:prstGeom prst="rect">
            <a:avLst/>
          </a:prstGeom>
          <a:noFill/>
        </p:spPr>
        <p:txBody>
          <a:bodyPr wrap="square" rtlCol="0">
            <a:spAutoFit/>
          </a:bodyPr>
          <a:lstStyle/>
          <a:p>
            <a:pPr algn="ctr"/>
            <a:r>
              <a:rPr lang="en-US" altLang="zh-CN" sz="3600" dirty="0">
                <a:solidFill>
                  <a:schemeClr val="bg1"/>
                </a:solidFill>
                <a:latin typeface="Segoe UI Semibold" panose="020B0702040204020203" pitchFamily="34" charset="0"/>
                <a:ea typeface="Segoe UI Black" panose="020B0A02040204020203" pitchFamily="34" charset="0"/>
                <a:cs typeface="Segoe UI Semibold" panose="020B0702040204020203" pitchFamily="34" charset="0"/>
              </a:rPr>
              <a:t>THANKS FOR LISTENING</a:t>
            </a:r>
            <a:endParaRPr lang="zh-CN" altLang="en-US" sz="3600" dirty="0">
              <a:solidFill>
                <a:schemeClr val="bg1"/>
              </a:solidFill>
              <a:latin typeface="Segoe UI Semibold" panose="020B0702040204020203" pitchFamily="34" charset="0"/>
              <a:ea typeface="Arial Unicode MS" panose="020B0604020202020204" pitchFamily="34" charset="-122"/>
              <a:cs typeface="Segoe UI Semibold" panose="020B0702040204020203" pitchFamily="34" charset="0"/>
            </a:endParaRPr>
          </a:p>
        </p:txBody>
      </p:sp>
      <p:sp>
        <p:nvSpPr>
          <p:cNvPr id="2" name="文本框 1">
            <a:extLst>
              <a:ext uri="{FF2B5EF4-FFF2-40B4-BE49-F238E27FC236}">
                <a16:creationId xmlns:a16="http://schemas.microsoft.com/office/drawing/2014/main" id="{6264FB33-4217-071D-213D-D2A4A9C8C30B}"/>
              </a:ext>
            </a:extLst>
          </p:cNvPr>
          <p:cNvSpPr txBox="1"/>
          <p:nvPr/>
        </p:nvSpPr>
        <p:spPr>
          <a:xfrm>
            <a:off x="5559828" y="3752165"/>
            <a:ext cx="1072342"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Rui Gu</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68966824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559</TotalTime>
  <Words>1870</Words>
  <Application>Microsoft Office PowerPoint</Application>
  <PresentationFormat>宽屏</PresentationFormat>
  <Paragraphs>195</Paragraphs>
  <Slides>11</Slides>
  <Notes>10</Notes>
  <HiddenSlides>0</HiddenSlides>
  <MMClips>1</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等线</vt:lpstr>
      <vt:lpstr>等线 Light</vt:lpstr>
      <vt:lpstr>Arial</vt:lpstr>
      <vt:lpstr>Segoe UI</vt:lpstr>
      <vt:lpstr>Segoe UI Semibold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 Rui</dc:creator>
  <cp:lastModifiedBy>Gu, Rui</cp:lastModifiedBy>
  <cp:revision>33</cp:revision>
  <dcterms:created xsi:type="dcterms:W3CDTF">2025-04-30T10:40:34Z</dcterms:created>
  <dcterms:modified xsi:type="dcterms:W3CDTF">2025-05-01T12:06:22Z</dcterms:modified>
</cp:coreProperties>
</file>