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 id="261" r:id="rId7"/>
    <p:sldId id="263" r:id="rId8"/>
    <p:sldId id="264" r:id="rId9"/>
    <p:sldId id="265" r:id="rId10"/>
    <p:sldId id="266" r:id="rId11"/>
    <p:sldId id="260" r:id="rId12"/>
    <p:sldId id="267" r:id="rId13"/>
    <p:sldId id="268" r:id="rId14"/>
    <p:sldId id="269" r:id="rId15"/>
    <p:sldId id="271" r:id="rId16"/>
    <p:sldId id="270" r:id="rId17"/>
    <p:sldId id="272" r:id="rId18"/>
    <p:sldId id="273" r:id="rId19"/>
    <p:sldId id="274" r:id="rId20"/>
    <p:sldId id="275" r:id="rId21"/>
    <p:sldId id="277"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AA8DBB1-1146-45F8-97CE-E9A8964B6E43}">
          <p14:sldIdLst>
            <p14:sldId id="262"/>
          </p14:sldIdLst>
        </p14:section>
        <p14:section name="01_AlgorithmImplementation" id="{D067C433-B253-4063-920A-D3C333D2A0AA}">
          <p14:sldIdLst>
            <p14:sldId id="256"/>
            <p14:sldId id="257"/>
            <p14:sldId id="258"/>
            <p14:sldId id="259"/>
            <p14:sldId id="261"/>
            <p14:sldId id="263"/>
            <p14:sldId id="264"/>
            <p14:sldId id="265"/>
          </p14:sldIdLst>
        </p14:section>
        <p14:section name="02_ReviewOfMethods" id="{3568E756-34BB-4D5B-B659-69CA7AABE7B3}">
          <p14:sldIdLst>
            <p14:sldId id="266"/>
            <p14:sldId id="260"/>
            <p14:sldId id="267"/>
            <p14:sldId id="268"/>
            <p14:sldId id="269"/>
            <p14:sldId id="271"/>
            <p14:sldId id="270"/>
          </p14:sldIdLst>
        </p14:section>
        <p14:section name="03_Results" id="{F5E4AE86-A26B-4CF0-AB14-A43282B80CCC}">
          <p14:sldIdLst>
            <p14:sldId id="272"/>
            <p14:sldId id="273"/>
            <p14:sldId id="274"/>
            <p14:sldId id="275"/>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4C9A"/>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F98B5-D7F9-9314-44C3-1071C600DCF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627F732-83C8-9948-9B30-3FFF7918D8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865546-C5DB-E33A-9851-2317BCBD12BA}"/>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F48516D5-584B-1225-7747-15F3769669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BF903F-E47D-B4D6-DC04-5CCB65D8BC68}"/>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4057903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22B55-7075-4DFD-206B-C7287CE6CA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4D080CC-0A9B-1584-DD35-D4FFF73730F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96C9EE-27FD-4185-B3F9-F8D2DB26A716}"/>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692192DE-2F8D-EB91-6E98-40E2B8EDC0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404A54-A30F-2B7A-39F6-8075F324F035}"/>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55326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4CDF07-2471-CA96-8C1F-E009890E00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F15594B-5B05-3ABB-DFEB-915E18704A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50C582E-A3AA-5B7F-AF63-CA11A8CDD0B7}"/>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A3B64A0B-32C3-D6ED-7CCB-C0DF5EBA42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DF574B-4862-CCAC-D6FD-84E258DF7339}"/>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1950024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D2897-5345-F3B9-2D8D-44C69F8FFE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1863F83-4C46-5790-9CA1-8AFF79CAD0B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66E3A3A-2C12-9C63-F6F2-D116A10313E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0023D06-18E1-797F-76C4-53270BED124A}"/>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6" name="页脚占位符 5">
            <a:extLst>
              <a:ext uri="{FF2B5EF4-FFF2-40B4-BE49-F238E27FC236}">
                <a16:creationId xmlns:a16="http://schemas.microsoft.com/office/drawing/2014/main" id="{6BFEE641-7056-47AA-8540-726016CF5DB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D18973-793E-C749-95A4-93606F408333}"/>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562523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22678-4A83-E5F5-1ACE-BC86F4A7FB3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C968655-9AED-649D-033B-6D4D6B1891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58A66CF-6AC9-8CBF-9432-D888E2A9D1A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38B9B3A-054F-C810-43F8-D476D69AC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534292-BC2C-66EC-045D-063A374A5BF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8F8752-4F16-DFF1-F1FC-89CDCFBFBD4A}"/>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8" name="页脚占位符 7">
            <a:extLst>
              <a:ext uri="{FF2B5EF4-FFF2-40B4-BE49-F238E27FC236}">
                <a16:creationId xmlns:a16="http://schemas.microsoft.com/office/drawing/2014/main" id="{BD5422E4-F584-B7B6-BFF4-D708D9EEF31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8BA320-ED2D-0BCB-378F-372484E803BC}"/>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87793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4AFF2-D422-FC3B-1560-43B89C8DB7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35852B-9A67-D910-3705-99CA9FB72CB5}"/>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4" name="页脚占位符 3">
            <a:extLst>
              <a:ext uri="{FF2B5EF4-FFF2-40B4-BE49-F238E27FC236}">
                <a16:creationId xmlns:a16="http://schemas.microsoft.com/office/drawing/2014/main" id="{0F08F660-EC7C-306E-BC41-FDB7AF25D8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C623B8-9230-D521-A8F5-8000C6AFB535}"/>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95136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741A93-F0AA-A449-98F4-2C04C01EEE1E}"/>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3" name="页脚占位符 2">
            <a:extLst>
              <a:ext uri="{FF2B5EF4-FFF2-40B4-BE49-F238E27FC236}">
                <a16:creationId xmlns:a16="http://schemas.microsoft.com/office/drawing/2014/main" id="{9DB6912A-7C65-A03B-510B-F173D1105D9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7E88B92-8891-EC44-9504-CB550359EFC1}"/>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32593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A76FD-1C33-CD39-28E0-691FF545CD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2A0F544-018E-D0C3-6E0C-7103937DFB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61ACEDB-6515-C2DD-35F2-AED94D792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7C13348-CDEC-5342-1ADA-36B6029573E6}"/>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6" name="页脚占位符 5">
            <a:extLst>
              <a:ext uri="{FF2B5EF4-FFF2-40B4-BE49-F238E27FC236}">
                <a16:creationId xmlns:a16="http://schemas.microsoft.com/office/drawing/2014/main" id="{9833494B-3EB2-050E-BBB9-C916D99978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44F0EB-2549-A2C8-1C51-C5100DF287CC}"/>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899630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0AB6D-F679-97AF-4F70-F4EA14A7637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9746D92-B1B3-D8EC-B54A-4B76964A1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113C762-BF48-FCC6-3B5E-4CFF1FE5E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3C20C0F-AD36-B748-7FCF-806AE8B1F42E}"/>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6" name="页脚占位符 5">
            <a:extLst>
              <a:ext uri="{FF2B5EF4-FFF2-40B4-BE49-F238E27FC236}">
                <a16:creationId xmlns:a16="http://schemas.microsoft.com/office/drawing/2014/main" id="{CBE90FCE-8511-807C-1C4C-128218F9283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9FBE45-264D-4F45-0145-5E97CE7E1D82}"/>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2980054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6136A-B308-CD49-0671-2868AC4FE37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9FE546B-DFD5-7F77-C466-779EFFFD258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50BD4D-8880-E8C2-BBE7-E1BB857FED15}"/>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B12914AA-CE89-B99C-1EC1-30ED7D5DAD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A1F2AB-9B13-DA5C-1CD5-B84AA72C983E}"/>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129749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CEBD67-F8FD-C5B3-C4A2-7EE03C73B72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EA6141A-3BA8-DBD9-3673-1DE0E9D013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906421-BD7D-CB32-E7A7-CAA548C73DE1}"/>
              </a:ext>
            </a:extLst>
          </p:cNvPr>
          <p:cNvSpPr>
            <a:spLocks noGrp="1"/>
          </p:cNvSpPr>
          <p:nvPr>
            <p:ph type="dt" sz="half" idx="10"/>
          </p:nvPr>
        </p:nvSpPr>
        <p:spPr/>
        <p:txBody>
          <a:body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3D0A6CFD-6AF3-FBE3-74A5-A57C508713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594BA7-728B-2033-69C6-34C731CA7A50}"/>
              </a:ext>
            </a:extLst>
          </p:cNvPr>
          <p:cNvSpPr>
            <a:spLocks noGrp="1"/>
          </p:cNvSpPr>
          <p:nvPr>
            <p:ph type="sldNum" sz="quarter" idx="12"/>
          </p:nvPr>
        </p:nvSpPr>
        <p:spPr/>
        <p:txBody>
          <a:body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372911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BCF3B0-5EFE-98B4-7A6C-5AB809E86E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ADC37ED-BE7E-8DFD-2EC3-045536A504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5F3B46-6389-9147-971C-9BDEEBB04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FCF131-922B-4273-9A13-F51D403BB592}" type="datetimeFigureOut">
              <a:rPr lang="zh-CN" altLang="en-US" smtClean="0"/>
              <a:t>2025/4/30</a:t>
            </a:fld>
            <a:endParaRPr lang="zh-CN" altLang="en-US"/>
          </a:p>
        </p:txBody>
      </p:sp>
      <p:sp>
        <p:nvSpPr>
          <p:cNvPr id="5" name="页脚占位符 4">
            <a:extLst>
              <a:ext uri="{FF2B5EF4-FFF2-40B4-BE49-F238E27FC236}">
                <a16:creationId xmlns:a16="http://schemas.microsoft.com/office/drawing/2014/main" id="{EB90640C-77DC-35A2-B56B-2518E704A1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A932172-187D-5077-E424-71CCAC0C44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9E9C57-CCE0-4A7E-AD21-17FE8FF55CD9}" type="slidenum">
              <a:rPr lang="zh-CN" altLang="en-US" smtClean="0"/>
              <a:t>‹#›</a:t>
            </a:fld>
            <a:endParaRPr lang="zh-CN" altLang="en-US"/>
          </a:p>
        </p:txBody>
      </p:sp>
    </p:spTree>
    <p:extLst>
      <p:ext uri="{BB962C8B-B14F-4D97-AF65-F5344CB8AC3E}">
        <p14:creationId xmlns:p14="http://schemas.microsoft.com/office/powerpoint/2010/main" val="4039389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0647D97-DB83-228C-EB50-C1E425D65F1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630D647-8327-1BF0-1C56-F93CE1449163}"/>
              </a:ext>
            </a:extLst>
          </p:cNvPr>
          <p:cNvSpPr txBox="1"/>
          <p:nvPr/>
        </p:nvSpPr>
        <p:spPr>
          <a:xfrm>
            <a:off x="3999347" y="2976633"/>
            <a:ext cx="4572000" cy="646331"/>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COMFORT IN SIGHT</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5" name="文本框 4">
            <a:extLst>
              <a:ext uri="{FF2B5EF4-FFF2-40B4-BE49-F238E27FC236}">
                <a16:creationId xmlns:a16="http://schemas.microsoft.com/office/drawing/2014/main" id="{53D86AF1-0AC7-8F9C-575B-F85E44E5E339}"/>
              </a:ext>
            </a:extLst>
          </p:cNvPr>
          <p:cNvSpPr txBox="1"/>
          <p:nvPr/>
        </p:nvSpPr>
        <p:spPr>
          <a:xfrm>
            <a:off x="397165" y="801675"/>
            <a:ext cx="3602182" cy="307777"/>
          </a:xfrm>
          <a:prstGeom prst="rect">
            <a:avLst/>
          </a:prstGeom>
          <a:noFill/>
        </p:spPr>
        <p:txBody>
          <a:bodyPr wrap="square" rtlCol="0">
            <a:spAutoFit/>
          </a:bodyPr>
          <a:lstStyle/>
          <a:p>
            <a:pPr algn="ctr"/>
            <a:r>
              <a:rPr lang="en-US" altLang="zh-CN" sz="1400" dirty="0">
                <a:solidFill>
                  <a:schemeClr val="bg1"/>
                </a:solidFill>
                <a:latin typeface="Segoe UI Semibold" panose="020B0702040204020203" pitchFamily="34" charset="0"/>
                <a:cs typeface="Segoe UI Semibold" panose="020B0702040204020203" pitchFamily="34" charset="0"/>
              </a:rPr>
              <a:t>BARC0034 Morphogenetic Programming</a:t>
            </a:r>
            <a:endParaRPr lang="zh-CN" altLang="en-US" sz="1400" dirty="0">
              <a:solidFill>
                <a:schemeClr val="bg1"/>
              </a:solidFill>
              <a:latin typeface="Segoe UI Semibold" panose="020B0702040204020203" pitchFamily="34" charset="0"/>
              <a:cs typeface="Segoe UI Semibold" panose="020B0702040204020203" pitchFamily="34" charset="0"/>
            </a:endParaRPr>
          </a:p>
        </p:txBody>
      </p:sp>
      <p:sp>
        <p:nvSpPr>
          <p:cNvPr id="6" name="文本框 5">
            <a:extLst>
              <a:ext uri="{FF2B5EF4-FFF2-40B4-BE49-F238E27FC236}">
                <a16:creationId xmlns:a16="http://schemas.microsoft.com/office/drawing/2014/main" id="{C3AD7486-1D4F-2D14-3D4C-9C22B85713E0}"/>
              </a:ext>
            </a:extLst>
          </p:cNvPr>
          <p:cNvSpPr txBox="1"/>
          <p:nvPr/>
        </p:nvSpPr>
        <p:spPr>
          <a:xfrm>
            <a:off x="441038" y="493898"/>
            <a:ext cx="3470563" cy="307777"/>
          </a:xfrm>
          <a:prstGeom prst="rect">
            <a:avLst/>
          </a:prstGeom>
          <a:noFill/>
        </p:spPr>
        <p:txBody>
          <a:bodyPr wrap="square" rtlCol="0">
            <a:spAutoFit/>
          </a:bodyPr>
          <a:lstStyle/>
          <a:p>
            <a:pPr algn="ctr"/>
            <a:r>
              <a:rPr lang="en-US" altLang="zh-CN" sz="1400" dirty="0">
                <a:solidFill>
                  <a:schemeClr val="bg1"/>
                </a:solidFill>
                <a:latin typeface="Segoe UI Semibold" panose="020B0702040204020203" pitchFamily="34" charset="0"/>
                <a:cs typeface="Segoe UI Semibold" panose="020B0702040204020203" pitchFamily="34" charset="0"/>
              </a:rPr>
              <a:t>The Bartlett School of Architecture , UCL</a:t>
            </a:r>
            <a:endParaRPr lang="zh-CN" altLang="en-US" sz="1400" dirty="0">
              <a:solidFill>
                <a:schemeClr val="bg1"/>
              </a:solidFill>
              <a:latin typeface="Segoe UI Semibold" panose="020B0702040204020203" pitchFamily="34" charset="0"/>
              <a:cs typeface="Segoe UI Semibold" panose="020B0702040204020203" pitchFamily="34" charset="0"/>
            </a:endParaRPr>
          </a:p>
        </p:txBody>
      </p:sp>
      <p:sp>
        <p:nvSpPr>
          <p:cNvPr id="7" name="文本框 6">
            <a:extLst>
              <a:ext uri="{FF2B5EF4-FFF2-40B4-BE49-F238E27FC236}">
                <a16:creationId xmlns:a16="http://schemas.microsoft.com/office/drawing/2014/main" id="{BF256538-025B-184F-CBFD-9F5C868F0523}"/>
              </a:ext>
            </a:extLst>
          </p:cNvPr>
          <p:cNvSpPr txBox="1"/>
          <p:nvPr/>
        </p:nvSpPr>
        <p:spPr>
          <a:xfrm>
            <a:off x="4932218" y="3622964"/>
            <a:ext cx="2327564" cy="338554"/>
          </a:xfrm>
          <a:prstGeom prst="rect">
            <a:avLst/>
          </a:prstGeom>
          <a:noFill/>
        </p:spPr>
        <p:txBody>
          <a:bodyPr wrap="square" rtlCol="0">
            <a:spAutoFit/>
          </a:bodyPr>
          <a:lstStyle/>
          <a:p>
            <a:pPr algn="ctr"/>
            <a:r>
              <a:rPr lang="en-US" altLang="zh-CN" sz="1600" dirty="0">
                <a:solidFill>
                  <a:schemeClr val="bg1"/>
                </a:solidFill>
                <a:latin typeface="Segoe UI Semibold" panose="020B0702040204020203" pitchFamily="34" charset="0"/>
                <a:cs typeface="Segoe UI Semibold" panose="020B0702040204020203" pitchFamily="34" charset="0"/>
              </a:rPr>
              <a:t>CREATED BY: Rui Gu</a:t>
            </a:r>
            <a:endParaRPr lang="zh-CN" altLang="en-US" sz="1600" dirty="0">
              <a:solidFill>
                <a:schemeClr val="bg1"/>
              </a:solidFill>
              <a:latin typeface="Segoe UI Semibold" panose="020B0702040204020203" pitchFamily="34" charset="0"/>
              <a:cs typeface="Segoe UI Semibold" panose="020B0702040204020203" pitchFamily="34" charset="0"/>
            </a:endParaRPr>
          </a:p>
        </p:txBody>
      </p:sp>
      <p:pic>
        <p:nvPicPr>
          <p:cNvPr id="11" name="图片 10" descr="图表">
            <a:extLst>
              <a:ext uri="{FF2B5EF4-FFF2-40B4-BE49-F238E27FC236}">
                <a16:creationId xmlns:a16="http://schemas.microsoft.com/office/drawing/2014/main" id="{DDB7DEE7-8FA6-7B68-D39D-012F41FEE031}"/>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101601"/>
            <a:ext cx="12192000" cy="6973175"/>
          </a:xfrm>
          <a:prstGeom prst="rect">
            <a:avLst/>
          </a:prstGeom>
        </p:spPr>
      </p:pic>
    </p:spTree>
    <p:extLst>
      <p:ext uri="{BB962C8B-B14F-4D97-AF65-F5344CB8AC3E}">
        <p14:creationId xmlns:p14="http://schemas.microsoft.com/office/powerpoint/2010/main" val="35902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697C36E-392D-5EFF-47AE-3A3799C88EDF}"/>
              </a:ext>
            </a:extLst>
          </p:cNvPr>
          <p:cNvSpPr txBox="1"/>
          <p:nvPr/>
        </p:nvSpPr>
        <p:spPr>
          <a:xfrm>
            <a:off x="1962150" y="2508360"/>
            <a:ext cx="8410575" cy="1200329"/>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OVERVIEW OF NON-DOMINATED GENETIC ALGORITH II</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9" name="文本框 8">
            <a:extLst>
              <a:ext uri="{FF2B5EF4-FFF2-40B4-BE49-F238E27FC236}">
                <a16:creationId xmlns:a16="http://schemas.microsoft.com/office/drawing/2014/main" id="{9FCE7EFD-6E76-081D-9792-1536D5DEFA2D}"/>
              </a:ext>
            </a:extLst>
          </p:cNvPr>
          <p:cNvSpPr txBox="1"/>
          <p:nvPr/>
        </p:nvSpPr>
        <p:spPr>
          <a:xfrm>
            <a:off x="3605212" y="3708689"/>
            <a:ext cx="4981575" cy="338554"/>
          </a:xfrm>
          <a:prstGeom prst="rect">
            <a:avLst/>
          </a:prstGeom>
          <a:noFill/>
        </p:spPr>
        <p:txBody>
          <a:bodyPr wrap="square" rtlCol="0">
            <a:spAutoFit/>
          </a:bodyPr>
          <a:lstStyle/>
          <a:p>
            <a:pPr algn="ctr"/>
            <a:r>
              <a:rPr lang="en-US" altLang="zh-CN" sz="1600" dirty="0">
                <a:solidFill>
                  <a:schemeClr val="bg1"/>
                </a:solidFill>
                <a:latin typeface="Segoe UI Semibold" panose="020B0702040204020203" pitchFamily="34" charset="0"/>
                <a:cs typeface="Segoe UI Semibold" panose="020B0702040204020203" pitchFamily="34" charset="0"/>
              </a:rPr>
              <a:t>Constructing NSGA-II Optimization Algorithm Logic</a:t>
            </a:r>
            <a:endParaRPr lang="zh-CN" altLang="en-US" sz="16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4119210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A5D6C95-F60B-4AAB-90F5-E222AC1A9193}"/>
              </a:ext>
            </a:extLst>
          </p:cNvPr>
          <p:cNvSpPr txBox="1"/>
          <p:nvPr/>
        </p:nvSpPr>
        <p:spPr>
          <a:xfrm>
            <a:off x="2733674" y="171420"/>
            <a:ext cx="76104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COMPARISON BETWEEN  ORDINARY ALGORITHM AND NSGA-II</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7" name="图片 6">
            <a:extLst>
              <a:ext uri="{FF2B5EF4-FFF2-40B4-BE49-F238E27FC236}">
                <a16:creationId xmlns:a16="http://schemas.microsoft.com/office/drawing/2014/main" id="{69A717C5-77D7-B878-BB77-38CE2A3C6E15}"/>
              </a:ext>
            </a:extLst>
          </p:cNvPr>
          <p:cNvPicPr>
            <a:picLocks noChangeAspect="1"/>
          </p:cNvPicPr>
          <p:nvPr/>
        </p:nvPicPr>
        <p:blipFill>
          <a:blip r:embed="rId2"/>
          <a:srcRect r="654"/>
          <a:stretch/>
        </p:blipFill>
        <p:spPr>
          <a:xfrm>
            <a:off x="223838" y="1936019"/>
            <a:ext cx="6181725" cy="2985962"/>
          </a:xfrm>
          <a:prstGeom prst="rect">
            <a:avLst/>
          </a:prstGeom>
        </p:spPr>
      </p:pic>
      <p:sp>
        <p:nvSpPr>
          <p:cNvPr id="8" name="文本框 7">
            <a:extLst>
              <a:ext uri="{FF2B5EF4-FFF2-40B4-BE49-F238E27FC236}">
                <a16:creationId xmlns:a16="http://schemas.microsoft.com/office/drawing/2014/main" id="{887C5E8E-2363-6BA5-477E-C3C8FCEF4482}"/>
              </a:ext>
            </a:extLst>
          </p:cNvPr>
          <p:cNvSpPr txBox="1"/>
          <p:nvPr/>
        </p:nvSpPr>
        <p:spPr>
          <a:xfrm>
            <a:off x="6796087" y="1638961"/>
            <a:ext cx="5172075" cy="3789627"/>
          </a:xfrm>
          <a:prstGeom prst="rect">
            <a:avLst/>
          </a:prstGeom>
          <a:noFill/>
        </p:spPr>
        <p:txBody>
          <a:bodyPr wrap="square" rtlCol="0">
            <a:spAutoFit/>
          </a:bodyPr>
          <a:lstStyle/>
          <a:p>
            <a:pPr marR="0" algn="l" rtl="0">
              <a:lnSpc>
                <a:spcPct val="150000"/>
              </a:lnSpc>
            </a:pPr>
            <a:r>
              <a:rPr lang="en-US" altLang="zh-CN" sz="1800" b="0" i="0" u="none" strike="noStrike" baseline="30000" dirty="0">
                <a:solidFill>
                  <a:schemeClr val="bg1"/>
                </a:solidFill>
                <a:latin typeface="Segoe UI" panose="020B0502040204020203" pitchFamily="34" charset="0"/>
              </a:rPr>
              <a:t>NSGA-II (Non-dominated Sorting Genetic Algorithm II) is an evolutionary optimization technique that simulates natural selection to solve complex problems. It evolves a population of solutions over multiple generations by:</a:t>
            </a: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L="285750" marR="0" indent="-285750" algn="l" rtl="0">
              <a:lnSpc>
                <a:spcPct val="150000"/>
              </a:lnSpc>
              <a:buFont typeface="Wingdings" panose="05000000000000000000" pitchFamily="2" charset="2"/>
              <a:buChar char="Ø"/>
            </a:pPr>
            <a:r>
              <a:rPr lang="en-US" altLang="zh-CN" sz="1800" b="0" i="0" u="none" strike="noStrike" baseline="30000" dirty="0">
                <a:solidFill>
                  <a:schemeClr val="bg1"/>
                </a:solidFill>
                <a:latin typeface="Segoe UI" panose="020B0502040204020203" pitchFamily="34" charset="0"/>
              </a:rPr>
              <a:t>Maintaining diversity through crowding distance metrics</a:t>
            </a:r>
          </a:p>
          <a:p>
            <a:pPr marL="285750" marR="0" indent="-285750" algn="l" rtl="0">
              <a:lnSpc>
                <a:spcPct val="150000"/>
              </a:lnSpc>
              <a:buFont typeface="Wingdings" panose="05000000000000000000" pitchFamily="2" charset="2"/>
              <a:buChar char="Ø"/>
            </a:pPr>
            <a:r>
              <a:rPr lang="en-US" altLang="zh-CN" sz="1800" b="0" i="0" u="none" strike="noStrike" baseline="30000" dirty="0">
                <a:solidFill>
                  <a:schemeClr val="bg1"/>
                </a:solidFill>
                <a:latin typeface="Segoe UI" panose="020B0502040204020203" pitchFamily="34" charset="0"/>
              </a:rPr>
              <a:t>Efficiently ranking solutions using fast non-dominated sorting</a:t>
            </a:r>
          </a:p>
          <a:p>
            <a:pPr marL="285750" marR="0" indent="-285750" algn="l" rtl="0">
              <a:lnSpc>
                <a:spcPct val="150000"/>
              </a:lnSpc>
              <a:buFont typeface="Wingdings" panose="05000000000000000000" pitchFamily="2" charset="2"/>
              <a:buChar char="Ø"/>
            </a:pPr>
            <a:r>
              <a:rPr lang="en-GB" altLang="zh-CN" sz="1800" b="0" i="0" u="none" strike="noStrike" baseline="30000" dirty="0">
                <a:solidFill>
                  <a:schemeClr val="bg1"/>
                </a:solidFill>
                <a:latin typeface="Segoe UI" panose="020B0502040204020203" pitchFamily="34" charset="0"/>
              </a:rPr>
              <a:t>Preserving elite solutions between generations</a:t>
            </a:r>
          </a:p>
          <a:p>
            <a:pPr marL="285750" marR="0" indent="-285750" algn="l" rtl="0">
              <a:lnSpc>
                <a:spcPct val="150000"/>
              </a:lnSpc>
              <a:buFont typeface="Wingdings" panose="05000000000000000000" pitchFamily="2" charset="2"/>
              <a:buChar char="Ø"/>
            </a:pPr>
            <a:r>
              <a:rPr lang="en-US" altLang="zh-CN" sz="1800" b="0" i="0" u="none" strike="noStrike" baseline="30000" dirty="0">
                <a:solidFill>
                  <a:schemeClr val="bg1"/>
                </a:solidFill>
                <a:latin typeface="Segoe UI" panose="020B0502040204020203" pitchFamily="34" charset="0"/>
              </a:rPr>
              <a:t>Balancing multiple competing objectives simultaneously</a:t>
            </a: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This approach is ideal for green space optimization, allowing us to maximize visibility and achieve target coverage without predefined weightings between objectives.</a:t>
            </a:r>
            <a:endParaRPr lang="zh-CN" altLang="en-US" dirty="0">
              <a:solidFill>
                <a:schemeClr val="bg1"/>
              </a:solidFill>
            </a:endParaRPr>
          </a:p>
        </p:txBody>
      </p:sp>
      <p:sp>
        <p:nvSpPr>
          <p:cNvPr id="9" name="文本框 8">
            <a:extLst>
              <a:ext uri="{FF2B5EF4-FFF2-40B4-BE49-F238E27FC236}">
                <a16:creationId xmlns:a16="http://schemas.microsoft.com/office/drawing/2014/main" id="{D1CD33AF-1A72-8863-0455-88D5A07E837C}"/>
              </a:ext>
            </a:extLst>
          </p:cNvPr>
          <p:cNvSpPr txBox="1"/>
          <p:nvPr/>
        </p:nvSpPr>
        <p:spPr>
          <a:xfrm>
            <a:off x="10569773" y="6611779"/>
            <a:ext cx="1571626" cy="256480"/>
          </a:xfrm>
          <a:prstGeom prst="rect">
            <a:avLst/>
          </a:prstGeom>
          <a:noFill/>
        </p:spPr>
        <p:txBody>
          <a:bodyPr wrap="square" rtlCol="0">
            <a:spAutoFit/>
          </a:bodyPr>
          <a:lstStyle/>
          <a:p>
            <a:pPr marR="0" algn="ctr" rtl="0"/>
            <a:r>
              <a:rPr lang="en-GB" altLang="zh-CN" sz="1600" b="0" i="1" u="none" strike="noStrike" baseline="30000" dirty="0">
                <a:solidFill>
                  <a:schemeClr val="bg1"/>
                </a:solidFill>
                <a:latin typeface="Segoe UI" panose="020B0502040204020203" pitchFamily="34" charset="0"/>
              </a:rPr>
              <a:t>Referred to Gao. 2011</a:t>
            </a:r>
          </a:p>
        </p:txBody>
      </p:sp>
    </p:spTree>
    <p:extLst>
      <p:ext uri="{BB962C8B-B14F-4D97-AF65-F5344CB8AC3E}">
        <p14:creationId xmlns:p14="http://schemas.microsoft.com/office/powerpoint/2010/main" val="337904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7DBB63-723F-6960-D876-5A9FEFC7E82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7DD1549-7800-A2B7-752A-2B667B3A12C7}"/>
              </a:ext>
            </a:extLst>
          </p:cNvPr>
          <p:cNvSpPr txBox="1"/>
          <p:nvPr/>
        </p:nvSpPr>
        <p:spPr>
          <a:xfrm>
            <a:off x="4676775" y="199995"/>
            <a:ext cx="31432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FLOWCHART OF NSGA-II</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4" name="图片 3">
            <a:extLst>
              <a:ext uri="{FF2B5EF4-FFF2-40B4-BE49-F238E27FC236}">
                <a16:creationId xmlns:a16="http://schemas.microsoft.com/office/drawing/2014/main" id="{F55E3875-2851-6DFB-6042-DDEA0CC16A43}"/>
              </a:ext>
            </a:extLst>
          </p:cNvPr>
          <p:cNvPicPr>
            <a:picLocks noChangeAspect="1"/>
          </p:cNvPicPr>
          <p:nvPr/>
        </p:nvPicPr>
        <p:blipFill>
          <a:blip r:embed="rId2"/>
          <a:srcRect l="1277" t="2361" r="317" b="3056"/>
          <a:stretch/>
        </p:blipFill>
        <p:spPr>
          <a:xfrm>
            <a:off x="3858220" y="1390171"/>
            <a:ext cx="4543425" cy="4315303"/>
          </a:xfrm>
          <a:prstGeom prst="rect">
            <a:avLst/>
          </a:prstGeom>
        </p:spPr>
      </p:pic>
      <p:sp>
        <p:nvSpPr>
          <p:cNvPr id="5" name="文本框 4">
            <a:extLst>
              <a:ext uri="{FF2B5EF4-FFF2-40B4-BE49-F238E27FC236}">
                <a16:creationId xmlns:a16="http://schemas.microsoft.com/office/drawing/2014/main" id="{3F69EE39-4705-9406-19C6-7676A1F2C35D}"/>
              </a:ext>
            </a:extLst>
          </p:cNvPr>
          <p:cNvSpPr txBox="1"/>
          <p:nvPr/>
        </p:nvSpPr>
        <p:spPr>
          <a:xfrm>
            <a:off x="235742" y="652732"/>
            <a:ext cx="3522465" cy="2718693"/>
          </a:xfrm>
          <a:prstGeom prst="rect">
            <a:avLst/>
          </a:prstGeom>
          <a:noFill/>
        </p:spPr>
        <p:txBody>
          <a:bodyPr wrap="square" rtlCol="0">
            <a:spAutoFit/>
          </a:bodyPr>
          <a:lstStyle/>
          <a:p>
            <a:pPr marR="0" algn="l" rtl="0"/>
            <a:r>
              <a:rPr lang="en-GB" altLang="zh-CN" sz="2000" b="0" i="0" u="none" strike="noStrike" baseline="30000" dirty="0">
                <a:solidFill>
                  <a:srgbClr val="6C4C9A"/>
                </a:solidFill>
                <a:latin typeface="Segoe UI Semibold" panose="020B0702040204020203" pitchFamily="34" charset="0"/>
              </a:rPr>
              <a:t>// Initialization phase</a:t>
            </a:r>
            <a:endParaRPr lang="en-GB" altLang="zh-CN" sz="1800" b="0" i="0" u="none" strike="noStrike" baseline="30000" dirty="0">
              <a:solidFill>
                <a:srgbClr val="000000"/>
              </a:solidFill>
              <a:latin typeface="Segoe UI" panose="020B05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function NSGA-II(N, </a:t>
            </a:r>
            <a:r>
              <a:rPr lang="en-GB" altLang="zh-CN" sz="1800" b="0" i="0" u="none" strike="noStrike" baseline="30000" dirty="0" err="1">
                <a:solidFill>
                  <a:schemeClr val="bg1"/>
                </a:solidFill>
                <a:latin typeface="Segoe UI" panose="020B0502040204020203" pitchFamily="34" charset="0"/>
              </a:rPr>
              <a:t>max_generations</a:t>
            </a:r>
            <a:r>
              <a:rPr lang="en-GB" altLang="zh-CN" sz="1800" b="0" i="0" u="none" strike="noStrike" baseline="30000" dirty="0">
                <a:solidFill>
                  <a:schemeClr val="bg1"/>
                </a:solidFill>
                <a:latin typeface="Segoe UI" panose="020B0502040204020203" pitchFamily="34" charset="0"/>
              </a:rPr>
              <a:t>):</a:t>
            </a:r>
          </a:p>
          <a:p>
            <a:pPr marR="0" algn="l" rtl="0"/>
            <a:r>
              <a:rPr lang="en-GB" altLang="zh-CN" sz="1800" b="0" i="0" u="none" strike="noStrike" baseline="30000" dirty="0">
                <a:solidFill>
                  <a:schemeClr val="bg1"/>
                </a:solidFill>
                <a:latin typeface="Segoe UI" panose="020B0502040204020203" pitchFamily="34" charset="0"/>
              </a:rPr>
              <a:t>    // Initialize algorithm parameters</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population_size</a:t>
            </a:r>
            <a:r>
              <a:rPr lang="en-GB" altLang="zh-CN" sz="1800" b="0" i="0" u="none" strike="noStrike" baseline="30000" dirty="0">
                <a:solidFill>
                  <a:schemeClr val="bg1"/>
                </a:solidFill>
                <a:latin typeface="Segoe UI" panose="020B0502040204020203" pitchFamily="34" charset="0"/>
              </a:rPr>
              <a:t> = N</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max_gen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max_generations</a:t>
            </a:r>
            <a:endParaRPr lang="en-GB" altLang="zh-CN" sz="1800" b="0" i="0" u="none" strike="noStrike" baseline="30000" dirty="0">
              <a:solidFill>
                <a:schemeClr val="bg1"/>
              </a:solidFill>
              <a:latin typeface="Segoe UI" panose="020B05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gen = 1</a:t>
            </a:r>
          </a:p>
          <a:p>
            <a:pPr marR="0" algn="l" rtl="0"/>
            <a:r>
              <a:rPr lang="en-GB" altLang="zh-CN" sz="1800" b="0" i="0" u="none" strike="noStrike" baseline="30000" dirty="0">
                <a:solidFill>
                  <a:srgbClr val="000000"/>
                </a:solidFill>
                <a:latin typeface="Segoe UI" panose="020B0502040204020203" pitchFamily="34" charset="0"/>
              </a:rPr>
              <a:t>    </a:t>
            </a:r>
          </a:p>
          <a:p>
            <a:pPr marR="0" algn="l" rtl="0"/>
            <a:r>
              <a:rPr lang="en-GB" altLang="zh-CN" sz="1800" b="0" i="0" u="none" strike="noStrike" baseline="30000" dirty="0">
                <a:solidFill>
                  <a:srgbClr val="000000"/>
                </a:solidFill>
                <a:latin typeface="Segoe UI" panose="020B0502040204020203" pitchFamily="34" charset="0"/>
              </a:rPr>
              <a:t>    </a:t>
            </a:r>
            <a:r>
              <a:rPr lang="en-GB" altLang="zh-CN" sz="2000" b="0" i="0" u="none" strike="noStrike" baseline="30000" dirty="0">
                <a:solidFill>
                  <a:srgbClr val="6C4C9A"/>
                </a:solidFill>
                <a:latin typeface="Segoe UI Semibold" panose="020B0702040204020203" pitchFamily="34" charset="0"/>
              </a:rPr>
              <a:t>// Initialize the first population</a:t>
            </a:r>
          </a:p>
          <a:p>
            <a:pPr marR="0" algn="l" rtl="0"/>
            <a:r>
              <a:rPr lang="en-GB" altLang="zh-CN" sz="1800" b="0" i="0" u="none" strike="noStrike" baseline="30000" dirty="0">
                <a:solidFill>
                  <a:schemeClr val="bg1"/>
                </a:solidFill>
                <a:latin typeface="Segoe UI" panose="020B0502040204020203" pitchFamily="34" charset="0"/>
              </a:rPr>
              <a:t>    P = </a:t>
            </a:r>
            <a:r>
              <a:rPr lang="en-GB" altLang="zh-CN" sz="1800" b="0" i="0" u="none" strike="noStrike" baseline="30000" dirty="0" err="1">
                <a:solidFill>
                  <a:schemeClr val="bg1"/>
                </a:solidFill>
                <a:latin typeface="Segoe UI" panose="020B0502040204020203" pitchFamily="34" charset="0"/>
              </a:rPr>
              <a:t>generate_random_population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population_size</a:t>
            </a:r>
            <a:r>
              <a:rPr lang="en-GB" altLang="zh-CN" sz="1800" b="0" i="0" u="none" strike="noStrike" baseline="30000" dirty="0">
                <a:solidFill>
                  <a:schemeClr val="bg1"/>
                </a:solidFill>
                <a:latin typeface="Segoe UI" panose="020B0502040204020203" pitchFamily="34" charset="0"/>
              </a:rPr>
              <a:t>)</a:t>
            </a:r>
          </a:p>
          <a:p>
            <a:pPr marR="0" algn="l" rtl="0"/>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evaluate_fitness_functions</a:t>
            </a:r>
            <a:r>
              <a:rPr lang="en-US" altLang="zh-CN" sz="1800" b="0" i="0" u="none" strike="noStrike" baseline="30000" dirty="0">
                <a:solidFill>
                  <a:schemeClr val="bg1"/>
                </a:solidFill>
                <a:latin typeface="Segoe UI" panose="020B0502040204020203" pitchFamily="34" charset="0"/>
              </a:rPr>
              <a:t>(P)  // Green visibility and area difference</a:t>
            </a:r>
          </a:p>
          <a:p>
            <a:pPr marR="0" algn="l" rtl="0"/>
            <a:r>
              <a:rPr lang="en-GB" altLang="zh-CN" sz="1800" b="0" i="0" u="none" strike="noStrike" baseline="30000" dirty="0">
                <a:solidFill>
                  <a:schemeClr val="bg1"/>
                </a:solidFill>
                <a:latin typeface="Segoe UI" panose="020B0502040204020203" pitchFamily="34" charset="0"/>
              </a:rPr>
              <a:t>    fronts = </a:t>
            </a:r>
            <a:r>
              <a:rPr lang="en-GB" altLang="zh-CN" sz="1800" b="0" i="0" u="none" strike="noStrike" baseline="30000" dirty="0" err="1">
                <a:solidFill>
                  <a:schemeClr val="bg1"/>
                </a:solidFill>
                <a:latin typeface="Segoe UI" panose="020B0502040204020203" pitchFamily="34" charset="0"/>
              </a:rPr>
              <a:t>fast_non_dominated_sort</a:t>
            </a:r>
            <a:r>
              <a:rPr lang="en-GB" altLang="zh-CN" sz="1800" b="0" i="0" u="none" strike="noStrike" baseline="30000" dirty="0">
                <a:solidFill>
                  <a:schemeClr val="bg1"/>
                </a:solidFill>
                <a:latin typeface="Segoe UI" panose="020B0502040204020203" pitchFamily="34" charset="0"/>
              </a:rPr>
              <a:t>(P)</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calculate_crowding_distance</a:t>
            </a:r>
            <a:r>
              <a:rPr lang="en-GB" altLang="zh-CN" sz="1800" b="0" i="0" u="none" strike="noStrike" baseline="30000" dirty="0">
                <a:solidFill>
                  <a:schemeClr val="bg1"/>
                </a:solidFill>
                <a:latin typeface="Segoe UI" panose="020B0502040204020203" pitchFamily="34" charset="0"/>
              </a:rPr>
              <a:t>(fronts)</a:t>
            </a:r>
          </a:p>
        </p:txBody>
      </p:sp>
      <p:sp>
        <p:nvSpPr>
          <p:cNvPr id="6" name="矩形 5">
            <a:extLst>
              <a:ext uri="{FF2B5EF4-FFF2-40B4-BE49-F238E27FC236}">
                <a16:creationId xmlns:a16="http://schemas.microsoft.com/office/drawing/2014/main" id="{2F68A2B6-FA90-AA0C-48B8-026C1EE37D06}"/>
              </a:ext>
            </a:extLst>
          </p:cNvPr>
          <p:cNvSpPr/>
          <p:nvPr/>
        </p:nvSpPr>
        <p:spPr>
          <a:xfrm>
            <a:off x="3758207" y="4276725"/>
            <a:ext cx="200025" cy="314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43607CC-2198-C1E4-A7AB-8331EE0D2DB1}"/>
              </a:ext>
            </a:extLst>
          </p:cNvPr>
          <p:cNvSpPr txBox="1"/>
          <p:nvPr/>
        </p:nvSpPr>
        <p:spPr>
          <a:xfrm>
            <a:off x="235742" y="3547823"/>
            <a:ext cx="3775474" cy="3231654"/>
          </a:xfrm>
          <a:prstGeom prst="rect">
            <a:avLst/>
          </a:prstGeom>
          <a:noFill/>
        </p:spPr>
        <p:txBody>
          <a:bodyPr wrap="square" rtlCol="0">
            <a:spAutoFit/>
          </a:bodyPr>
          <a:lstStyle/>
          <a:p>
            <a:pPr marR="0" algn="l" rtl="0"/>
            <a:r>
              <a:rPr lang="en-GB" altLang="zh-CN" sz="1800" b="0" i="0" u="none" strike="noStrike" baseline="30000" dirty="0">
                <a:solidFill>
                  <a:srgbClr val="6C4C9A"/>
                </a:solidFill>
                <a:latin typeface="Segoe UI Semibold" panose="020B0702040204020203" pitchFamily="34" charset="0"/>
              </a:rPr>
              <a:t> // Main evolutionary loop</a:t>
            </a:r>
            <a:endParaRPr lang="en-GB" altLang="zh-CN" sz="1800" b="0" i="0" u="none" strike="noStrike" baseline="30000" dirty="0">
              <a:solidFill>
                <a:srgbClr val="000000"/>
              </a:solidFill>
              <a:latin typeface="Segoe UI" panose="020B0502040204020203" pitchFamily="34" charset="0"/>
            </a:endParaRPr>
          </a:p>
          <a:p>
            <a:pPr marR="0" algn="l" rtl="0"/>
            <a:r>
              <a:rPr lang="en-US" altLang="zh-CN" sz="1800" b="0" i="0" u="none" strike="noStrike" baseline="30000" dirty="0">
                <a:solidFill>
                  <a:schemeClr val="bg1"/>
                </a:solidFill>
                <a:latin typeface="Segoe UI" panose="020B0502040204020203" pitchFamily="34" charset="0"/>
              </a:rPr>
              <a:t>    while gen ≤ </a:t>
            </a:r>
            <a:r>
              <a:rPr lang="en-US" altLang="zh-CN" sz="1800" b="0" i="0" u="none" strike="noStrike" baseline="30000" dirty="0" err="1">
                <a:solidFill>
                  <a:schemeClr val="bg1"/>
                </a:solidFill>
                <a:latin typeface="Segoe UI" panose="020B0502040204020203" pitchFamily="34" charset="0"/>
              </a:rPr>
              <a:t>max_gen</a:t>
            </a:r>
            <a:r>
              <a:rPr lang="en-US" altLang="zh-CN" sz="1800" b="0" i="0" u="none" strike="noStrike" baseline="30000" dirty="0">
                <a:solidFill>
                  <a:schemeClr val="bg1"/>
                </a:solidFill>
                <a:latin typeface="Segoe UI" panose="020B0502040204020203" pitchFamily="34" charset="0"/>
              </a:rPr>
              <a:t> and !</a:t>
            </a:r>
            <a:r>
              <a:rPr lang="en-US" altLang="zh-CN" sz="1800" b="0" i="0" u="none" strike="noStrike" baseline="30000" dirty="0" err="1">
                <a:solidFill>
                  <a:schemeClr val="bg1"/>
                </a:solidFill>
                <a:latin typeface="Segoe UI" panose="020B0502040204020203" pitchFamily="34" charset="0"/>
              </a:rPr>
              <a:t>termination_criterion</a:t>
            </a:r>
            <a:r>
              <a:rPr lang="en-US" altLang="zh-CN" sz="1800" b="0" i="0" u="none" strike="noStrike" baseline="30000" dirty="0">
                <a:solidFill>
                  <a:schemeClr val="bg1"/>
                </a:solidFill>
                <a:latin typeface="Segoe UI" panose="020B0502040204020203" pitchFamily="34" charset="0"/>
              </a:rPr>
              <a:t>():</a:t>
            </a:r>
          </a:p>
          <a:p>
            <a:pPr marR="0" algn="l" rtl="0"/>
            <a:r>
              <a:rPr lang="en-US" altLang="zh-CN" sz="1800" b="0" i="0" u="none" strike="noStrike" baseline="30000" dirty="0">
                <a:solidFill>
                  <a:srgbClr val="000000"/>
                </a:solidFill>
                <a:latin typeface="Segoe UI" panose="020B0502040204020203" pitchFamily="34" charset="0"/>
              </a:rPr>
              <a:t>        </a:t>
            </a:r>
            <a:r>
              <a:rPr lang="en-US" altLang="zh-CN" sz="1800" b="0" i="0" u="none" strike="noStrike" baseline="30000" dirty="0">
                <a:solidFill>
                  <a:srgbClr val="6C4C9A"/>
                </a:solidFill>
                <a:latin typeface="Segoe UI Semibold" panose="020B0702040204020203" pitchFamily="34" charset="0"/>
              </a:rPr>
              <a:t>// Using genetic operators to generate children population</a:t>
            </a:r>
            <a:endParaRPr lang="en-US" altLang="zh-CN" sz="1800" b="0" i="0" u="none" strike="noStrike" baseline="30000" dirty="0">
              <a:solidFill>
                <a:schemeClr val="bg1"/>
              </a:solidFill>
              <a:latin typeface="Segoe UI Semibold" panose="020B07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Q = </a:t>
            </a:r>
            <a:r>
              <a:rPr lang="en-GB" altLang="zh-CN" sz="1800" b="0" i="0" u="none" strike="noStrike" baseline="30000" dirty="0" err="1">
                <a:solidFill>
                  <a:schemeClr val="bg1"/>
                </a:solidFill>
                <a:latin typeface="Segoe UI" panose="020B0502040204020203" pitchFamily="34" charset="0"/>
              </a:rPr>
              <a:t>empty_population</a:t>
            </a:r>
            <a:r>
              <a:rPr lang="en-GB" altLang="zh-CN" sz="1800" b="0" i="0" u="none" strike="noStrike" baseline="30000" dirty="0">
                <a:solidFill>
                  <a:schemeClr val="bg1"/>
                </a:solidFill>
                <a:latin typeface="Segoe UI" panose="020B0502040204020203" pitchFamily="34" charset="0"/>
              </a:rPr>
              <a:t>()</a:t>
            </a:r>
          </a:p>
          <a:p>
            <a:pPr marR="0" algn="l" rtl="0"/>
            <a:r>
              <a:rPr lang="en-GB" altLang="zh-CN" sz="1800" b="0" i="0" u="none" strike="noStrike" baseline="30000" dirty="0">
                <a:solidFill>
                  <a:schemeClr val="bg1"/>
                </a:solidFill>
                <a:latin typeface="Segoe UI" panose="020B0502040204020203" pitchFamily="34" charset="0"/>
              </a:rPr>
              <a:t>        </a:t>
            </a:r>
          </a:p>
          <a:p>
            <a:pPr marR="0" algn="l" rtl="0"/>
            <a:r>
              <a:rPr lang="en-GB" altLang="zh-CN" sz="1800" b="0" i="0" u="none" strike="noStrike" baseline="30000" dirty="0">
                <a:solidFill>
                  <a:schemeClr val="bg1"/>
                </a:solidFill>
                <a:latin typeface="Segoe UI" panose="020B0502040204020203" pitchFamily="34" charset="0"/>
              </a:rPr>
              <a:t>        for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1 to N/2:</a:t>
            </a:r>
          </a:p>
          <a:p>
            <a:pPr marR="0" algn="l" rtl="0"/>
            <a:r>
              <a:rPr lang="en-US" altLang="zh-CN" sz="1800" b="0" i="0" u="none" strike="noStrike" baseline="30000" dirty="0">
                <a:solidFill>
                  <a:schemeClr val="bg1"/>
                </a:solidFill>
                <a:latin typeface="Segoe UI" panose="020B0502040204020203" pitchFamily="34" charset="0"/>
              </a:rPr>
              <a:t>            // Select parents using tournament selection</a:t>
            </a:r>
          </a:p>
          <a:p>
            <a:pPr marR="0" algn="l" rtl="0"/>
            <a:r>
              <a:rPr lang="en-GB" altLang="zh-CN" sz="1800" b="0" i="0" u="none" strike="noStrike" baseline="30000" dirty="0">
                <a:solidFill>
                  <a:schemeClr val="bg1"/>
                </a:solidFill>
                <a:latin typeface="Segoe UI" panose="020B0502040204020203" pitchFamily="34" charset="0"/>
              </a:rPr>
              <a:t>            parent1 = </a:t>
            </a:r>
            <a:r>
              <a:rPr lang="en-GB" altLang="zh-CN" sz="1800" b="0" i="0" u="none" strike="noStrike" baseline="30000" dirty="0" err="1">
                <a:solidFill>
                  <a:schemeClr val="bg1"/>
                </a:solidFill>
                <a:latin typeface="Segoe UI" panose="020B0502040204020203" pitchFamily="34" charset="0"/>
              </a:rPr>
              <a:t>tournament_selection</a:t>
            </a:r>
            <a:r>
              <a:rPr lang="en-GB" altLang="zh-CN" sz="1800" b="0" i="0" u="none" strike="noStrike" baseline="30000" dirty="0">
                <a:solidFill>
                  <a:schemeClr val="bg1"/>
                </a:solidFill>
                <a:latin typeface="Segoe UI" panose="020B0502040204020203" pitchFamily="34" charset="0"/>
              </a:rPr>
              <a:t>(P)</a:t>
            </a:r>
          </a:p>
          <a:p>
            <a:pPr marR="0" algn="l" rtl="0"/>
            <a:r>
              <a:rPr lang="en-GB" altLang="zh-CN" sz="1800" b="0" i="0" u="none" strike="noStrike" baseline="30000" dirty="0">
                <a:solidFill>
                  <a:schemeClr val="bg1"/>
                </a:solidFill>
                <a:latin typeface="Segoe UI" panose="020B0502040204020203" pitchFamily="34" charset="0"/>
              </a:rPr>
              <a:t>            parent2 = </a:t>
            </a:r>
            <a:r>
              <a:rPr lang="en-GB" altLang="zh-CN" sz="1800" b="0" i="0" u="none" strike="noStrike" baseline="30000" dirty="0" err="1">
                <a:solidFill>
                  <a:schemeClr val="bg1"/>
                </a:solidFill>
                <a:latin typeface="Segoe UI" panose="020B0502040204020203" pitchFamily="34" charset="0"/>
              </a:rPr>
              <a:t>tournament_selection</a:t>
            </a:r>
            <a:r>
              <a:rPr lang="en-GB" altLang="zh-CN" sz="1800" b="0" i="0" u="none" strike="noStrike" baseline="30000" dirty="0">
                <a:solidFill>
                  <a:schemeClr val="bg1"/>
                </a:solidFill>
                <a:latin typeface="Segoe UI" panose="020B0502040204020203" pitchFamily="34" charset="0"/>
              </a:rPr>
              <a:t>(P)</a:t>
            </a:r>
          </a:p>
          <a:p>
            <a:pPr marR="0" algn="l" rtl="0"/>
            <a:r>
              <a:rPr lang="en-GB" altLang="zh-CN" sz="1800" b="0" i="0" u="none" strike="noStrike" baseline="30000" dirty="0">
                <a:solidFill>
                  <a:schemeClr val="bg1"/>
                </a:solidFill>
                <a:latin typeface="Segoe UI" panose="020B0502040204020203" pitchFamily="34" charset="0"/>
              </a:rPr>
              <a:t>            </a:t>
            </a:r>
          </a:p>
          <a:p>
            <a:pPr marR="0" algn="l" rtl="0"/>
            <a:r>
              <a:rPr lang="en-US" altLang="zh-CN" sz="1800" b="0" i="0" u="none" strike="noStrike" baseline="30000" dirty="0">
                <a:solidFill>
                  <a:srgbClr val="000000"/>
                </a:solidFill>
                <a:latin typeface="Segoe UI" panose="020B0502040204020203" pitchFamily="34" charset="0"/>
              </a:rPr>
              <a:t>            </a:t>
            </a:r>
            <a:r>
              <a:rPr lang="en-US" altLang="zh-CN" sz="1800" b="0" i="0" u="none" strike="noStrike" baseline="30000" dirty="0">
                <a:solidFill>
                  <a:srgbClr val="6C4C9A"/>
                </a:solidFill>
                <a:latin typeface="Segoe UI Semibold" panose="020B0702040204020203" pitchFamily="34" charset="0"/>
              </a:rPr>
              <a:t>// Apply crossover with probability </a:t>
            </a:r>
            <a:r>
              <a:rPr lang="en-US" altLang="zh-CN" sz="1800" b="0" i="0" u="none" strike="noStrike" baseline="30000" dirty="0" err="1">
                <a:solidFill>
                  <a:srgbClr val="6C4C9A"/>
                </a:solidFill>
                <a:latin typeface="Segoe UI Semibold" panose="020B0702040204020203" pitchFamily="34" charset="0"/>
              </a:rPr>
              <a:t>crossover_rate</a:t>
            </a:r>
            <a:endParaRPr lang="en-US" altLang="zh-CN" sz="1800" b="0" i="0" u="none" strike="noStrike" baseline="30000" dirty="0">
              <a:solidFill>
                <a:schemeClr val="bg1"/>
              </a:solidFill>
              <a:latin typeface="Segoe UI Semibold" panose="020B07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if random() &lt; </a:t>
            </a:r>
            <a:r>
              <a:rPr lang="en-GB" altLang="zh-CN" sz="1800" b="0" i="0" u="none" strike="noStrike" baseline="30000" dirty="0" err="1">
                <a:solidFill>
                  <a:schemeClr val="bg1"/>
                </a:solidFill>
                <a:latin typeface="Segoe UI" panose="020B0502040204020203" pitchFamily="34" charset="0"/>
              </a:rPr>
              <a:t>crossover_rate</a:t>
            </a:r>
            <a:r>
              <a:rPr lang="en-GB" altLang="zh-CN" sz="1800" b="0" i="0" u="none" strike="noStrike" baseline="30000" dirty="0">
                <a:solidFill>
                  <a:schemeClr val="bg1"/>
                </a:solidFill>
                <a:latin typeface="Segoe UI" panose="020B0502040204020203" pitchFamily="34" charset="0"/>
              </a:rPr>
              <a:t>:</a:t>
            </a:r>
          </a:p>
          <a:p>
            <a:pPr marR="0" algn="l" rtl="0"/>
            <a:r>
              <a:rPr lang="en-US" altLang="zh-CN" sz="1800" b="0" i="0" u="none" strike="noStrike" baseline="30000" dirty="0">
                <a:solidFill>
                  <a:schemeClr val="bg1"/>
                </a:solidFill>
                <a:latin typeface="Segoe UI" panose="020B0502040204020203" pitchFamily="34" charset="0"/>
              </a:rPr>
              <a:t>                child1, child2 = crossover(parent1, parent2)</a:t>
            </a:r>
          </a:p>
          <a:p>
            <a:pPr marR="0" algn="l" rtl="0"/>
            <a:r>
              <a:rPr lang="en-GB" altLang="zh-CN" sz="1800" b="0" i="0" u="none" strike="noStrike" baseline="30000" dirty="0">
                <a:solidFill>
                  <a:schemeClr val="bg1"/>
                </a:solidFill>
                <a:latin typeface="Segoe UI" panose="020B0502040204020203" pitchFamily="34" charset="0"/>
              </a:rPr>
              <a:t>            else:</a:t>
            </a:r>
          </a:p>
          <a:p>
            <a:pPr marR="0" algn="l" rtl="0"/>
            <a:r>
              <a:rPr lang="en-GB" altLang="zh-CN" sz="1800" b="0" i="0" u="none" strike="noStrike" baseline="30000" dirty="0">
                <a:solidFill>
                  <a:schemeClr val="bg1"/>
                </a:solidFill>
                <a:latin typeface="Segoe UI" panose="020B0502040204020203" pitchFamily="34" charset="0"/>
              </a:rPr>
              <a:t>                child1, child2 = parent1, parent2</a:t>
            </a:r>
          </a:p>
        </p:txBody>
      </p:sp>
      <p:sp>
        <p:nvSpPr>
          <p:cNvPr id="10" name="文本框 9">
            <a:extLst>
              <a:ext uri="{FF2B5EF4-FFF2-40B4-BE49-F238E27FC236}">
                <a16:creationId xmlns:a16="http://schemas.microsoft.com/office/drawing/2014/main" id="{645F5A64-4666-41C1-5B4D-F80B9DE93610}"/>
              </a:ext>
            </a:extLst>
          </p:cNvPr>
          <p:cNvSpPr txBox="1"/>
          <p:nvPr/>
        </p:nvSpPr>
        <p:spPr>
          <a:xfrm>
            <a:off x="8648701" y="652732"/>
            <a:ext cx="3492698" cy="1569660"/>
          </a:xfrm>
          <a:prstGeom prst="rect">
            <a:avLst/>
          </a:prstGeom>
          <a:noFill/>
        </p:spPr>
        <p:txBody>
          <a:bodyPr wrap="square" rtlCol="0">
            <a:spAutoFit/>
          </a:bodyPr>
          <a:lstStyle/>
          <a:p>
            <a:pPr marR="0" algn="l" rtl="0"/>
            <a:r>
              <a:rPr lang="en-US" altLang="zh-CN" sz="1800" b="0" i="0" u="none" strike="noStrike" baseline="30000" dirty="0">
                <a:solidFill>
                  <a:srgbClr val="6C4C9A"/>
                </a:solidFill>
                <a:latin typeface="Segoe UI Semibold" panose="020B0702040204020203" pitchFamily="34" charset="0"/>
              </a:rPr>
              <a:t>// Apply mutation with probability </a:t>
            </a:r>
            <a:r>
              <a:rPr lang="en-US" altLang="zh-CN" sz="1800" b="0" i="0" u="none" strike="noStrike" baseline="30000" dirty="0" err="1">
                <a:solidFill>
                  <a:srgbClr val="6C4C9A"/>
                </a:solidFill>
                <a:latin typeface="Segoe UI Semibold" panose="020B0702040204020203" pitchFamily="34" charset="0"/>
              </a:rPr>
              <a:t>mutation_rate</a:t>
            </a:r>
            <a:endParaRPr lang="en-US" altLang="zh-CN" sz="1800" b="0" i="0" u="none" strike="noStrike" baseline="30000" dirty="0">
              <a:solidFill>
                <a:srgbClr val="000000"/>
              </a:solidFill>
              <a:latin typeface="Segoe UI" panose="020B0502040204020203" pitchFamily="34" charset="0"/>
            </a:endParaRPr>
          </a:p>
          <a:p>
            <a:pPr marR="0" algn="l" rtl="0"/>
            <a:r>
              <a:rPr lang="en-US" altLang="zh-CN" sz="1800" b="0" i="0" u="none" strike="noStrike" baseline="30000" dirty="0">
                <a:solidFill>
                  <a:schemeClr val="bg1"/>
                </a:solidFill>
                <a:latin typeface="Segoe UI" panose="020B0502040204020203" pitchFamily="34" charset="0"/>
              </a:rPr>
              <a:t>            child1 = mutation(child1, </a:t>
            </a:r>
            <a:r>
              <a:rPr lang="en-US" altLang="zh-CN" sz="1800" b="0" i="0" u="none" strike="noStrike" baseline="30000" dirty="0" err="1">
                <a:solidFill>
                  <a:schemeClr val="bg1"/>
                </a:solidFill>
                <a:latin typeface="Segoe UI" panose="020B0502040204020203" pitchFamily="34" charset="0"/>
              </a:rPr>
              <a:t>mutation_rate</a:t>
            </a:r>
            <a:r>
              <a:rPr lang="en-US" altLang="zh-CN" sz="1800" b="0" i="0" u="none" strike="noStrike" baseline="30000" dirty="0">
                <a:solidFill>
                  <a:schemeClr val="bg1"/>
                </a:solidFill>
                <a:latin typeface="Segoe UI" panose="020B0502040204020203" pitchFamily="34" charset="0"/>
              </a:rPr>
              <a:t>)</a:t>
            </a:r>
          </a:p>
          <a:p>
            <a:pPr marR="0" algn="l" rtl="0"/>
            <a:r>
              <a:rPr lang="en-US" altLang="zh-CN" sz="1800" b="0" i="0" u="none" strike="noStrike" baseline="30000" dirty="0">
                <a:solidFill>
                  <a:schemeClr val="bg1"/>
                </a:solidFill>
                <a:latin typeface="Segoe UI" panose="020B0502040204020203" pitchFamily="34" charset="0"/>
              </a:rPr>
              <a:t>            child2 = mutation(child2, </a:t>
            </a:r>
            <a:r>
              <a:rPr lang="en-US" altLang="zh-CN" sz="1800" b="0" i="0" u="none" strike="noStrike" baseline="30000" dirty="0" err="1">
                <a:solidFill>
                  <a:schemeClr val="bg1"/>
                </a:solidFill>
                <a:latin typeface="Segoe UI" panose="020B0502040204020203" pitchFamily="34" charset="0"/>
              </a:rPr>
              <a:t>mutation_rate</a:t>
            </a:r>
            <a:r>
              <a:rPr lang="en-US" altLang="zh-CN" sz="1800" b="0" i="0" u="none" strike="noStrike" baseline="30000" dirty="0">
                <a:solidFill>
                  <a:schemeClr val="bg1"/>
                </a:solidFill>
                <a:latin typeface="Segoe UI" panose="020B0502040204020203" pitchFamily="34" charset="0"/>
              </a:rPr>
              <a:t>)</a:t>
            </a:r>
          </a:p>
          <a:p>
            <a:pPr marR="0" algn="l" rtl="0"/>
            <a:r>
              <a:rPr lang="en-GB" altLang="zh-CN" sz="1800" b="0" i="0" u="none" strike="noStrike" baseline="30000" dirty="0">
                <a:solidFill>
                  <a:srgbClr val="000000"/>
                </a:solidFill>
                <a:latin typeface="Segoe UI" panose="020B0502040204020203" pitchFamily="34" charset="0"/>
              </a:rPr>
              <a:t>            </a:t>
            </a:r>
          </a:p>
          <a:p>
            <a:pPr marR="0" algn="l" rtl="0"/>
            <a:r>
              <a:rPr lang="en-GB" altLang="zh-CN" sz="1800" b="0" i="0" u="none" strike="noStrike" baseline="30000" dirty="0">
                <a:solidFill>
                  <a:srgbClr val="000000"/>
                </a:solidFill>
                <a:latin typeface="Segoe UI" panose="020B0502040204020203" pitchFamily="34" charset="0"/>
              </a:rPr>
              <a:t>           </a:t>
            </a:r>
            <a:r>
              <a:rPr lang="en-GB" altLang="zh-CN" sz="1800" b="0" i="0" u="none" strike="noStrike" baseline="30000" dirty="0">
                <a:solidFill>
                  <a:srgbClr val="6C4C9A"/>
                </a:solidFill>
                <a:latin typeface="Segoe UI Semibold" panose="020B0702040204020203" pitchFamily="34" charset="0"/>
              </a:rPr>
              <a:t> // Add to offspring population</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Q.add</a:t>
            </a:r>
            <a:r>
              <a:rPr lang="en-GB" altLang="zh-CN" sz="1800" b="0" i="0" u="none" strike="noStrike" baseline="30000" dirty="0">
                <a:solidFill>
                  <a:schemeClr val="bg1"/>
                </a:solidFill>
                <a:latin typeface="Segoe UI" panose="020B0502040204020203" pitchFamily="34" charset="0"/>
              </a:rPr>
              <a:t>(child1)</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Q.add</a:t>
            </a:r>
            <a:r>
              <a:rPr lang="en-GB" altLang="zh-CN" sz="1800" b="0" i="0" u="none" strike="noStrike" baseline="30000" dirty="0">
                <a:solidFill>
                  <a:schemeClr val="bg1"/>
                </a:solidFill>
                <a:latin typeface="Segoe UI" panose="020B0502040204020203" pitchFamily="34" charset="0"/>
              </a:rPr>
              <a:t>(child2)</a:t>
            </a:r>
          </a:p>
        </p:txBody>
      </p:sp>
      <p:sp>
        <p:nvSpPr>
          <p:cNvPr id="11" name="文本框 10">
            <a:extLst>
              <a:ext uri="{FF2B5EF4-FFF2-40B4-BE49-F238E27FC236}">
                <a16:creationId xmlns:a16="http://schemas.microsoft.com/office/drawing/2014/main" id="{17AB5098-9CFD-4FC7-129B-BF5387D6073F}"/>
              </a:ext>
            </a:extLst>
          </p:cNvPr>
          <p:cNvSpPr txBox="1"/>
          <p:nvPr/>
        </p:nvSpPr>
        <p:spPr>
          <a:xfrm>
            <a:off x="8648701" y="2558117"/>
            <a:ext cx="3492698" cy="4154984"/>
          </a:xfrm>
          <a:prstGeom prst="rect">
            <a:avLst/>
          </a:prstGeom>
          <a:noFill/>
        </p:spPr>
        <p:txBody>
          <a:bodyPr wrap="square" rtlCol="0">
            <a:spAutoFit/>
          </a:bodyPr>
          <a:lstStyle/>
          <a:p>
            <a:pPr marR="0" algn="l" rtl="0"/>
            <a:r>
              <a:rPr lang="en-GB" altLang="zh-CN" sz="1800" b="0" i="0" u="none" strike="noStrike" baseline="30000" dirty="0">
                <a:solidFill>
                  <a:srgbClr val="6C4C9A"/>
                </a:solidFill>
                <a:latin typeface="Segoe UI Semibold" panose="020B0702040204020203" pitchFamily="34" charset="0"/>
              </a:rPr>
              <a:t>// Evaluate fitness of offspring</a:t>
            </a:r>
            <a:endParaRPr lang="en-GB" altLang="zh-CN" sz="1800" b="0" i="0" u="none" strike="noStrike" baseline="30000" dirty="0">
              <a:solidFill>
                <a:srgbClr val="000000"/>
              </a:solidFill>
              <a:latin typeface="Segoe UI" panose="020B05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evaluate_fitness_functions</a:t>
            </a:r>
            <a:r>
              <a:rPr lang="en-GB" altLang="zh-CN" sz="1800" b="0" i="0" u="none" strike="noStrike" baseline="30000" dirty="0">
                <a:solidFill>
                  <a:schemeClr val="bg1"/>
                </a:solidFill>
                <a:latin typeface="Segoe UI" panose="020B0502040204020203" pitchFamily="34" charset="0"/>
              </a:rPr>
              <a:t>(Q)</a:t>
            </a:r>
          </a:p>
          <a:p>
            <a:pPr marR="0" algn="l" rtl="0"/>
            <a:r>
              <a:rPr lang="en-GB" altLang="zh-CN" sz="1800" b="0" i="0" u="none" strike="noStrike" baseline="30000" dirty="0">
                <a:solidFill>
                  <a:schemeClr val="bg1"/>
                </a:solidFill>
                <a:latin typeface="Segoe UI" panose="020B0502040204020203" pitchFamily="34" charset="0"/>
              </a:rPr>
              <a:t>        </a:t>
            </a:r>
          </a:p>
          <a:p>
            <a:pPr marR="0" algn="l" rtl="0"/>
            <a:r>
              <a:rPr lang="en-US" altLang="zh-CN" sz="1800" b="0" i="0" u="none" strike="noStrike" baseline="30000" dirty="0">
                <a:solidFill>
                  <a:srgbClr val="000000"/>
                </a:solidFill>
                <a:latin typeface="Segoe UI" panose="020B0502040204020203" pitchFamily="34" charset="0"/>
              </a:rPr>
              <a:t>       </a:t>
            </a:r>
            <a:r>
              <a:rPr lang="en-US" altLang="zh-CN" sz="1800" b="0" i="0" u="none" strike="noStrike" baseline="30000" dirty="0">
                <a:solidFill>
                  <a:srgbClr val="6C4C9A"/>
                </a:solidFill>
                <a:latin typeface="Segoe UI Semibold" panose="020B0702040204020203" pitchFamily="34" charset="0"/>
              </a:rPr>
              <a:t> // Combine parent and children’ populations</a:t>
            </a:r>
            <a:endParaRPr lang="en-US" altLang="zh-CN" sz="1800" b="0" i="0" u="none" strike="noStrike" baseline="30000" dirty="0">
              <a:solidFill>
                <a:schemeClr val="bg1"/>
              </a:solidFill>
              <a:latin typeface="Segoe UI Semibold" panose="020B07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R = P</a:t>
            </a:r>
            <a:r>
              <a:rPr lang="en-GB" altLang="zh-CN" sz="1800" b="0" i="0" u="none" strike="noStrike" baseline="30000" dirty="0">
                <a:solidFill>
                  <a:schemeClr val="bg1"/>
                </a:solidFill>
                <a:latin typeface="Minion Pro" panose="02040503050306020203" pitchFamily="18" charset="0"/>
              </a:rPr>
              <a:t> </a:t>
            </a:r>
            <a:r>
              <a:rPr lang="en-GB" altLang="zh-CN" sz="1800" b="0" i="0" u="none" strike="noStrike" baseline="30000" dirty="0">
                <a:solidFill>
                  <a:schemeClr val="bg1"/>
                </a:solidFill>
                <a:latin typeface="Cambria Math" panose="02040503050406030204" pitchFamily="18" charset="0"/>
              </a:rPr>
              <a:t>∪</a:t>
            </a:r>
            <a:r>
              <a:rPr lang="en-GB" altLang="zh-CN" sz="1800" b="0" i="0" u="none" strike="noStrike" baseline="30000" dirty="0">
                <a:solidFill>
                  <a:schemeClr val="bg1"/>
                </a:solidFill>
                <a:latin typeface="Minion Pro" panose="02040503050306020203" pitchFamily="18" charset="0"/>
              </a:rPr>
              <a:t> </a:t>
            </a:r>
            <a:r>
              <a:rPr lang="en-GB" altLang="zh-CN" sz="1800" b="0" i="0" u="none" strike="noStrike" baseline="30000" dirty="0">
                <a:solidFill>
                  <a:schemeClr val="bg1"/>
                </a:solidFill>
                <a:latin typeface="Segoe UI" panose="020B0502040204020203" pitchFamily="34" charset="0"/>
              </a:rPr>
              <a:t>Q</a:t>
            </a:r>
            <a:endParaRPr lang="en-GB" altLang="zh-CN" sz="1800" b="0" i="0" u="none" strike="noStrike" baseline="30000" dirty="0">
              <a:solidFill>
                <a:schemeClr val="bg1"/>
              </a:solidFill>
              <a:latin typeface="Minion Pro" panose="02040503050306020203" pitchFamily="18" charset="0"/>
            </a:endParaRPr>
          </a:p>
          <a:p>
            <a:pPr marR="0" algn="l" rtl="0"/>
            <a:r>
              <a:rPr lang="en-GB" altLang="zh-CN" sz="1800" b="0" i="0" u="none" strike="noStrike" baseline="30000" dirty="0">
                <a:solidFill>
                  <a:schemeClr val="bg1"/>
                </a:solidFill>
                <a:latin typeface="Minion Pro" panose="02040503050306020203" pitchFamily="18" charset="0"/>
              </a:rPr>
              <a:t>        </a:t>
            </a:r>
          </a:p>
          <a:p>
            <a:pPr marR="0" algn="l" rtl="0"/>
            <a:r>
              <a:rPr lang="en-US" altLang="zh-CN" sz="1800" b="0" i="0" u="none" strike="noStrike" baseline="30000" dirty="0">
                <a:solidFill>
                  <a:srgbClr val="000000"/>
                </a:solidFill>
                <a:latin typeface="Minion Pro" panose="02040503050306020203" pitchFamily="18" charset="0"/>
              </a:rPr>
              <a:t>       </a:t>
            </a:r>
            <a:r>
              <a:rPr lang="en-US" altLang="zh-CN" sz="1800" b="0" i="0" u="none" strike="noStrike" baseline="30000" dirty="0">
                <a:solidFill>
                  <a:srgbClr val="6C4C9A"/>
                </a:solidFill>
                <a:latin typeface="Segoe UI Semibold" panose="020B0702040204020203" pitchFamily="34" charset="0"/>
              </a:rPr>
              <a:t> // Non-dominated ranking and crowding distance</a:t>
            </a:r>
            <a:endParaRPr lang="en-US" altLang="zh-CN" sz="1800" b="0" i="0" u="none" strike="noStrike" baseline="30000" dirty="0">
              <a:solidFill>
                <a:schemeClr val="bg1"/>
              </a:solidFill>
              <a:latin typeface="Segoe UI Semibold" panose="020B0702040204020203" pitchFamily="34" charset="0"/>
            </a:endParaRPr>
          </a:p>
          <a:p>
            <a:pPr marR="0" algn="l" rtl="0"/>
            <a:r>
              <a:rPr lang="en-GB" altLang="zh-CN" sz="1800" b="0" i="0" u="none" strike="noStrike" baseline="30000" dirty="0">
                <a:solidFill>
                  <a:schemeClr val="bg1"/>
                </a:solidFill>
                <a:latin typeface="Segoe UI" panose="020B0502040204020203" pitchFamily="34" charset="0"/>
              </a:rPr>
              <a:t>        fronts = </a:t>
            </a:r>
            <a:r>
              <a:rPr lang="en-GB" altLang="zh-CN" sz="1800" b="0" i="0" u="none" strike="noStrike" baseline="30000" dirty="0" err="1">
                <a:solidFill>
                  <a:schemeClr val="bg1"/>
                </a:solidFill>
                <a:latin typeface="Segoe UI" panose="020B0502040204020203" pitchFamily="34" charset="0"/>
              </a:rPr>
              <a:t>fast_non_dominated_sort</a:t>
            </a:r>
            <a:r>
              <a:rPr lang="en-GB" altLang="zh-CN" sz="1800" b="0" i="0" u="none" strike="noStrike" baseline="30000" dirty="0">
                <a:solidFill>
                  <a:schemeClr val="bg1"/>
                </a:solidFill>
                <a:latin typeface="Segoe UI" panose="020B0502040204020203" pitchFamily="34" charset="0"/>
              </a:rPr>
              <a:t>(R)</a:t>
            </a:r>
          </a:p>
          <a:p>
            <a:pPr marR="0" algn="l" rtl="0"/>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calculate_crowding_distance</a:t>
            </a:r>
            <a:r>
              <a:rPr lang="en-GB" altLang="zh-CN" sz="1800" b="0" i="0" u="none" strike="noStrike" baseline="30000" dirty="0">
                <a:solidFill>
                  <a:schemeClr val="bg1"/>
                </a:solidFill>
                <a:latin typeface="Segoe UI" panose="020B0502040204020203" pitchFamily="34" charset="0"/>
              </a:rPr>
              <a:t>(fronts)</a:t>
            </a:r>
          </a:p>
          <a:p>
            <a:pPr marR="0" algn="l" rtl="0"/>
            <a:r>
              <a:rPr lang="en-GB" altLang="zh-CN" sz="1800" b="0" i="0" u="none" strike="noStrike" baseline="30000" dirty="0">
                <a:solidFill>
                  <a:srgbClr val="000000"/>
                </a:solidFill>
                <a:latin typeface="Segoe UI" panose="020B0502040204020203" pitchFamily="34" charset="0"/>
              </a:rPr>
              <a:t>        </a:t>
            </a:r>
          </a:p>
          <a:p>
            <a:pPr marR="0" algn="l" rtl="0"/>
            <a:r>
              <a:rPr lang="en-US" altLang="zh-CN" sz="1800" b="0" i="0" u="none" strike="noStrike" baseline="30000" dirty="0">
                <a:solidFill>
                  <a:srgbClr val="000000"/>
                </a:solidFill>
                <a:latin typeface="Segoe UI" panose="020B0502040204020203" pitchFamily="34" charset="0"/>
              </a:rPr>
              <a:t>        </a:t>
            </a:r>
            <a:r>
              <a:rPr lang="en-US" altLang="zh-CN" sz="1800" b="0" i="0" u="none" strike="noStrike" baseline="30000" dirty="0">
                <a:solidFill>
                  <a:srgbClr val="6C4C9A"/>
                </a:solidFill>
                <a:latin typeface="Segoe UI Semibold" panose="020B0702040204020203" pitchFamily="34" charset="0"/>
              </a:rPr>
              <a:t>// Select N individuals to form new population</a:t>
            </a:r>
            <a:endParaRPr lang="en-US" altLang="zh-CN" sz="1800" b="0" i="0" u="none" strike="noStrike" baseline="30000" dirty="0">
              <a:solidFill>
                <a:schemeClr val="bg1"/>
              </a:solidFill>
              <a:latin typeface="Segoe UI Semibold" panose="020B0702040204020203" pitchFamily="34" charset="0"/>
            </a:endParaRPr>
          </a:p>
          <a:p>
            <a:pPr marR="0" algn="l" rtl="0"/>
            <a:r>
              <a:rPr lang="en-US" altLang="zh-CN" sz="1800" b="0" i="0" u="none" strike="noStrike" baseline="30000" dirty="0">
                <a:solidFill>
                  <a:schemeClr val="bg1"/>
                </a:solidFill>
                <a:latin typeface="Segoe UI" panose="020B0502040204020203" pitchFamily="34" charset="0"/>
              </a:rPr>
              <a:t>        P = </a:t>
            </a:r>
            <a:r>
              <a:rPr lang="en-US" altLang="zh-CN" sz="1800" b="0" i="0" u="none" strike="noStrike" baseline="30000" dirty="0" err="1">
                <a:solidFill>
                  <a:schemeClr val="bg1"/>
                </a:solidFill>
                <a:latin typeface="Segoe UI" panose="020B0502040204020203" pitchFamily="34" charset="0"/>
              </a:rPr>
              <a:t>select_next_generation</a:t>
            </a:r>
            <a:r>
              <a:rPr lang="en-US" altLang="zh-CN" sz="1800" b="0" i="0" u="none" strike="noStrike" baseline="30000" dirty="0">
                <a:solidFill>
                  <a:schemeClr val="bg1"/>
                </a:solidFill>
                <a:latin typeface="Segoe UI" panose="020B0502040204020203" pitchFamily="34" charset="0"/>
              </a:rPr>
              <a:t>(fronts, N)</a:t>
            </a:r>
          </a:p>
          <a:p>
            <a:pPr marR="0" algn="l" rtl="0"/>
            <a:r>
              <a:rPr lang="en-GB" altLang="zh-CN" sz="1800" b="0" i="0" u="none" strike="noStrike" baseline="30000" dirty="0">
                <a:solidFill>
                  <a:schemeClr val="bg1"/>
                </a:solidFill>
                <a:latin typeface="Segoe UI" panose="020B0502040204020203" pitchFamily="34" charset="0"/>
              </a:rPr>
              <a:t>        </a:t>
            </a:r>
          </a:p>
          <a:p>
            <a:pPr marR="0" algn="l" rtl="0"/>
            <a:r>
              <a:rPr lang="en-GB" altLang="zh-CN" sz="1800" b="0" i="0" u="none" strike="noStrike" baseline="30000" dirty="0">
                <a:solidFill>
                  <a:srgbClr val="000000"/>
                </a:solidFill>
                <a:latin typeface="Segoe UI" panose="020B0502040204020203" pitchFamily="34" charset="0"/>
              </a:rPr>
              <a:t>      </a:t>
            </a:r>
            <a:r>
              <a:rPr lang="en-GB" altLang="zh-CN" sz="1800" b="0" i="0" u="none" strike="noStrike" baseline="30000" dirty="0">
                <a:solidFill>
                  <a:srgbClr val="6C4C9A"/>
                </a:solidFill>
                <a:latin typeface="Segoe UI Semibold" panose="020B0702040204020203" pitchFamily="34" charset="0"/>
              </a:rPr>
              <a:t>  // Increment generation counter</a:t>
            </a:r>
          </a:p>
          <a:p>
            <a:pPr marR="0" algn="l" rtl="0"/>
            <a:r>
              <a:rPr lang="en-GB" altLang="zh-CN" sz="1800" b="0" i="0" u="none" strike="noStrike" baseline="30000" dirty="0">
                <a:solidFill>
                  <a:schemeClr val="bg1"/>
                </a:solidFill>
                <a:latin typeface="Segoe UI" panose="020B0502040204020203" pitchFamily="34" charset="0"/>
              </a:rPr>
              <a:t>        gen = gen + 1</a:t>
            </a:r>
          </a:p>
          <a:p>
            <a:pPr marR="0" algn="l" rtl="0"/>
            <a:r>
              <a:rPr lang="en-GB" altLang="zh-CN" sz="1800" b="0" i="0" u="none" strike="noStrike" baseline="30000" dirty="0">
                <a:solidFill>
                  <a:schemeClr val="bg1"/>
                </a:solidFill>
                <a:latin typeface="Segoe UI" panose="020B0502040204020203" pitchFamily="34" charset="0"/>
              </a:rPr>
              <a:t>    </a:t>
            </a:r>
          </a:p>
          <a:p>
            <a:pPr marR="0" algn="l" rtl="0"/>
            <a:r>
              <a:rPr lang="en-US" altLang="zh-CN" sz="1800" b="0" i="0" u="none" strike="noStrike" baseline="30000" dirty="0">
                <a:solidFill>
                  <a:srgbClr val="000000"/>
                </a:solidFill>
                <a:latin typeface="Segoe UI" panose="020B0502040204020203" pitchFamily="34" charset="0"/>
              </a:rPr>
              <a:t>    </a:t>
            </a:r>
            <a:r>
              <a:rPr lang="en-US" altLang="zh-CN" sz="1800" b="0" i="0" u="none" strike="noStrike" baseline="30000" dirty="0">
                <a:solidFill>
                  <a:srgbClr val="6C4C9A"/>
                </a:solidFill>
                <a:latin typeface="Segoe UI Semibold" panose="020B0702040204020203" pitchFamily="34" charset="0"/>
              </a:rPr>
              <a:t>// Return the final population (Pareto front)</a:t>
            </a:r>
          </a:p>
          <a:p>
            <a:pPr marR="0" algn="l" rtl="0"/>
            <a:r>
              <a:rPr lang="en-GB" altLang="zh-CN" sz="1800" b="0" i="0" u="none" strike="noStrike" baseline="30000" dirty="0">
                <a:solidFill>
                  <a:schemeClr val="bg1"/>
                </a:solidFill>
                <a:latin typeface="Segoe UI" panose="020B0502040204020203" pitchFamily="34" charset="0"/>
              </a:rPr>
              <a:t>    return fronts[1]  </a:t>
            </a:r>
            <a:r>
              <a:rPr lang="en-GB" altLang="zh-CN" sz="1800" b="0" i="0" u="none" strike="noStrike" baseline="30000" dirty="0">
                <a:solidFill>
                  <a:srgbClr val="6C4C9A"/>
                </a:solidFill>
                <a:latin typeface="Segoe UI Semibold" panose="020B0702040204020203" pitchFamily="34" charset="0"/>
              </a:rPr>
              <a:t>// First front contains non-dominated solutions</a:t>
            </a:r>
            <a:endParaRPr lang="en-GB" altLang="zh-CN" sz="1800" b="0" i="0" u="none" strike="noStrike" baseline="30000" dirty="0">
              <a:solidFill>
                <a:schemeClr val="bg1"/>
              </a:solidFill>
              <a:latin typeface="Segoe UI" panose="020B0502040204020203" pitchFamily="34" charset="0"/>
            </a:endParaRPr>
          </a:p>
        </p:txBody>
      </p:sp>
      <p:sp>
        <p:nvSpPr>
          <p:cNvPr id="12" name="文本框 11">
            <a:extLst>
              <a:ext uri="{FF2B5EF4-FFF2-40B4-BE49-F238E27FC236}">
                <a16:creationId xmlns:a16="http://schemas.microsoft.com/office/drawing/2014/main" id="{B6A000D5-43DA-DD97-1CD6-2E5208573E58}"/>
              </a:ext>
            </a:extLst>
          </p:cNvPr>
          <p:cNvSpPr txBox="1"/>
          <p:nvPr/>
        </p:nvSpPr>
        <p:spPr>
          <a:xfrm>
            <a:off x="10569773" y="6611779"/>
            <a:ext cx="1571626" cy="246221"/>
          </a:xfrm>
          <a:prstGeom prst="rect">
            <a:avLst/>
          </a:prstGeom>
          <a:noFill/>
        </p:spPr>
        <p:txBody>
          <a:bodyPr wrap="square" rtlCol="0">
            <a:spAutoFit/>
          </a:bodyPr>
          <a:lstStyle/>
          <a:p>
            <a:pPr algn="ctr"/>
            <a:r>
              <a:rPr lang="da-DK" altLang="zh-CN" sz="1000" i="1" dirty="0">
                <a:solidFill>
                  <a:schemeClr val="bg1"/>
                </a:solidFill>
                <a:latin typeface="Segoe UI" panose="020B0502040204020203" pitchFamily="34" charset="0"/>
                <a:cs typeface="Segoe UI" panose="020B0502040204020203" pitchFamily="34" charset="0"/>
              </a:rPr>
              <a:t>Referred to Liu et al.2020</a:t>
            </a:r>
            <a:endParaRPr lang="zh-CN" altLang="en-US" sz="1000" i="1"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60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29A15D1-CF7A-9B49-7BCB-6B7CE6BFC71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76914EE-DBD0-B7E3-7F91-F01F7CD2745E}"/>
              </a:ext>
            </a:extLst>
          </p:cNvPr>
          <p:cNvSpPr txBox="1"/>
          <p:nvPr/>
        </p:nvSpPr>
        <p:spPr>
          <a:xfrm>
            <a:off x="3943350" y="199995"/>
            <a:ext cx="4867275"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SECOND SELECTION STRATEGY</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3" name="文本框 2">
            <a:extLst>
              <a:ext uri="{FF2B5EF4-FFF2-40B4-BE49-F238E27FC236}">
                <a16:creationId xmlns:a16="http://schemas.microsoft.com/office/drawing/2014/main" id="{0A49EB5C-FB7B-AE49-7857-1A88A5E6D672}"/>
              </a:ext>
            </a:extLst>
          </p:cNvPr>
          <p:cNvSpPr txBox="1"/>
          <p:nvPr/>
        </p:nvSpPr>
        <p:spPr>
          <a:xfrm>
            <a:off x="242426" y="683038"/>
            <a:ext cx="2887098" cy="4766882"/>
          </a:xfrm>
          <a:prstGeom prst="rect">
            <a:avLst/>
          </a:prstGeom>
          <a:noFill/>
        </p:spPr>
        <p:txBody>
          <a:bodyPr wrap="square" rtlCol="0">
            <a:spAutoFit/>
          </a:bodyPr>
          <a:lstStyle/>
          <a:p>
            <a:pPr marR="0" algn="l" rtl="0">
              <a:lnSpc>
                <a:spcPct val="150000"/>
              </a:lnSpc>
            </a:pPr>
            <a:r>
              <a:rPr lang="en-GB" altLang="zh-CN" sz="1800" b="0" i="0" u="none" strike="noStrike" baseline="30000" dirty="0">
                <a:solidFill>
                  <a:srgbClr val="6C4C9A"/>
                </a:solidFill>
                <a:latin typeface="Segoe UI Semibold" panose="020B0702040204020203" pitchFamily="34" charset="0"/>
              </a:rPr>
              <a:t>// Step 1: Non-dominated sorting</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Fast-Non-Dominated-Sort(R):</a:t>
            </a:r>
          </a:p>
          <a:p>
            <a:pPr marR="0" algn="l" rtl="0">
              <a:lnSpc>
                <a:spcPct val="150000"/>
              </a:lnSpc>
            </a:pPr>
            <a:r>
              <a:rPr lang="en-US" altLang="zh-CN" sz="1800" b="0" i="0" u="none" strike="noStrike" baseline="30000" dirty="0">
                <a:solidFill>
                  <a:schemeClr val="bg1"/>
                </a:solidFill>
                <a:latin typeface="Segoe UI" panose="020B0502040204020203" pitchFamily="34" charset="0"/>
              </a:rPr>
              <a:t>  Initialize empty fronts F₁, F₂, ...</a:t>
            </a:r>
          </a:p>
          <a:p>
            <a:pPr marR="0" algn="l" rtl="0">
              <a:lnSpc>
                <a:spcPct val="150000"/>
              </a:lnSpc>
            </a:pPr>
            <a:r>
              <a:rPr lang="en-US" altLang="zh-CN" sz="1800" b="0" i="0" u="none" strike="noStrike" baseline="30000" dirty="0">
                <a:solidFill>
                  <a:schemeClr val="bg1"/>
                </a:solidFill>
                <a:latin typeface="Segoe UI" panose="020B0502040204020203" pitchFamily="34" charset="0"/>
              </a:rPr>
              <a:t>  For each solution p in R:</a:t>
            </a:r>
          </a:p>
          <a:p>
            <a:pPr marR="0" algn="l" rtl="0">
              <a:lnSpc>
                <a:spcPct val="150000"/>
              </a:lnSpc>
            </a:pPr>
            <a:r>
              <a:rPr lang="en-US" altLang="zh-CN" sz="1800" b="0" i="0" u="none" strike="noStrike" baseline="30000" dirty="0">
                <a:solidFill>
                  <a:schemeClr val="bg1"/>
                </a:solidFill>
                <a:latin typeface="Segoe UI" panose="020B0502040204020203" pitchFamily="34" charset="0"/>
              </a:rPr>
              <a:t>    For each solution q in R:</a:t>
            </a:r>
          </a:p>
          <a:p>
            <a:pPr marR="0" algn="l" rtl="0">
              <a:lnSpc>
                <a:spcPct val="150000"/>
              </a:lnSpc>
            </a:pPr>
            <a:r>
              <a:rPr lang="en-US" altLang="zh-CN" sz="1800" b="0" i="0" u="none" strike="noStrike" baseline="30000" dirty="0">
                <a:solidFill>
                  <a:schemeClr val="bg1"/>
                </a:solidFill>
                <a:latin typeface="Segoe UI" panose="020B0502040204020203" pitchFamily="34" charset="0"/>
              </a:rPr>
              <a:t>      If p dominates q: Add q to </a:t>
            </a:r>
            <a:r>
              <a:rPr lang="en-US" altLang="zh-CN" sz="1800" b="0" i="0" u="none" strike="noStrike" baseline="30000" dirty="0" err="1">
                <a:solidFill>
                  <a:schemeClr val="bg1"/>
                </a:solidFill>
                <a:latin typeface="Segoe UI" panose="020B0502040204020203" pitchFamily="34" charset="0"/>
              </a:rPr>
              <a:t>Sp</a:t>
            </a:r>
            <a:endParaRPr lang="en-US" altLang="zh-CN" sz="1800" b="0" i="0" u="none" strike="noStrike" baseline="30000" dirty="0">
              <a:solidFill>
                <a:schemeClr val="bg1"/>
              </a:solidFill>
              <a:latin typeface="Segoe UI" panose="020B0502040204020203" pitchFamily="34"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      If q dominates p: Increment np</a:t>
            </a:r>
          </a:p>
          <a:p>
            <a:pPr marR="0" algn="l" rtl="0">
              <a:lnSpc>
                <a:spcPct val="150000"/>
              </a:lnSpc>
            </a:pPr>
            <a:r>
              <a:rPr lang="en-US" altLang="zh-CN" sz="1800" b="0" i="0" u="none" strike="noStrike" baseline="30000" dirty="0">
                <a:solidFill>
                  <a:schemeClr val="bg1"/>
                </a:solidFill>
                <a:latin typeface="Segoe UI" panose="020B0502040204020203" pitchFamily="34" charset="0"/>
              </a:rPr>
              <a:t>    If np = 0: Add p to F₁</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1</a:t>
            </a:r>
          </a:p>
          <a:p>
            <a:pPr marR="0" algn="l" rtl="0">
              <a:lnSpc>
                <a:spcPct val="150000"/>
              </a:lnSpc>
            </a:pPr>
            <a:r>
              <a:rPr lang="en-GB" altLang="zh-CN" sz="1800" b="0" i="0" u="none" strike="noStrike" baseline="30000" dirty="0">
                <a:solidFill>
                  <a:schemeClr val="bg1"/>
                </a:solidFill>
                <a:latin typeface="Segoe UI" panose="020B0502040204020203" pitchFamily="34" charset="0"/>
              </a:rPr>
              <a:t>  While Fi not empty:</a:t>
            </a:r>
          </a:p>
          <a:p>
            <a:pPr marR="0" algn="l" rtl="0">
              <a:lnSpc>
                <a:spcPct val="150000"/>
              </a:lnSpc>
            </a:pPr>
            <a:r>
              <a:rPr lang="en-US" altLang="zh-CN" sz="1800" b="0" i="0" u="none" strike="noStrike" baseline="30000" dirty="0">
                <a:solidFill>
                  <a:schemeClr val="bg1"/>
                </a:solidFill>
                <a:latin typeface="Segoe UI" panose="020B0502040204020203" pitchFamily="34" charset="0"/>
              </a:rPr>
              <a:t>    For each p in Fi:</a:t>
            </a:r>
          </a:p>
          <a:p>
            <a:pPr marR="0" algn="l" rtl="0">
              <a:lnSpc>
                <a:spcPct val="150000"/>
              </a:lnSpc>
            </a:pPr>
            <a:r>
              <a:rPr lang="en-US" altLang="zh-CN" sz="1800" b="0" i="0" u="none" strike="noStrike" baseline="30000" dirty="0">
                <a:solidFill>
                  <a:schemeClr val="bg1"/>
                </a:solidFill>
                <a:latin typeface="Segoe UI" panose="020B0502040204020203" pitchFamily="34" charset="0"/>
              </a:rPr>
              <a:t>      For each q in </a:t>
            </a:r>
            <a:r>
              <a:rPr lang="en-US" altLang="zh-CN" sz="1800" b="0" i="0" u="none" strike="noStrike" baseline="30000" dirty="0" err="1">
                <a:solidFill>
                  <a:schemeClr val="bg1"/>
                </a:solidFill>
                <a:latin typeface="Segoe UI" panose="020B0502040204020203" pitchFamily="34" charset="0"/>
              </a:rPr>
              <a:t>Sp</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Decrement nq</a:t>
            </a:r>
          </a:p>
          <a:p>
            <a:pPr marR="0" algn="l" rtl="0">
              <a:lnSpc>
                <a:spcPct val="150000"/>
              </a:lnSpc>
            </a:pPr>
            <a:r>
              <a:rPr lang="en-US" altLang="zh-CN" sz="1800" b="0" i="0" u="none" strike="noStrike" baseline="30000" dirty="0">
                <a:solidFill>
                  <a:schemeClr val="bg1"/>
                </a:solidFill>
                <a:latin typeface="Segoe UI" panose="020B0502040204020203" pitchFamily="34" charset="0"/>
              </a:rPr>
              <a:t>        If nq = 0: Add q to Fi+1</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+ 1</a:t>
            </a:r>
          </a:p>
          <a:p>
            <a:pPr marR="0" algn="l" rtl="0">
              <a:lnSpc>
                <a:spcPct val="150000"/>
              </a:lnSpc>
            </a:pPr>
            <a:r>
              <a:rPr lang="en-US" altLang="zh-CN" sz="1800" b="0" i="0" u="none" strike="noStrike" baseline="30000" dirty="0">
                <a:solidFill>
                  <a:schemeClr val="bg1"/>
                </a:solidFill>
                <a:latin typeface="Segoe UI" panose="020B0502040204020203" pitchFamily="34" charset="0"/>
              </a:rPr>
              <a:t>  Return all fronts F₁, F₂, ...</a:t>
            </a:r>
            <a:endParaRPr lang="en-GB" altLang="zh-CN" sz="1800" b="0" i="0" u="none" strike="noStrike" baseline="30000" dirty="0">
              <a:solidFill>
                <a:schemeClr val="bg1"/>
              </a:solidFill>
              <a:latin typeface="Segoe UI" panose="020B0502040204020203" pitchFamily="34" charset="0"/>
            </a:endParaRPr>
          </a:p>
        </p:txBody>
      </p:sp>
      <p:sp>
        <p:nvSpPr>
          <p:cNvPr id="4" name="文本框 3">
            <a:extLst>
              <a:ext uri="{FF2B5EF4-FFF2-40B4-BE49-F238E27FC236}">
                <a16:creationId xmlns:a16="http://schemas.microsoft.com/office/drawing/2014/main" id="{197D7DBD-BE07-8893-A53D-444D191C6FA6}"/>
              </a:ext>
            </a:extLst>
          </p:cNvPr>
          <p:cNvSpPr txBox="1"/>
          <p:nvPr/>
        </p:nvSpPr>
        <p:spPr>
          <a:xfrm>
            <a:off x="3177414" y="683038"/>
            <a:ext cx="3860008" cy="3104889"/>
          </a:xfrm>
          <a:prstGeom prst="rect">
            <a:avLst/>
          </a:prstGeom>
          <a:noFill/>
        </p:spPr>
        <p:txBody>
          <a:bodyPr wrap="square" rtlCol="0">
            <a:spAutoFit/>
          </a:bodyPr>
          <a:lstStyle/>
          <a:p>
            <a:pPr marR="0" algn="l" rtl="0">
              <a:lnSpc>
                <a:spcPct val="150000"/>
              </a:lnSpc>
            </a:pPr>
            <a:r>
              <a:rPr lang="en-GB" altLang="zh-CN" sz="1800" b="0" i="0" u="none" strike="noStrike" baseline="30000" dirty="0">
                <a:solidFill>
                  <a:srgbClr val="6C4C9A"/>
                </a:solidFill>
                <a:latin typeface="Segoe UI Semibold" panose="020B0702040204020203" pitchFamily="34" charset="0"/>
              </a:rPr>
              <a:t>// Step 2: Crowding distance sorting</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Function Calculate-Crowding-Distance(F):</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n = |F|</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For each solution in F: distance = 0</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For each objective m:</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Sort F by objective m</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F[1].distance = F[n].distance = ∞</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For </a:t>
            </a:r>
            <a:r>
              <a:rPr lang="en-GB" altLang="zh-CN" sz="1800" b="0" i="0" u="none" strike="noStrike" baseline="30000" dirty="0" err="1">
                <a:solidFill>
                  <a:schemeClr val="bg1"/>
                </a:solidFill>
                <a:latin typeface="Segoe UI" panose="020B0502040204020203" pitchFamily="34" charset="0"/>
                <a:cs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cs typeface="Segoe UI" panose="020B0502040204020203" pitchFamily="34" charset="0"/>
              </a:rPr>
              <a:t> = 2 to n-1:</a:t>
            </a:r>
          </a:p>
          <a:p>
            <a:pPr marR="0" algn="l" rtl="0">
              <a:lnSpc>
                <a:spcPct val="150000"/>
              </a:lnSpc>
            </a:pPr>
            <a:r>
              <a:rPr lang="en-GB" altLang="zh-CN" sz="1800" b="0" i="0" u="none" strike="noStrike" baseline="30000" dirty="0">
                <a:solidFill>
                  <a:schemeClr val="bg1"/>
                </a:solidFill>
                <a:latin typeface="Segoe UI" panose="020B0502040204020203" pitchFamily="34" charset="0"/>
                <a:cs typeface="Segoe UI" panose="020B0502040204020203" pitchFamily="34" charset="0"/>
              </a:rPr>
              <a:t>      F[</a:t>
            </a:r>
            <a:r>
              <a:rPr lang="en-GB" altLang="zh-CN" sz="1800" b="0" i="0" u="none" strike="noStrike" baseline="30000" dirty="0" err="1">
                <a:solidFill>
                  <a:schemeClr val="bg1"/>
                </a:solidFill>
                <a:latin typeface="Segoe UI" panose="020B0502040204020203" pitchFamily="34" charset="0"/>
                <a:cs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cs typeface="Segoe UI" panose="020B0502040204020203" pitchFamily="34" charset="0"/>
              </a:rPr>
              <a:t>].distance += (F[i+1].m - F[i-1].m)</a:t>
            </a:r>
          </a:p>
        </p:txBody>
      </p:sp>
      <p:sp>
        <p:nvSpPr>
          <p:cNvPr id="6" name="文本框 5">
            <a:extLst>
              <a:ext uri="{FF2B5EF4-FFF2-40B4-BE49-F238E27FC236}">
                <a16:creationId xmlns:a16="http://schemas.microsoft.com/office/drawing/2014/main" id="{E211C006-1AFE-1ABA-AA97-B00118D5044C}"/>
              </a:ext>
            </a:extLst>
          </p:cNvPr>
          <p:cNvSpPr txBox="1"/>
          <p:nvPr/>
        </p:nvSpPr>
        <p:spPr>
          <a:xfrm>
            <a:off x="3225039" y="3753111"/>
            <a:ext cx="3522465" cy="3104889"/>
          </a:xfrm>
          <a:prstGeom prst="rect">
            <a:avLst/>
          </a:prstGeom>
          <a:noFill/>
        </p:spPr>
        <p:txBody>
          <a:bodyPr wrap="square" rtlCol="0">
            <a:spAutoFit/>
          </a:bodyPr>
          <a:lstStyle/>
          <a:p>
            <a:pPr marR="0" algn="l" rtl="0">
              <a:lnSpc>
                <a:spcPct val="150000"/>
              </a:lnSpc>
            </a:pPr>
            <a:r>
              <a:rPr lang="en-US" altLang="zh-CN" sz="1800" b="0" i="0" u="none" strike="noStrike" baseline="30000" dirty="0">
                <a:solidFill>
                  <a:srgbClr val="6C4C9A"/>
                </a:solidFill>
                <a:latin typeface="Segoe UI Semibold" panose="020B0702040204020203" pitchFamily="34" charset="0"/>
              </a:rPr>
              <a:t>// Step 3: Elite selection for next generation</a:t>
            </a:r>
          </a:p>
          <a:p>
            <a:pPr marR="0" algn="l" rtl="0">
              <a:lnSpc>
                <a:spcPct val="150000"/>
              </a:lnSpc>
            </a:pPr>
            <a:r>
              <a:rPr lang="en-US" altLang="zh-CN" sz="1800" b="0" i="0" u="none" strike="noStrike" baseline="30000" dirty="0">
                <a:solidFill>
                  <a:schemeClr val="bg1"/>
                </a:solidFill>
                <a:latin typeface="Segoe UI" panose="020B0502040204020203" pitchFamily="34" charset="0"/>
              </a:rPr>
              <a:t>Function Select-Next-Generation(F₁, F₂, ..., N):</a:t>
            </a:r>
            <a:endParaRPr lang="en-US" altLang="zh-CN" sz="1800" b="0" i="0" u="none" strike="noStrike" baseline="30000" dirty="0">
              <a:solidFill>
                <a:schemeClr val="bg1"/>
              </a:solidFill>
              <a:latin typeface="Cambria Math" panose="02040503050406030204" pitchFamily="18"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  P = </a:t>
            </a:r>
            <a:r>
              <a:rPr lang="en-GB" altLang="zh-CN" sz="1800" b="0" i="0" u="none" strike="noStrike" baseline="30000" dirty="0">
                <a:solidFill>
                  <a:schemeClr val="bg1"/>
                </a:solidFill>
                <a:latin typeface="Cambria Math" panose="02040503050406030204" pitchFamily="18"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1</a:t>
            </a:r>
            <a:endParaRPr lang="en-GB" altLang="zh-CN" sz="1800" b="0" i="0" u="none" strike="noStrike" baseline="30000" dirty="0">
              <a:solidFill>
                <a:schemeClr val="bg1"/>
              </a:solidFill>
              <a:latin typeface="Cambria Math" panose="02040503050406030204" pitchFamily="18" charset="0"/>
            </a:endParaRPr>
          </a:p>
          <a:p>
            <a:pPr marR="0" algn="l" rtl="0">
              <a:lnSpc>
                <a:spcPct val="150000"/>
              </a:lnSpc>
            </a:pPr>
            <a:r>
              <a:rPr lang="en-GB" altLang="zh-CN" sz="1800" b="0" i="0" u="none" strike="noStrike" baseline="30000" dirty="0">
                <a:solidFill>
                  <a:schemeClr val="bg1"/>
                </a:solidFill>
                <a:latin typeface="Cambria Math" panose="02040503050406030204" pitchFamily="18" charset="0"/>
              </a:rPr>
              <a:t>  </a:t>
            </a:r>
          </a:p>
          <a:p>
            <a:pPr marR="0" algn="l" rtl="0">
              <a:lnSpc>
                <a:spcPct val="150000"/>
              </a:lnSpc>
            </a:pPr>
            <a:r>
              <a:rPr lang="en-GB" altLang="zh-CN" sz="1800" b="0" i="0" u="none" strike="noStrike" baseline="30000" dirty="0">
                <a:solidFill>
                  <a:schemeClr val="bg1"/>
                </a:solidFill>
                <a:latin typeface="Cambria Math" panose="02040503050406030204" pitchFamily="18" charset="0"/>
              </a:rPr>
              <a:t>  </a:t>
            </a:r>
            <a:r>
              <a:rPr lang="en-GB" altLang="zh-CN" sz="1800" b="0" i="0" u="none" strike="noStrike" baseline="30000" dirty="0">
                <a:solidFill>
                  <a:schemeClr val="bg1"/>
                </a:solidFill>
                <a:latin typeface="Segoe UI" panose="020B0502040204020203" pitchFamily="34" charset="0"/>
              </a:rPr>
              <a:t>While |P| + |Fi| ≤ N:</a:t>
            </a:r>
          </a:p>
          <a:p>
            <a:pPr marR="0" algn="l" rtl="0">
              <a:lnSpc>
                <a:spcPct val="150000"/>
              </a:lnSpc>
            </a:pPr>
            <a:r>
              <a:rPr lang="en-GB" altLang="zh-CN" sz="1800" b="0" i="0" u="none" strike="noStrike" baseline="30000" dirty="0">
                <a:solidFill>
                  <a:schemeClr val="bg1"/>
                </a:solidFill>
                <a:latin typeface="Segoe UI" panose="020B0502040204020203" pitchFamily="34" charset="0"/>
              </a:rPr>
              <a:t>    Add Fi to P</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+ 1</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Sort Fi by crowding distance (descending)</a:t>
            </a:r>
          </a:p>
          <a:p>
            <a:pPr marR="0" algn="l" rtl="0">
              <a:lnSpc>
                <a:spcPct val="150000"/>
              </a:lnSpc>
            </a:pPr>
            <a:r>
              <a:rPr lang="en-US" altLang="zh-CN" sz="1800" b="0" i="0" u="none" strike="noStrike" baseline="30000" dirty="0">
                <a:solidFill>
                  <a:schemeClr val="bg1"/>
                </a:solidFill>
                <a:latin typeface="Segoe UI" panose="020B0502040204020203" pitchFamily="34" charset="0"/>
              </a:rPr>
              <a:t>  Add first (N - |P|) solutions from Fi to P</a:t>
            </a:r>
          </a:p>
        </p:txBody>
      </p:sp>
      <p:pic>
        <p:nvPicPr>
          <p:cNvPr id="8" name="图片 7">
            <a:extLst>
              <a:ext uri="{FF2B5EF4-FFF2-40B4-BE49-F238E27FC236}">
                <a16:creationId xmlns:a16="http://schemas.microsoft.com/office/drawing/2014/main" id="{96E8EA7E-076D-5E44-46AC-DB05C7733A95}"/>
              </a:ext>
            </a:extLst>
          </p:cNvPr>
          <p:cNvPicPr>
            <a:picLocks noChangeAspect="1"/>
          </p:cNvPicPr>
          <p:nvPr/>
        </p:nvPicPr>
        <p:blipFill>
          <a:blip r:embed="rId2"/>
          <a:srcRect l="2761" t="2916" r="7486" b="1666"/>
          <a:stretch/>
        </p:blipFill>
        <p:spPr>
          <a:xfrm>
            <a:off x="7133202" y="1461570"/>
            <a:ext cx="4760549" cy="4303305"/>
          </a:xfrm>
          <a:prstGeom prst="rect">
            <a:avLst/>
          </a:prstGeom>
        </p:spPr>
      </p:pic>
      <p:sp>
        <p:nvSpPr>
          <p:cNvPr id="9" name="文本框 8">
            <a:extLst>
              <a:ext uri="{FF2B5EF4-FFF2-40B4-BE49-F238E27FC236}">
                <a16:creationId xmlns:a16="http://schemas.microsoft.com/office/drawing/2014/main" id="{FC3B2065-5C93-A618-DF75-95092418FA94}"/>
              </a:ext>
            </a:extLst>
          </p:cNvPr>
          <p:cNvSpPr txBox="1"/>
          <p:nvPr/>
        </p:nvSpPr>
        <p:spPr>
          <a:xfrm>
            <a:off x="10569773" y="6611779"/>
            <a:ext cx="1571626" cy="246221"/>
          </a:xfrm>
          <a:prstGeom prst="rect">
            <a:avLst/>
          </a:prstGeom>
          <a:noFill/>
        </p:spPr>
        <p:txBody>
          <a:bodyPr wrap="square" rtlCol="0">
            <a:spAutoFit/>
          </a:bodyPr>
          <a:lstStyle/>
          <a:p>
            <a:pPr algn="ctr"/>
            <a:r>
              <a:rPr lang="da-DK" altLang="zh-CN" sz="1000" i="1" dirty="0">
                <a:solidFill>
                  <a:schemeClr val="bg1"/>
                </a:solidFill>
                <a:latin typeface="Segoe UI" panose="020B0502040204020203" pitchFamily="34" charset="0"/>
                <a:cs typeface="Segoe UI" panose="020B0502040204020203" pitchFamily="34" charset="0"/>
              </a:rPr>
              <a:t>Referred to Deb K.2002</a:t>
            </a:r>
            <a:endParaRPr lang="zh-CN" altLang="en-US" sz="1000" i="1"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1764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E3651D-72EC-593E-662C-9FCFDDE85FEC}"/>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5BF15839-A4C2-666B-EF65-D612788B852C}"/>
              </a:ext>
            </a:extLst>
          </p:cNvPr>
          <p:cNvSpPr/>
          <p:nvPr/>
        </p:nvSpPr>
        <p:spPr>
          <a:xfrm>
            <a:off x="316705" y="952500"/>
            <a:ext cx="4157663"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42D6979-A4C4-61B0-6FF5-8E984B9CA879}"/>
              </a:ext>
            </a:extLst>
          </p:cNvPr>
          <p:cNvSpPr txBox="1"/>
          <p:nvPr/>
        </p:nvSpPr>
        <p:spPr>
          <a:xfrm>
            <a:off x="3013391" y="154901"/>
            <a:ext cx="671312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5" name="文本框 4">
            <a:extLst>
              <a:ext uri="{FF2B5EF4-FFF2-40B4-BE49-F238E27FC236}">
                <a16:creationId xmlns:a16="http://schemas.microsoft.com/office/drawing/2014/main" id="{CC8110B6-9EC6-5FA3-6C52-A6B34CC7971C}"/>
              </a:ext>
            </a:extLst>
          </p:cNvPr>
          <p:cNvSpPr txBox="1"/>
          <p:nvPr/>
        </p:nvSpPr>
        <p:spPr>
          <a:xfrm>
            <a:off x="352420" y="1485900"/>
            <a:ext cx="4121947" cy="3375283"/>
          </a:xfrm>
          <a:prstGeom prst="rect">
            <a:avLst/>
          </a:prstGeom>
          <a:noFill/>
        </p:spPr>
        <p:txBody>
          <a:bodyPr wrap="square" rtlCol="0">
            <a:spAutoFit/>
          </a:bodyPr>
          <a:lstStyle/>
          <a:p>
            <a:pPr marR="0" algn="l" rtl="0"/>
            <a:r>
              <a:rPr lang="en-US" altLang="zh-CN" sz="2000" b="0" i="0" u="none" strike="noStrike" baseline="30000" dirty="0">
                <a:solidFill>
                  <a:schemeClr val="bg1"/>
                </a:solidFill>
                <a:latin typeface="Segoe UI" panose="020B0502040204020203" pitchFamily="34" charset="0"/>
              </a:rPr>
              <a:t>Green Space has been proved to be beneficial to human health especially to the  elderly. Meanwhile, there is an increasing number of studies showing that the green visibility impacts the health of elderly greatly.</a:t>
            </a:r>
          </a:p>
          <a:p>
            <a:pPr marR="0" algn="l" rtl="0"/>
            <a:r>
              <a:rPr lang="en-US" altLang="zh-CN" sz="2000" b="0" i="0" u="none" strike="noStrike" baseline="30000" dirty="0">
                <a:solidFill>
                  <a:schemeClr val="bg1"/>
                </a:solidFill>
                <a:latin typeface="Segoe UI" panose="020B0502040204020203" pitchFamily="34" charset="0"/>
              </a:rPr>
              <a:t> </a:t>
            </a:r>
          </a:p>
          <a:p>
            <a:pPr marR="0" algn="l" rtl="0"/>
            <a:r>
              <a:rPr lang="en-US" altLang="zh-CN" sz="2000" b="0" i="0" u="none" strike="noStrike" baseline="30000" dirty="0">
                <a:solidFill>
                  <a:schemeClr val="bg1"/>
                </a:solidFill>
                <a:latin typeface="Segoe UI" panose="020B0502040204020203" pitchFamily="34" charset="0"/>
              </a:rPr>
              <a:t>Therefore, according to this, the project chose a residential area located in  Guangdong Province, China as the research target. </a:t>
            </a:r>
          </a:p>
          <a:p>
            <a:pPr marR="0" algn="l" rtl="0"/>
            <a:endParaRPr lang="en-US" altLang="zh-CN" sz="2000" b="0" i="0" u="none" strike="noStrike" baseline="30000" dirty="0">
              <a:solidFill>
                <a:schemeClr val="bg1"/>
              </a:solidFill>
              <a:latin typeface="Segoe UI" panose="020B0502040204020203" pitchFamily="34" charset="0"/>
            </a:endParaRPr>
          </a:p>
          <a:p>
            <a:pPr marR="0" algn="l" rtl="0"/>
            <a:r>
              <a:rPr lang="en-US" altLang="zh-CN" sz="2000" b="0" i="0" u="none" strike="noStrike" baseline="30000" dirty="0">
                <a:solidFill>
                  <a:schemeClr val="bg1"/>
                </a:solidFill>
                <a:latin typeface="Segoe UI" panose="020B0502040204020203" pitchFamily="34" charset="0"/>
              </a:rPr>
              <a:t>This project is trying to promote data-driven and user-oriented urban design, particularly for aging societies, where green space configurations are no longer arbitrarily designed but intelligently optimized for well-being, inclusiveness, and long-term livability.</a:t>
            </a:r>
          </a:p>
        </p:txBody>
      </p:sp>
      <p:sp>
        <p:nvSpPr>
          <p:cNvPr id="7" name="文本框 6">
            <a:extLst>
              <a:ext uri="{FF2B5EF4-FFF2-40B4-BE49-F238E27FC236}">
                <a16:creationId xmlns:a16="http://schemas.microsoft.com/office/drawing/2014/main" id="{30403BEC-863D-59EA-0863-F5C17A1F8EA6}"/>
              </a:ext>
            </a:extLst>
          </p:cNvPr>
          <p:cNvSpPr txBox="1"/>
          <p:nvPr/>
        </p:nvSpPr>
        <p:spPr>
          <a:xfrm>
            <a:off x="466994" y="1046976"/>
            <a:ext cx="3857084"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Optimizing the Residential Green Space Layout</a:t>
            </a:r>
          </a:p>
        </p:txBody>
      </p:sp>
      <p:sp>
        <p:nvSpPr>
          <p:cNvPr id="11" name="矩形 10">
            <a:extLst>
              <a:ext uri="{FF2B5EF4-FFF2-40B4-BE49-F238E27FC236}">
                <a16:creationId xmlns:a16="http://schemas.microsoft.com/office/drawing/2014/main" id="{766F3F45-31C5-4EB6-A687-9EEDBA8FABCD}"/>
              </a:ext>
            </a:extLst>
          </p:cNvPr>
          <p:cNvSpPr/>
          <p:nvPr/>
        </p:nvSpPr>
        <p:spPr>
          <a:xfrm>
            <a:off x="316706" y="4899993"/>
            <a:ext cx="4121946"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BDA20142-6FDE-8B4C-2F0F-AF3C1D09F32E}"/>
              </a:ext>
            </a:extLst>
          </p:cNvPr>
          <p:cNvSpPr txBox="1"/>
          <p:nvPr/>
        </p:nvSpPr>
        <p:spPr>
          <a:xfrm>
            <a:off x="1274618" y="5002314"/>
            <a:ext cx="2453770"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Two Optimization Objectives</a:t>
            </a:r>
          </a:p>
        </p:txBody>
      </p:sp>
      <p:sp>
        <p:nvSpPr>
          <p:cNvPr id="13" name="文本框 12">
            <a:extLst>
              <a:ext uri="{FF2B5EF4-FFF2-40B4-BE49-F238E27FC236}">
                <a16:creationId xmlns:a16="http://schemas.microsoft.com/office/drawing/2014/main" id="{A3D30146-9D94-F42A-FC20-0D898387A482}"/>
              </a:ext>
            </a:extLst>
          </p:cNvPr>
          <p:cNvSpPr txBox="1"/>
          <p:nvPr/>
        </p:nvSpPr>
        <p:spPr>
          <a:xfrm>
            <a:off x="316705" y="5378340"/>
            <a:ext cx="3807620" cy="669671"/>
          </a:xfrm>
          <a:prstGeom prst="rect">
            <a:avLst/>
          </a:prstGeom>
          <a:noFill/>
        </p:spPr>
        <p:txBody>
          <a:bodyPr wrap="square" rtlCol="0">
            <a:spAutoFit/>
          </a:bodyPr>
          <a:lstStyle/>
          <a:p>
            <a:pPr marR="0" algn="l" rtl="0">
              <a:lnSpc>
                <a:spcPct val="150000"/>
              </a:lnSpc>
            </a:pPr>
            <a:r>
              <a:rPr lang="en-US" altLang="zh-CN" sz="2000" b="0" i="0" u="none" strike="noStrike" baseline="30000" dirty="0">
                <a:solidFill>
                  <a:schemeClr val="bg1"/>
                </a:solidFill>
                <a:latin typeface="Segoe UI" panose="020B0502040204020203" pitchFamily="34" charset="0"/>
              </a:rPr>
              <a:t>1) Maximize Path Green View Index</a:t>
            </a:r>
          </a:p>
          <a:p>
            <a:pPr marR="0" algn="l" rtl="0">
              <a:lnSpc>
                <a:spcPct val="150000"/>
              </a:lnSpc>
            </a:pPr>
            <a:r>
              <a:rPr lang="en-US" altLang="zh-CN" sz="2000" b="0" i="0" u="none" strike="noStrike" baseline="30000" dirty="0">
                <a:solidFill>
                  <a:schemeClr val="bg1"/>
                </a:solidFill>
                <a:latin typeface="Segoe UI" panose="020B0502040204020203" pitchFamily="34" charset="0"/>
              </a:rPr>
              <a:t>2) Minimize Deviation from Target Green Area</a:t>
            </a:r>
          </a:p>
        </p:txBody>
      </p:sp>
      <p:sp>
        <p:nvSpPr>
          <p:cNvPr id="14" name="文本框 13">
            <a:extLst>
              <a:ext uri="{FF2B5EF4-FFF2-40B4-BE49-F238E27FC236}">
                <a16:creationId xmlns:a16="http://schemas.microsoft.com/office/drawing/2014/main" id="{684D1E94-953B-2893-8F6E-47BAC5E12812}"/>
              </a:ext>
            </a:extLst>
          </p:cNvPr>
          <p:cNvSpPr txBox="1"/>
          <p:nvPr/>
        </p:nvSpPr>
        <p:spPr>
          <a:xfrm>
            <a:off x="4799917" y="1484745"/>
            <a:ext cx="3140074" cy="2643224"/>
          </a:xfrm>
          <a:prstGeom prst="rect">
            <a:avLst/>
          </a:prstGeom>
          <a:noFill/>
        </p:spPr>
        <p:txBody>
          <a:bodyPr wrap="square" rtlCol="0">
            <a:spAutoFit/>
          </a:bodyPr>
          <a:lstStyle/>
          <a:p>
            <a:pPr marR="0" rtl="0">
              <a:lnSpc>
                <a:spcPct val="150000"/>
              </a:lnSpc>
            </a:pPr>
            <a:r>
              <a:rPr lang="en-GB" altLang="zh-CN" sz="2000" b="0" i="0" u="none" strike="noStrike" baseline="30000" dirty="0">
                <a:solidFill>
                  <a:srgbClr val="6C4C9A"/>
                </a:solidFill>
                <a:latin typeface="Segoe UI Semibold" panose="020B0702040204020203" pitchFamily="34" charset="0"/>
              </a:rPr>
              <a:t> // 1. Data Preparation</a:t>
            </a:r>
            <a:endParaRPr lang="en-GB" altLang="zh-CN" sz="2000" b="0" i="0" u="none" strike="noStrike" baseline="30000" dirty="0">
              <a:solidFill>
                <a:srgbClr val="6C4C9A"/>
              </a:solidFill>
              <a:latin typeface="Segoe UI" panose="020B05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greenSurfaces</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CreateEffectiveGreenAreas</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greenBoundaries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buildingFootprints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60000"/>
                    <a:lumOff val="40000"/>
                  </a:schemeClr>
                </a:solidFill>
                <a:latin typeface="Segoe UI" panose="020B0502040204020203" pitchFamily="34" charset="0"/>
              </a:rPr>
              <a:t>// Boolean difference: green - buildings</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SampleAlongPaths</a:t>
            </a:r>
            <a:r>
              <a:rPr lang="en-US" altLang="zh-CN" sz="1800" b="0" i="0" u="none" strike="noStrike" baseline="30000" dirty="0">
                <a:solidFill>
                  <a:schemeClr val="bg1"/>
                </a:solidFill>
                <a:latin typeface="Segoe UI" panose="020B0502040204020203" pitchFamily="34" charset="0"/>
              </a:rPr>
              <a:t>(paths, 5.0)  </a:t>
            </a:r>
            <a:r>
              <a:rPr lang="en-US" altLang="zh-CN" sz="1800" b="0" i="0" u="none" strike="noStrike" baseline="30000" dirty="0">
                <a:solidFill>
                  <a:schemeClr val="accent5">
                    <a:lumMod val="60000"/>
                    <a:lumOff val="40000"/>
                  </a:schemeClr>
                </a:solidFill>
                <a:latin typeface="Segoe UI" panose="020B0502040204020203" pitchFamily="34" charset="0"/>
              </a:rPr>
              <a:t>// One sample every 5 meters</a:t>
            </a:r>
          </a:p>
          <a:p>
            <a:pPr marR="0" algn="l" rtl="0">
              <a:lnSpc>
                <a:spcPct val="150000"/>
              </a:lnSpc>
            </a:pPr>
            <a:r>
              <a:rPr lang="en-US" altLang="zh-CN" sz="1800" b="0" i="0" u="none" strike="noStrike" baseline="30000" dirty="0">
                <a:solidFill>
                  <a:schemeClr val="bg1"/>
                </a:solidFill>
                <a:latin typeface="Segoe UI" panose="020B0502040204020203" pitchFamily="34" charset="0"/>
              </a:rPr>
              <a:t>    grid = </a:t>
            </a:r>
            <a:r>
              <a:rPr lang="en-US" altLang="zh-CN" sz="1800" b="0" i="0" u="none" strike="noStrike" baseline="30000" dirty="0" err="1">
                <a:solidFill>
                  <a:schemeClr val="bg1"/>
                </a:solidFill>
                <a:latin typeface="Segoe UI" panose="020B0502040204020203" pitchFamily="34" charset="0"/>
              </a:rPr>
              <a:t>CreateUniformGrid</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greenSurfaces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60000"/>
                    <a:lumOff val="40000"/>
                  </a:schemeClr>
                </a:solidFill>
                <a:latin typeface="Segoe UI" panose="020B0502040204020203" pitchFamily="34" charset="0"/>
              </a:rPr>
              <a:t>// Divide green areas into grid cells</a:t>
            </a:r>
          </a:p>
        </p:txBody>
      </p:sp>
      <p:sp>
        <p:nvSpPr>
          <p:cNvPr id="17" name="文本框 16">
            <a:extLst>
              <a:ext uri="{FF2B5EF4-FFF2-40B4-BE49-F238E27FC236}">
                <a16:creationId xmlns:a16="http://schemas.microsoft.com/office/drawing/2014/main" id="{1004AA57-8817-2106-CEB1-8F721B6AE50A}"/>
              </a:ext>
            </a:extLst>
          </p:cNvPr>
          <p:cNvSpPr txBox="1"/>
          <p:nvPr/>
        </p:nvSpPr>
        <p:spPr>
          <a:xfrm>
            <a:off x="4799917" y="4291805"/>
            <a:ext cx="3105945" cy="2435410"/>
          </a:xfrm>
          <a:prstGeom prst="rect">
            <a:avLst/>
          </a:prstGeom>
          <a:noFill/>
        </p:spPr>
        <p:txBody>
          <a:bodyPr wrap="square">
            <a:spAutoFit/>
          </a:bodyPr>
          <a:lstStyle/>
          <a:p>
            <a:pPr marR="0" algn="l" rtl="0">
              <a:lnSpc>
                <a:spcPct val="150000"/>
              </a:lnSpc>
            </a:pPr>
            <a:r>
              <a:rPr lang="en-GB" altLang="zh-CN" sz="2000" b="0" i="0" u="none" strike="noStrike" baseline="30000" dirty="0">
                <a:solidFill>
                  <a:srgbClr val="6C4C9A"/>
                </a:solidFill>
                <a:latin typeface="Segoe UI Semibold" panose="020B0702040204020203" pitchFamily="34" charset="0"/>
              </a:rPr>
              <a:t> // 3. Optimize using NSGA-II</a:t>
            </a:r>
            <a:endParaRPr lang="en-GB" altLang="zh-CN" sz="2000" b="0" i="0" u="none" strike="noStrike" baseline="30000" dirty="0">
              <a:solidFill>
                <a:srgbClr val="6C4C9A"/>
              </a:solidFill>
              <a:latin typeface="Segoe UI" panose="020B05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paretoSet</a:t>
            </a:r>
            <a:r>
              <a:rPr lang="en-US" altLang="zh-CN" sz="1800" b="0" i="0" u="none" strike="noStrike" baseline="30000" dirty="0">
                <a:solidFill>
                  <a:schemeClr val="bg1"/>
                </a:solidFill>
                <a:latin typeface="Segoe UI" panose="020B0502040204020203" pitchFamily="34" charset="0"/>
              </a:rPr>
              <a:t> = RunNSGA2(</a:t>
            </a:r>
            <a:r>
              <a:rPr lang="en-US" altLang="zh-CN" sz="1800" b="0" i="0" u="none" strike="noStrike" baseline="30000" dirty="0" err="1">
                <a:solidFill>
                  <a:schemeClr val="bg1"/>
                </a:solidFill>
                <a:latin typeface="Segoe UI" panose="020B0502040204020203" pitchFamily="34" charset="0"/>
              </a:rPr>
              <a:t>CalculateFitness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grid.Count</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bestSolution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SelectCompromiseSolution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paretoSet</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ConvertToGeometry</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bestSolution</a:t>
            </a:r>
            <a:r>
              <a:rPr lang="en-GB" altLang="zh-CN" sz="1800" b="0" i="0" u="none" strike="noStrike" baseline="30000" dirty="0">
                <a:solidFill>
                  <a:schemeClr val="bg1"/>
                </a:solidFill>
                <a:latin typeface="Segoe UI" panose="020B0502040204020203" pitchFamily="34" charset="0"/>
              </a:rPr>
              <a:t>, grid)</a:t>
            </a:r>
            <a:endParaRPr lang="zh-CN" altLang="en-US" dirty="0"/>
          </a:p>
        </p:txBody>
      </p:sp>
      <p:sp>
        <p:nvSpPr>
          <p:cNvPr id="19" name="文本框 18">
            <a:extLst>
              <a:ext uri="{FF2B5EF4-FFF2-40B4-BE49-F238E27FC236}">
                <a16:creationId xmlns:a16="http://schemas.microsoft.com/office/drawing/2014/main" id="{A6EB49DE-33EC-A8C5-C7C9-87D6761C77C8}"/>
              </a:ext>
            </a:extLst>
          </p:cNvPr>
          <p:cNvSpPr txBox="1"/>
          <p:nvPr/>
        </p:nvSpPr>
        <p:spPr>
          <a:xfrm>
            <a:off x="7989455" y="1484745"/>
            <a:ext cx="3943927" cy="5351658"/>
          </a:xfrm>
          <a:prstGeom prst="rect">
            <a:avLst/>
          </a:prstGeom>
          <a:noFill/>
        </p:spPr>
        <p:txBody>
          <a:bodyPr wrap="square">
            <a:spAutoFit/>
          </a:bodyPr>
          <a:lstStyle/>
          <a:p>
            <a:pPr marR="0" algn="l" rtl="0">
              <a:lnSpc>
                <a:spcPct val="150000"/>
              </a:lnSpc>
            </a:pPr>
            <a:r>
              <a:rPr lang="en-US" altLang="zh-CN" sz="2000" b="0" i="0" u="none" strike="noStrike" baseline="30000" dirty="0">
                <a:solidFill>
                  <a:srgbClr val="6C4C9A"/>
                </a:solidFill>
                <a:latin typeface="Segoe UI Semibold" panose="020B0702040204020203" pitchFamily="34" charset="0"/>
              </a:rPr>
              <a:t>// 2. Define Fitness Functions (CORE)</a:t>
            </a:r>
            <a:endParaRPr lang="en-US" altLang="zh-CN" sz="1800" b="0" i="0" u="none" strike="noStrike" baseline="30000" dirty="0">
              <a:solidFill>
                <a:srgbClr val="6C4C9A"/>
              </a:solidFill>
              <a:latin typeface="Segoe UI Semibold" panose="020B07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    function </a:t>
            </a:r>
            <a:r>
              <a:rPr lang="en-US" altLang="zh-CN" sz="1800" b="0" i="0" u="none" strike="noStrike" baseline="30000" dirty="0" err="1">
                <a:solidFill>
                  <a:schemeClr val="bg1"/>
                </a:solidFill>
                <a:latin typeface="Segoe UI" panose="020B0502040204020203" pitchFamily="34" charset="0"/>
              </a:rPr>
              <a:t>CalculateFitness</a:t>
            </a:r>
            <a:r>
              <a:rPr lang="en-US" altLang="zh-CN" sz="1800" b="0" i="0" u="none" strike="noStrike" baseline="30000" dirty="0">
                <a:solidFill>
                  <a:schemeClr val="bg1"/>
                </a:solidFill>
                <a:latin typeface="Segoe UI" panose="020B0502040204020203" pitchFamily="34" charset="0"/>
              </a:rPr>
              <a:t>(genes):  </a:t>
            </a:r>
            <a:r>
              <a:rPr lang="en-US" altLang="zh-CN" sz="1800" b="0" i="0" u="none" strike="noStrike" baseline="30000" dirty="0">
                <a:solidFill>
                  <a:schemeClr val="accent5">
                    <a:lumMod val="60000"/>
                    <a:lumOff val="40000"/>
                  </a:schemeClr>
                </a:solidFill>
                <a:latin typeface="Segoe UI" panose="020B0502040204020203" pitchFamily="34" charset="0"/>
              </a:rPr>
              <a:t>// Genes: Boolean array representing green state (true=green)</a:t>
            </a:r>
          </a:p>
          <a:p>
            <a:pPr marR="0" algn="l" rtl="0">
              <a:lnSpc>
                <a:spcPct val="150000"/>
              </a:lnSpc>
            </a:pPr>
            <a:r>
              <a:rPr lang="en-US" altLang="zh-CN" sz="1800" b="0" i="0" u="none" strike="noStrike" baseline="30000" dirty="0">
                <a:solidFill>
                  <a:schemeClr val="accent5">
                    <a:lumMod val="20000"/>
                    <a:lumOff val="80000"/>
                  </a:schemeClr>
                </a:solidFill>
                <a:latin typeface="Segoe UI" panose="020B0502040204020203" pitchFamily="34" charset="0"/>
              </a:rPr>
              <a:t>        // Objective 1: Green View Score (maximize)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greenViewScore</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CalculateGreenView</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buildingFootprints</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accent5">
                    <a:lumMod val="20000"/>
                    <a:lumOff val="80000"/>
                  </a:schemeClr>
                </a:solidFill>
                <a:latin typeface="Segoe UI" panose="020B0502040204020203" pitchFamily="34" charset="0"/>
              </a:rPr>
              <a:t>        // Objective 2: Area Difference from Target (minimize)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areaDifference</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CalculateAreaDifference</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60000"/>
                    <a:lumOff val="40000"/>
                  </a:schemeClr>
                </a:solidFill>
                <a:latin typeface="Segoe UI" panose="020B0502040204020203" pitchFamily="34" charset="0"/>
              </a:rPr>
              <a:t>        </a:t>
            </a:r>
            <a:r>
              <a:rPr lang="en-GB" altLang="zh-CN" sz="1800" b="0" i="0" u="none" strike="noStrike" baseline="30000" dirty="0">
                <a:solidFill>
                  <a:schemeClr val="accent5">
                    <a:lumMod val="20000"/>
                    <a:lumOff val="80000"/>
                  </a:schemeClr>
                </a:solidFill>
                <a:latin typeface="Segoe UI" panose="020B0502040204020203" pitchFamily="34" charset="0"/>
              </a:rPr>
              <a:t>// Objective 3: Distribution Uniformity (minimize)</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distributionPenalty</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CalculateDistributionPenalty</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greenViewScore</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areaDifference</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distributionPenalty</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p:txBody>
      </p:sp>
      <p:sp>
        <p:nvSpPr>
          <p:cNvPr id="20" name="矩形 19">
            <a:extLst>
              <a:ext uri="{FF2B5EF4-FFF2-40B4-BE49-F238E27FC236}">
                <a16:creationId xmlns:a16="http://schemas.microsoft.com/office/drawing/2014/main" id="{3A1189BB-7542-3FCD-167D-17C3ADB2CB85}"/>
              </a:ext>
            </a:extLst>
          </p:cNvPr>
          <p:cNvSpPr/>
          <p:nvPr/>
        </p:nvSpPr>
        <p:spPr>
          <a:xfrm>
            <a:off x="4799918" y="952500"/>
            <a:ext cx="7133464"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C4C9A"/>
              </a:solidFill>
            </a:endParaRPr>
          </a:p>
        </p:txBody>
      </p:sp>
      <p:sp>
        <p:nvSpPr>
          <p:cNvPr id="21" name="文本框 20">
            <a:extLst>
              <a:ext uri="{FF2B5EF4-FFF2-40B4-BE49-F238E27FC236}">
                <a16:creationId xmlns:a16="http://schemas.microsoft.com/office/drawing/2014/main" id="{4DE75DE9-6977-B2E5-7577-6F4F8E3FF2B3}"/>
              </a:ext>
            </a:extLst>
          </p:cNvPr>
          <p:cNvSpPr txBox="1"/>
          <p:nvPr/>
        </p:nvSpPr>
        <p:spPr>
          <a:xfrm>
            <a:off x="7585384" y="1046976"/>
            <a:ext cx="1562532"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Main Workflow</a:t>
            </a:r>
          </a:p>
        </p:txBody>
      </p:sp>
    </p:spTree>
    <p:extLst>
      <p:ext uri="{BB962C8B-B14F-4D97-AF65-F5344CB8AC3E}">
        <p14:creationId xmlns:p14="http://schemas.microsoft.com/office/powerpoint/2010/main" val="2793165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6BD467-9A5A-79C7-856D-79207BBF453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19D2B00-5E09-084C-F341-C9FD070CCE6E}"/>
              </a:ext>
            </a:extLst>
          </p:cNvPr>
          <p:cNvSpPr txBox="1"/>
          <p:nvPr/>
        </p:nvSpPr>
        <p:spPr>
          <a:xfrm>
            <a:off x="3076853" y="252656"/>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3" name="文本框 2">
            <a:extLst>
              <a:ext uri="{FF2B5EF4-FFF2-40B4-BE49-F238E27FC236}">
                <a16:creationId xmlns:a16="http://schemas.microsoft.com/office/drawing/2014/main" id="{A52FF34E-7839-ED45-C607-CE603CBE34E3}"/>
              </a:ext>
            </a:extLst>
          </p:cNvPr>
          <p:cNvSpPr txBox="1"/>
          <p:nvPr/>
        </p:nvSpPr>
        <p:spPr>
          <a:xfrm>
            <a:off x="258618" y="652766"/>
            <a:ext cx="5509492" cy="6374950"/>
          </a:xfrm>
          <a:prstGeom prst="rect">
            <a:avLst/>
          </a:prstGeom>
          <a:noFill/>
        </p:spPr>
        <p:txBody>
          <a:bodyPr wrap="square" rtlCol="0">
            <a:spAutoFit/>
          </a:bodyPr>
          <a:lstStyle/>
          <a:p>
            <a:pPr marR="0" algn="l" rtl="0">
              <a:lnSpc>
                <a:spcPct val="150000"/>
              </a:lnSpc>
            </a:pPr>
            <a:r>
              <a:rPr lang="en-US" altLang="zh-CN" sz="2400" b="0" i="0" u="none" strike="noStrike" baseline="30000" dirty="0">
                <a:solidFill>
                  <a:srgbClr val="6C4C9A"/>
                </a:solidFill>
                <a:latin typeface="Segoe UI Semibold" panose="020B0702040204020203" pitchFamily="34" charset="0"/>
              </a:rPr>
              <a:t>// Core Function 1: Green View Calculation</a:t>
            </a:r>
            <a:endParaRPr lang="en-US" altLang="zh-CN" sz="2400" b="0" i="0" u="none" strike="noStrike" baseline="30000" dirty="0">
              <a:solidFill>
                <a:srgbClr val="000000"/>
              </a:solidFill>
              <a:latin typeface="Segoe UI Semibold" panose="020B0702040204020203" pitchFamily="34" charset="0"/>
            </a:endParaRPr>
          </a:p>
          <a:p>
            <a:pPr marR="0" algn="l" rtl="0">
              <a:lnSpc>
                <a:spcPct val="150000"/>
              </a:lnSpc>
            </a:pPr>
            <a:r>
              <a:rPr lang="en-US" altLang="zh-CN" sz="1800" b="0" i="0" u="none" strike="noStrike" baseline="30000" dirty="0">
                <a:solidFill>
                  <a:schemeClr val="bg1"/>
                </a:solidFill>
                <a:latin typeface="Segoe UI" panose="020B0502040204020203" pitchFamily="34" charset="0"/>
              </a:rPr>
              <a:t>function </a:t>
            </a:r>
            <a:r>
              <a:rPr lang="en-US" altLang="zh-CN" sz="1800" b="0" i="0" u="none" strike="noStrike" baseline="30000" dirty="0" err="1">
                <a:solidFill>
                  <a:schemeClr val="bg1"/>
                </a:solidFill>
                <a:latin typeface="Segoe UI" panose="020B0502040204020203" pitchFamily="34" charset="0"/>
              </a:rPr>
              <a:t>CalculateGreenView</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samplePoints</a:t>
            </a:r>
            <a:r>
              <a:rPr lang="en-US" altLang="zh-CN" sz="1800" b="0" i="0" u="none" strike="noStrike" baseline="30000" dirty="0">
                <a:solidFill>
                  <a:schemeClr val="bg1"/>
                </a:solidFill>
                <a:latin typeface="Segoe UI" panose="020B0502040204020203" pitchFamily="34" charset="0"/>
              </a:rPr>
              <a:t>, buildings):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Convert active genes to green geometry</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greenGeometry</a:t>
            </a:r>
            <a:r>
              <a:rPr lang="en-GB" altLang="zh-CN" sz="1800" b="0" i="0" u="none" strike="noStrike" baseline="30000" dirty="0">
                <a:solidFill>
                  <a:schemeClr val="bg1"/>
                </a:solidFill>
                <a:latin typeface="Segoe UI" panose="020B0502040204020203" pitchFamily="34" charset="0"/>
              </a:rPr>
              <a:t> =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0 to genes.Length-1:</a:t>
            </a:r>
          </a:p>
          <a:p>
            <a:pPr marR="0" algn="l" rtl="0">
              <a:lnSpc>
                <a:spcPct val="150000"/>
              </a:lnSpc>
            </a:pPr>
            <a:r>
              <a:rPr lang="en-GB" altLang="zh-CN" sz="1800" b="0" i="0" u="none" strike="noStrike" baseline="30000" dirty="0">
                <a:solidFill>
                  <a:schemeClr val="bg1"/>
                </a:solidFill>
                <a:latin typeface="Segoe UI" panose="020B0502040204020203" pitchFamily="34" charset="0"/>
              </a:rPr>
              <a:t>        if genes[</a:t>
            </a:r>
            <a:r>
              <a:rPr lang="en-GB" altLang="zh-CN" sz="1800" b="0" i="0" u="none" strike="noStrike" baseline="30000" dirty="0" err="1">
                <a:solidFill>
                  <a:schemeClr val="bg1"/>
                </a:solidFill>
                <a:latin typeface="Segoe UI" panose="020B0502040204020203" pitchFamily="34" charset="0"/>
              </a:rPr>
              <a:t>i</a:t>
            </a:r>
            <a:r>
              <a:rPr lang="en-GB" altLang="zh-CN" sz="1800" b="0" i="0" u="none" strike="noStrike" baseline="30000" dirty="0">
                <a:solidFill>
                  <a:schemeClr val="bg1"/>
                </a:solidFill>
                <a:latin typeface="Segoe UI" panose="020B0502040204020203" pitchFamily="34" charset="0"/>
              </a:rPr>
              <a:t>] == true:</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greenGeometry.Add</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CreateRectangle</a:t>
            </a:r>
            <a:r>
              <a:rPr lang="en-US" altLang="zh-CN" sz="1800" b="0" i="0" u="none" strike="noStrike" baseline="30000" dirty="0">
                <a:solidFill>
                  <a:schemeClr val="bg1"/>
                </a:solidFill>
                <a:latin typeface="Segoe UI" panose="020B0502040204020203" pitchFamily="34" charset="0"/>
              </a:rPr>
              <a:t>(grid[</a:t>
            </a:r>
            <a:r>
              <a:rPr lang="en-US" altLang="zh-CN" sz="1800" b="0" i="0" u="none" strike="noStrike" baseline="30000" dirty="0" err="1">
                <a:solidFill>
                  <a:schemeClr val="bg1"/>
                </a:solidFill>
                <a:latin typeface="Segoe UI" panose="020B0502040204020203" pitchFamily="34" charset="0"/>
              </a:rPr>
              <a:t>i</a:t>
            </a:r>
            <a:r>
              <a:rPr lang="en-US" altLang="zh-CN" sz="1800" b="0" i="0" u="none" strike="noStrike" baseline="30000" dirty="0">
                <a:solidFill>
                  <a:schemeClr val="bg1"/>
                </a:solidFill>
                <a:latin typeface="Segoe UI" panose="020B0502040204020203" pitchFamily="34" charset="0"/>
              </a:rPr>
              <a:t>].</a:t>
            </a:r>
            <a:r>
              <a:rPr lang="en-US" altLang="zh-CN" sz="1800" b="0" i="0" u="none" strike="noStrike" baseline="30000" dirty="0" err="1">
                <a:solidFill>
                  <a:schemeClr val="bg1"/>
                </a:solidFill>
                <a:latin typeface="Segoe UI" panose="020B0502040204020203" pitchFamily="34" charset="0"/>
              </a:rPr>
              <a:t>centerPoint</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gridSize</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visibleGreenRayCount</a:t>
            </a:r>
            <a:r>
              <a:rPr lang="en-GB" altLang="zh-CN" sz="1800" b="0" i="0" u="none" strike="noStrike" baseline="30000" dirty="0">
                <a:solidFill>
                  <a:schemeClr val="bg1"/>
                </a:solidFill>
                <a:latin typeface="Segoe UI" panose="020B0502040204020203" pitchFamily="34" charset="0"/>
              </a:rPr>
              <a:t> = 0</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err="1">
                <a:solidFill>
                  <a:schemeClr val="bg1"/>
                </a:solidFill>
                <a:latin typeface="Segoe UI" panose="020B0502040204020203" pitchFamily="34" charset="0"/>
              </a:rPr>
              <a:t>totalRayCount</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samplePoints.Count</a:t>
            </a:r>
            <a:r>
              <a:rPr lang="en-US" altLang="zh-CN" sz="1800" b="0" i="0" u="none" strike="noStrike" baseline="30000" dirty="0">
                <a:solidFill>
                  <a:schemeClr val="bg1"/>
                </a:solidFill>
                <a:latin typeface="Segoe UI" panose="020B0502040204020203" pitchFamily="34" charset="0"/>
              </a:rPr>
              <a:t> * 30  </a:t>
            </a:r>
            <a:r>
              <a:rPr lang="en-US" altLang="zh-CN" sz="1800" b="0" i="0" u="none" strike="noStrike" baseline="30000" dirty="0">
                <a:solidFill>
                  <a:schemeClr val="accent5">
                    <a:lumMod val="40000"/>
                    <a:lumOff val="60000"/>
                  </a:schemeClr>
                </a:solidFill>
                <a:latin typeface="Segoe UI" panose="020B0502040204020203" pitchFamily="34" charset="0"/>
              </a:rPr>
              <a:t>// 30 rays per sample point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endParaRPr lang="en-GB" altLang="zh-CN" sz="1800" b="0" i="0" u="none" strike="noStrike" baseline="30000" dirty="0">
              <a:solidFill>
                <a:schemeClr val="accent5">
                  <a:lumMod val="40000"/>
                  <a:lumOff val="60000"/>
                </a:schemeClr>
              </a:solidFill>
              <a:latin typeface="Segoe UI" panose="020B0502040204020203" pitchFamily="34" charset="0"/>
            </a:endParaRP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Cast rays from each sample point to check green visibility</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point in </a:t>
            </a:r>
            <a:r>
              <a:rPr lang="en-GB" altLang="zh-CN" sz="1800" b="0" i="0" u="none" strike="noStrike" baseline="30000" dirty="0" err="1">
                <a:solidFill>
                  <a:schemeClr val="bg1"/>
                </a:solidFill>
                <a:latin typeface="Segoe UI" panose="020B0502040204020203" pitchFamily="34" charset="0"/>
              </a:rPr>
              <a:t>samplePoints</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bg1"/>
                </a:solidFill>
                <a:latin typeface="Segoe UI" panose="020B0502040204020203" pitchFamily="34" charset="0"/>
              </a:rPr>
              <a:t>        rays = </a:t>
            </a:r>
            <a:r>
              <a:rPr lang="en-US" altLang="zh-CN" sz="1800" b="0" i="0" u="none" strike="noStrike" baseline="30000" dirty="0" err="1">
                <a:solidFill>
                  <a:schemeClr val="bg1"/>
                </a:solidFill>
                <a:latin typeface="Segoe UI" panose="020B0502040204020203" pitchFamily="34" charset="0"/>
              </a:rPr>
              <a:t>GenerateRays</a:t>
            </a:r>
            <a:r>
              <a:rPr lang="en-US" altLang="zh-CN" sz="1800" b="0" i="0" u="none" strike="noStrike" baseline="30000" dirty="0">
                <a:solidFill>
                  <a:schemeClr val="bg1"/>
                </a:solidFill>
                <a:latin typeface="Segoe UI" panose="020B0502040204020203" pitchFamily="34" charset="0"/>
              </a:rPr>
              <a:t>(point, 30, 90.0)  </a:t>
            </a:r>
            <a:r>
              <a:rPr lang="en-US" altLang="zh-CN" sz="1800" b="0" i="0" u="none" strike="noStrike" baseline="30000" dirty="0">
                <a:solidFill>
                  <a:schemeClr val="accent5">
                    <a:lumMod val="40000"/>
                    <a:lumOff val="60000"/>
                  </a:schemeClr>
                </a:solidFill>
                <a:latin typeface="Segoe UI" panose="020B0502040204020203" pitchFamily="34" charset="0"/>
              </a:rPr>
              <a:t>// 30 rays with radius 90m</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ray in rays:</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Check if ray intersects green and is not blocked by buildings</a:t>
            </a:r>
          </a:p>
          <a:p>
            <a:pPr marR="0" algn="l" rtl="0">
              <a:lnSpc>
                <a:spcPct val="150000"/>
              </a:lnSpc>
            </a:pPr>
            <a:r>
              <a:rPr lang="en-US" altLang="zh-CN" sz="1800" b="0" i="0" u="none" strike="noStrike" baseline="30000" dirty="0">
                <a:solidFill>
                  <a:schemeClr val="bg1"/>
                </a:solidFill>
                <a:latin typeface="Segoe UI" panose="020B0502040204020203" pitchFamily="34" charset="0"/>
              </a:rPr>
              <a:t>            if </a:t>
            </a:r>
            <a:r>
              <a:rPr lang="en-US" altLang="zh-CN" sz="1800" b="0" i="0" u="none" strike="noStrike" baseline="30000" dirty="0" err="1">
                <a:solidFill>
                  <a:schemeClr val="bg1"/>
                </a:solidFill>
                <a:latin typeface="Segoe UI" panose="020B0502040204020203" pitchFamily="34" charset="0"/>
              </a:rPr>
              <a:t>RayIntersectsGreen</a:t>
            </a:r>
            <a:r>
              <a:rPr lang="en-US" altLang="zh-CN" sz="1800" b="0" i="0" u="none" strike="noStrike" baseline="30000" dirty="0">
                <a:solidFill>
                  <a:schemeClr val="bg1"/>
                </a:solidFill>
                <a:latin typeface="Segoe UI" panose="020B0502040204020203" pitchFamily="34" charset="0"/>
              </a:rPr>
              <a:t>(ray, </a:t>
            </a:r>
            <a:r>
              <a:rPr lang="en-US" altLang="zh-CN" sz="1800" b="0" i="0" u="none" strike="noStrike" baseline="30000" dirty="0" err="1">
                <a:solidFill>
                  <a:schemeClr val="bg1"/>
                </a:solidFill>
                <a:latin typeface="Segoe UI" panose="020B0502040204020203" pitchFamily="34" charset="0"/>
              </a:rPr>
              <a:t>greenGeometry</a:t>
            </a:r>
            <a:r>
              <a:rPr lang="en-US" altLang="zh-CN" sz="1800" b="0" i="0" u="none" strike="noStrike" baseline="30000" dirty="0">
                <a:solidFill>
                  <a:schemeClr val="bg1"/>
                </a:solidFill>
                <a:latin typeface="Segoe UI" panose="020B0502040204020203" pitchFamily="34" charset="0"/>
              </a:rPr>
              <a:t>) and</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RayIsBlockedByBuildings</a:t>
            </a:r>
            <a:r>
              <a:rPr lang="en-GB" altLang="zh-CN" sz="1800" b="0" i="0" u="none" strike="noStrike" baseline="30000" dirty="0">
                <a:solidFill>
                  <a:schemeClr val="bg1"/>
                </a:solidFill>
                <a:latin typeface="Segoe UI" panose="020B0502040204020203" pitchFamily="34" charset="0"/>
              </a:rPr>
              <a:t>(ray, buildings, </a:t>
            </a:r>
            <a:r>
              <a:rPr lang="en-GB" altLang="zh-CN" sz="1800" b="0" i="0" u="none" strike="noStrike" baseline="30000" dirty="0" err="1">
                <a:solidFill>
                  <a:schemeClr val="bg1"/>
                </a:solidFill>
                <a:latin typeface="Segoe UI" panose="020B0502040204020203" pitchFamily="34" charset="0"/>
              </a:rPr>
              <a:t>greenGeometry</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visibleGreenRayCount</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return </a:t>
            </a:r>
            <a:r>
              <a:rPr lang="en-US" altLang="zh-CN" sz="1800" b="0" i="0" u="none" strike="noStrike" baseline="30000" dirty="0" err="1">
                <a:solidFill>
                  <a:schemeClr val="bg1"/>
                </a:solidFill>
                <a:latin typeface="Segoe UI" panose="020B0502040204020203" pitchFamily="34" charset="0"/>
              </a:rPr>
              <a:t>visibleGreenRayCount</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totalRayCount</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Normalized score (0-1)</a:t>
            </a:r>
            <a:endParaRPr lang="zh-CN" altLang="en-US" dirty="0">
              <a:solidFill>
                <a:schemeClr val="accent5">
                  <a:lumMod val="40000"/>
                  <a:lumOff val="60000"/>
                </a:schemeClr>
              </a:solidFill>
            </a:endParaRPr>
          </a:p>
        </p:txBody>
      </p:sp>
      <p:sp>
        <p:nvSpPr>
          <p:cNvPr id="4" name="文本框 3">
            <a:extLst>
              <a:ext uri="{FF2B5EF4-FFF2-40B4-BE49-F238E27FC236}">
                <a16:creationId xmlns:a16="http://schemas.microsoft.com/office/drawing/2014/main" id="{FCC2DF95-B808-865B-2459-CAD6464B24B0}"/>
              </a:ext>
            </a:extLst>
          </p:cNvPr>
          <p:cNvSpPr txBox="1"/>
          <p:nvPr/>
        </p:nvSpPr>
        <p:spPr>
          <a:xfrm>
            <a:off x="6423891" y="652766"/>
            <a:ext cx="5218546" cy="6190284"/>
          </a:xfrm>
          <a:prstGeom prst="rect">
            <a:avLst/>
          </a:prstGeom>
          <a:noFill/>
        </p:spPr>
        <p:txBody>
          <a:bodyPr wrap="square" rtlCol="0">
            <a:spAutoFit/>
          </a:bodyPr>
          <a:lstStyle/>
          <a:p>
            <a:pPr marR="0" algn="l" rtl="0">
              <a:lnSpc>
                <a:spcPct val="150000"/>
              </a:lnSpc>
            </a:pPr>
            <a:r>
              <a:rPr lang="en-US" altLang="zh-CN" sz="2400" b="0" i="0" u="none" strike="noStrike" baseline="30000" dirty="0">
                <a:solidFill>
                  <a:srgbClr val="6C4C9A"/>
                </a:solidFill>
                <a:latin typeface="Segoe UI Semibold" panose="020B0702040204020203" pitchFamily="34" charset="0"/>
              </a:rPr>
              <a:t>// Core Function 2: Area Difference Calculation</a:t>
            </a:r>
          </a:p>
          <a:p>
            <a:pPr marR="0" algn="l" rtl="0">
              <a:lnSpc>
                <a:spcPct val="150000"/>
              </a:lnSpc>
            </a:pPr>
            <a:r>
              <a:rPr lang="en-US" altLang="zh-CN" sz="1800" b="0" i="0" u="none" strike="noStrike" baseline="30000" dirty="0">
                <a:solidFill>
                  <a:schemeClr val="bg1"/>
                </a:solidFill>
                <a:latin typeface="Segoe UI" panose="020B0502040204020203" pitchFamily="34" charset="0"/>
              </a:rPr>
              <a:t>function </a:t>
            </a:r>
            <a:r>
              <a:rPr lang="en-US" altLang="zh-CN" sz="1800" b="0" i="0" u="none" strike="noStrike" baseline="30000" dirty="0" err="1">
                <a:solidFill>
                  <a:schemeClr val="bg1"/>
                </a:solidFill>
                <a:latin typeface="Segoe UI" panose="020B0502040204020203" pitchFamily="34" charset="0"/>
              </a:rPr>
              <a:t>CalculateAreaDifference</a:t>
            </a:r>
            <a:r>
              <a:rPr lang="en-US" altLang="zh-CN" sz="1800" b="0" i="0" u="none" strike="noStrike" baseline="30000" dirty="0">
                <a:solidFill>
                  <a:schemeClr val="bg1"/>
                </a:solidFill>
                <a:latin typeface="Segoe UI" panose="020B0502040204020203" pitchFamily="34" charset="0"/>
              </a:rPr>
              <a:t>(genes, grid,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activeCount</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CountTrueValues</a:t>
            </a:r>
            <a:r>
              <a:rPr lang="en-GB" altLang="zh-CN" sz="1800" b="0" i="0" u="none" strike="noStrike" baseline="30000" dirty="0">
                <a:solidFill>
                  <a:schemeClr val="bg1"/>
                </a:solidFill>
                <a:latin typeface="Segoe UI" panose="020B0502040204020203" pitchFamily="34" charset="0"/>
              </a:rPr>
              <a:t>(genes)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actualArea</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activeCount</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gridSize</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gridSize</a:t>
            </a: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return |</a:t>
            </a:r>
            <a:r>
              <a:rPr lang="en-US" altLang="zh-CN" sz="1800" b="0" i="0" u="none" strike="noStrike" baseline="30000" dirty="0" err="1">
                <a:solidFill>
                  <a:schemeClr val="bg1"/>
                </a:solidFill>
                <a:latin typeface="Segoe UI" panose="020B0502040204020203" pitchFamily="34" charset="0"/>
              </a:rPr>
              <a:t>actualArea</a:t>
            </a:r>
            <a:r>
              <a:rPr lang="en-US" altLang="zh-CN" sz="1800" b="0" i="0" u="none" strike="noStrike" baseline="30000" dirty="0">
                <a:solidFill>
                  <a:schemeClr val="bg1"/>
                </a:solidFill>
                <a:latin typeface="Segoe UI" panose="020B0502040204020203" pitchFamily="34" charset="0"/>
              </a:rPr>
              <a:t> - </a:t>
            </a:r>
            <a:r>
              <a:rPr lang="en-US" altLang="zh-CN" sz="1800" b="0" i="0" u="none" strike="noStrike" baseline="30000" dirty="0" err="1">
                <a:solidFill>
                  <a:schemeClr val="bg1"/>
                </a:solidFill>
                <a:latin typeface="Segoe UI" panose="020B0502040204020203" pitchFamily="34" charset="0"/>
              </a:rPr>
              <a:t>targetArea</a:t>
            </a: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Absolute difference, smaller is better</a:t>
            </a: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US" altLang="zh-CN" sz="2400" b="0" i="0" u="none" strike="noStrike" baseline="30000" dirty="0">
                <a:solidFill>
                  <a:srgbClr val="6C4C9A"/>
                </a:solidFill>
                <a:latin typeface="Segoe UI Semibold" panose="020B0702040204020203" pitchFamily="34" charset="0"/>
                <a:cs typeface="Segoe UI Semibold" panose="020B0702040204020203" pitchFamily="34" charset="0"/>
              </a:rPr>
              <a:t>// Core Function 3: Distribution Penalty Calculation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a:t>
            </a:r>
            <a:r>
              <a:rPr lang="en-GB" altLang="zh-CN" sz="1800" b="0" i="0" u="none" strike="noStrike" baseline="30000" dirty="0" err="1">
                <a:solidFill>
                  <a:schemeClr val="bg1"/>
                </a:solidFill>
                <a:latin typeface="Segoe UI" panose="020B0502040204020203" pitchFamily="34" charset="0"/>
              </a:rPr>
              <a:t>CalculateDistributionPenalty</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Calculate green ratio for each region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regionGreenRatios</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CalculateRegionGreenRatios</a:t>
            </a:r>
            <a:r>
              <a:rPr lang="en-GB" altLang="zh-CN" sz="1800" b="0" i="0" u="none" strike="noStrike" baseline="30000" dirty="0">
                <a:solidFill>
                  <a:schemeClr val="bg1"/>
                </a:solidFill>
                <a:latin typeface="Segoe UI" panose="020B0502040204020203" pitchFamily="34" charset="0"/>
              </a:rPr>
              <a:t>(genes, grid)</a:t>
            </a:r>
          </a:p>
          <a:p>
            <a:pPr marR="0" algn="l" rtl="0">
              <a:lnSpc>
                <a:spcPct val="150000"/>
              </a:lnSpc>
            </a:pPr>
            <a:r>
              <a:rPr lang="en-GB" altLang="zh-CN" sz="1800" b="0" i="0" u="none" strike="noStrike" baseline="30000" dirty="0">
                <a:solidFill>
                  <a:schemeClr val="bg1"/>
                </a:solidFill>
                <a:latin typeface="Segoe UI" panose="020B0502040204020203" pitchFamily="34" charset="0"/>
              </a:rPr>
              <a:t>    penalty = 0</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foreach region in </a:t>
            </a:r>
            <a:r>
              <a:rPr lang="en-GB" altLang="zh-CN" sz="1800" b="0" i="0" u="none" strike="noStrike" baseline="30000" dirty="0" err="1">
                <a:solidFill>
                  <a:schemeClr val="bg1"/>
                </a:solidFill>
                <a:latin typeface="Segoe UI" panose="020B0502040204020203" pitchFamily="34" charset="0"/>
              </a:rPr>
              <a:t>regionGreenRatios</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Heavy penalty for regions with no green</a:t>
            </a:r>
          </a:p>
          <a:p>
            <a:pPr marR="0" algn="l" rtl="0">
              <a:lnSpc>
                <a:spcPct val="150000"/>
              </a:lnSpc>
            </a:pPr>
            <a:r>
              <a:rPr lang="en-GB" altLang="zh-CN" sz="1800" b="0" i="0" u="none" strike="noStrike" baseline="30000" dirty="0">
                <a:solidFill>
                  <a:schemeClr val="bg1"/>
                </a:solidFill>
                <a:latin typeface="Segoe UI" panose="020B0502040204020203" pitchFamily="34" charset="0"/>
              </a:rPr>
              <a:t>        if </a:t>
            </a:r>
            <a:r>
              <a:rPr lang="en-GB" altLang="zh-CN" sz="1800" b="0" i="0" u="none" strike="noStrike" baseline="30000" dirty="0" err="1">
                <a:solidFill>
                  <a:schemeClr val="bg1"/>
                </a:solidFill>
                <a:latin typeface="Segoe UI" panose="020B0502040204020203" pitchFamily="34" charset="0"/>
              </a:rPr>
              <a:t>region.ratio</a:t>
            </a:r>
            <a:r>
              <a:rPr lang="en-GB" altLang="zh-CN" sz="1800" b="0" i="0" u="none" strike="noStrike" baseline="30000" dirty="0">
                <a:solidFill>
                  <a:schemeClr val="bg1"/>
                </a:solidFill>
                <a:latin typeface="Segoe UI" panose="020B0502040204020203" pitchFamily="34" charset="0"/>
              </a:rPr>
              <a:t> == 0:</a:t>
            </a:r>
          </a:p>
          <a:p>
            <a:pPr marR="0" algn="l" rtl="0">
              <a:lnSpc>
                <a:spcPct val="150000"/>
              </a:lnSpc>
            </a:pPr>
            <a:r>
              <a:rPr lang="en-GB" altLang="zh-CN" sz="1800" b="0" i="0" u="none" strike="noStrike" baseline="30000" dirty="0">
                <a:solidFill>
                  <a:schemeClr val="bg1"/>
                </a:solidFill>
                <a:latin typeface="Segoe UI" panose="020B0502040204020203" pitchFamily="34" charset="0"/>
              </a:rPr>
              <a:t>            penalty += 1.0</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Light penalty for regions with low green ratio</a:t>
            </a:r>
          </a:p>
          <a:p>
            <a:pPr marR="0" algn="l" rtl="0">
              <a:lnSpc>
                <a:spcPct val="150000"/>
              </a:lnSpc>
            </a:pPr>
            <a:r>
              <a:rPr lang="en-US" altLang="zh-CN" sz="1800" b="0" i="0" u="none" strike="noStrike" baseline="30000" dirty="0">
                <a:solidFill>
                  <a:schemeClr val="bg1"/>
                </a:solidFill>
                <a:latin typeface="Segoe UI" panose="020B0502040204020203" pitchFamily="34" charset="0"/>
              </a:rPr>
              <a:t>        else if </a:t>
            </a:r>
            <a:r>
              <a:rPr lang="en-US" altLang="zh-CN" sz="1800" b="0" i="0" u="none" strike="noStrike" baseline="30000" dirty="0" err="1">
                <a:solidFill>
                  <a:schemeClr val="bg1"/>
                </a:solidFill>
                <a:latin typeface="Segoe UI" panose="020B0502040204020203" pitchFamily="34" charset="0"/>
              </a:rPr>
              <a:t>region.ratio</a:t>
            </a:r>
            <a:r>
              <a:rPr lang="en-US" altLang="zh-CN" sz="1800" b="0" i="0" u="none" strike="noStrike" baseline="30000" dirty="0">
                <a:solidFill>
                  <a:schemeClr val="bg1"/>
                </a:solidFill>
                <a:latin typeface="Segoe UI" panose="020B0502040204020203" pitchFamily="34" charset="0"/>
              </a:rPr>
              <a:t> &lt; 0.1:</a:t>
            </a:r>
          </a:p>
          <a:p>
            <a:pPr marR="0" algn="l" rtl="0">
              <a:lnSpc>
                <a:spcPct val="150000"/>
              </a:lnSpc>
            </a:pPr>
            <a:r>
              <a:rPr lang="en-US" altLang="zh-CN" sz="1800" b="0" i="0" u="none" strike="noStrike" baseline="30000" dirty="0">
                <a:solidFill>
                  <a:schemeClr val="bg1"/>
                </a:solidFill>
                <a:latin typeface="Segoe UI" panose="020B0502040204020203" pitchFamily="34" charset="0"/>
              </a:rPr>
              <a:t>            penalty += (0.1 - </a:t>
            </a:r>
            <a:r>
              <a:rPr lang="en-US" altLang="zh-CN" sz="1800" b="0" i="0" u="none" strike="noStrike" baseline="30000" dirty="0" err="1">
                <a:solidFill>
                  <a:schemeClr val="bg1"/>
                </a:solidFill>
                <a:latin typeface="Segoe UI" panose="020B0502040204020203" pitchFamily="34" charset="0"/>
              </a:rPr>
              <a:t>region.ratio</a:t>
            </a:r>
            <a:r>
              <a:rPr lang="en-US" altLang="zh-CN" sz="1800" b="0" i="0" u="none" strike="noStrike" baseline="30000" dirty="0">
                <a:solidFill>
                  <a:schemeClr val="bg1"/>
                </a:solidFill>
                <a:latin typeface="Segoe UI" panose="020B0502040204020203" pitchFamily="34" charset="0"/>
              </a:rPr>
              <a:t>) * 5.0</a:t>
            </a:r>
            <a:endParaRPr lang="en-GB" altLang="zh-CN" sz="1800" b="0" i="0" u="none" strike="noStrike" baseline="30000" dirty="0">
              <a:solidFill>
                <a:schemeClr val="bg1"/>
              </a:solidFill>
              <a:latin typeface="Segoe UI" panose="020B0502040204020203" pitchFamily="34" charset="0"/>
            </a:endParaRPr>
          </a:p>
          <a:p>
            <a:pPr marR="0" algn="l" rtl="0">
              <a:lnSpc>
                <a:spcPct val="150000"/>
              </a:lnSpc>
            </a:pPr>
            <a:r>
              <a:rPr lang="en-GB" altLang="zh-CN" sz="1800" b="0" i="0" u="none" strike="noStrike" baseline="30000" dirty="0">
                <a:solidFill>
                  <a:schemeClr val="bg1"/>
                </a:solidFill>
                <a:latin typeface="Segoe UI" panose="020B0502040204020203" pitchFamily="34" charset="0"/>
              </a:rPr>
              <a:t>return penalty</a:t>
            </a:r>
            <a:endParaRPr lang="zh-CN" altLang="en-US" dirty="0">
              <a:solidFill>
                <a:schemeClr val="bg1"/>
              </a:solidFill>
            </a:endParaRPr>
          </a:p>
        </p:txBody>
      </p:sp>
    </p:spTree>
    <p:extLst>
      <p:ext uri="{BB962C8B-B14F-4D97-AF65-F5344CB8AC3E}">
        <p14:creationId xmlns:p14="http://schemas.microsoft.com/office/powerpoint/2010/main" val="625055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67E33A-6D45-5CA7-76AB-337D522C5F9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58B6715-79AA-BE36-21B3-296550AD156A}"/>
              </a:ext>
            </a:extLst>
          </p:cNvPr>
          <p:cNvSpPr txBox="1"/>
          <p:nvPr/>
        </p:nvSpPr>
        <p:spPr>
          <a:xfrm>
            <a:off x="226890" y="760049"/>
            <a:ext cx="5749037" cy="6097951"/>
          </a:xfrm>
          <a:prstGeom prst="rect">
            <a:avLst/>
          </a:prstGeom>
          <a:noFill/>
        </p:spPr>
        <p:txBody>
          <a:bodyPr wrap="square" rtlCol="0">
            <a:spAutoFit/>
          </a:bodyPr>
          <a:lstStyle/>
          <a:p>
            <a:pPr marR="0" algn="l" rtl="0">
              <a:lnSpc>
                <a:spcPct val="150000"/>
              </a:lnSpc>
            </a:pPr>
            <a:r>
              <a:rPr lang="en-GB" altLang="zh-CN" sz="2400" b="0" i="0" u="none" strike="noStrike" baseline="30000" dirty="0">
                <a:solidFill>
                  <a:srgbClr val="6C4C9A"/>
                </a:solidFill>
                <a:latin typeface="Segoe UI Semibold" panose="020B0702040204020203" pitchFamily="34" charset="0"/>
              </a:rPr>
              <a:t>// NSGA-II Algorithm Simplified</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RunNSGA2(</a:t>
            </a:r>
            <a:r>
              <a:rPr lang="en-GB" altLang="zh-CN" sz="1800" b="0" i="0" u="none" strike="noStrike" baseline="30000" dirty="0" err="1">
                <a:solidFill>
                  <a:schemeClr val="bg1"/>
                </a:solidFill>
                <a:latin typeface="Segoe UI" panose="020B0502040204020203" pitchFamily="34" charset="0"/>
              </a:rPr>
              <a:t>fitnessFunction</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Representation: Binary array (true/false) for grid cells</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GenerateRandomPopulation</a:t>
            </a:r>
            <a:r>
              <a:rPr lang="en-GB" altLang="zh-CN" sz="1800" b="0" i="0" u="none" strike="noStrike" baseline="30000" dirty="0">
                <a:solidFill>
                  <a:schemeClr val="bg1"/>
                </a:solidFill>
                <a:latin typeface="Segoe UI" panose="020B0502040204020203" pitchFamily="34" charset="0"/>
              </a:rPr>
              <a:t>(100,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  // 100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generation = 1 to 50:  // Evolve for 50 generations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Selection: Binary tournament based on non-dominated ranking and crowding</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Crossover: Uniform crossover exchanging genes between parents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Mutation: Low-probability bit-flip mutation changing individual grid states</a:t>
            </a:r>
          </a:p>
          <a:p>
            <a:pPr marR="0" algn="l" rtl="0">
              <a:lnSpc>
                <a:spcPct val="150000"/>
              </a:lnSpc>
            </a:pPr>
            <a:r>
              <a:rPr lang="en-GB" altLang="zh-CN" sz="1800" b="0" i="0" u="none" strike="noStrike" baseline="30000" dirty="0">
                <a:solidFill>
                  <a:schemeClr val="bg1"/>
                </a:solidFill>
                <a:latin typeface="Segoe UI" panose="020B0502040204020203" pitchFamily="34" charset="0"/>
              </a:rPr>
              <a:t>        offspring = </a:t>
            </a:r>
            <a:r>
              <a:rPr lang="en-GB" altLang="zh-CN" sz="1800" b="0" i="0" u="none" strike="noStrike" baseline="30000" dirty="0" err="1">
                <a:solidFill>
                  <a:schemeClr val="bg1"/>
                </a:solidFill>
                <a:latin typeface="Segoe UI" panose="020B0502040204020203" pitchFamily="34" charset="0"/>
              </a:rPr>
              <a:t>CreateOffspring</a:t>
            </a:r>
            <a:r>
              <a:rPr lang="en-GB" altLang="zh-CN" sz="1800" b="0" i="0" u="none" strike="noStrike" baseline="30000" dirty="0">
                <a:solidFill>
                  <a:schemeClr val="bg1"/>
                </a:solidFill>
                <a:latin typeface="Segoe UI" panose="020B0502040204020203" pitchFamily="34" charset="0"/>
              </a:rPr>
              <a:t>(population)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Combine and sort by non-domination relationship</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 = population + offspring</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NonDominatedSort</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a:solidFill>
                  <a:schemeClr val="accent5">
                    <a:lumMod val="40000"/>
                    <a:lumOff val="60000"/>
                  </a:schemeClr>
                </a:solidFill>
                <a:latin typeface="Segoe UI" panose="020B0502040204020203" pitchFamily="34" charset="0"/>
              </a:rPr>
              <a:t>// Select new generation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SelectNewGeneration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100)</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40000"/>
                    <a:lumOff val="60000"/>
                  </a:schemeClr>
                </a:solidFill>
                <a:latin typeface="Segoe UI" panose="020B0502040204020203" pitchFamily="34" charset="0"/>
              </a:rPr>
              <a:t>    // Return Pareto-optimal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GetParetoFront</a:t>
            </a:r>
            <a:r>
              <a:rPr lang="en-GB" altLang="zh-CN" sz="1800" b="0" i="0" u="none" strike="noStrike" baseline="30000" dirty="0">
                <a:solidFill>
                  <a:schemeClr val="bg1"/>
                </a:solidFill>
                <a:latin typeface="Segoe UI" panose="020B0502040204020203" pitchFamily="34" charset="0"/>
              </a:rPr>
              <a:t>(population)</a:t>
            </a:r>
            <a:endParaRPr lang="zh-CN" altLang="en-US" dirty="0">
              <a:solidFill>
                <a:schemeClr val="bg1"/>
              </a:solidFill>
            </a:endParaRPr>
          </a:p>
        </p:txBody>
      </p:sp>
      <p:grpSp>
        <p:nvGrpSpPr>
          <p:cNvPr id="12" name="组合 11">
            <a:extLst>
              <a:ext uri="{FF2B5EF4-FFF2-40B4-BE49-F238E27FC236}">
                <a16:creationId xmlns:a16="http://schemas.microsoft.com/office/drawing/2014/main" id="{5545E717-EA0A-6439-77D7-205D8CDDCDB9}"/>
              </a:ext>
            </a:extLst>
          </p:cNvPr>
          <p:cNvGrpSpPr/>
          <p:nvPr/>
        </p:nvGrpSpPr>
        <p:grpSpPr>
          <a:xfrm>
            <a:off x="6005266" y="2344598"/>
            <a:ext cx="6186734" cy="2365948"/>
            <a:chOff x="5287817" y="415840"/>
            <a:chExt cx="6816436" cy="2606760"/>
          </a:xfrm>
        </p:grpSpPr>
        <p:pic>
          <p:nvPicPr>
            <p:cNvPr id="6" name="图片 5">
              <a:extLst>
                <a:ext uri="{FF2B5EF4-FFF2-40B4-BE49-F238E27FC236}">
                  <a16:creationId xmlns:a16="http://schemas.microsoft.com/office/drawing/2014/main" id="{FE38C806-E9D4-F0D5-167E-1C59451E70EC}"/>
                </a:ext>
              </a:extLst>
            </p:cNvPr>
            <p:cNvPicPr>
              <a:picLocks noChangeAspect="1"/>
            </p:cNvPicPr>
            <p:nvPr/>
          </p:nvPicPr>
          <p:blipFill>
            <a:blip r:embed="rId2"/>
            <a:srcRect b="2792"/>
            <a:stretch/>
          </p:blipFill>
          <p:spPr>
            <a:xfrm>
              <a:off x="5287817" y="415840"/>
              <a:ext cx="6816436" cy="2526010"/>
            </a:xfrm>
            <a:prstGeom prst="rect">
              <a:avLst/>
            </a:prstGeom>
          </p:spPr>
        </p:pic>
        <p:sp>
          <p:nvSpPr>
            <p:cNvPr id="7" name="矩形 6">
              <a:extLst>
                <a:ext uri="{FF2B5EF4-FFF2-40B4-BE49-F238E27FC236}">
                  <a16:creationId xmlns:a16="http://schemas.microsoft.com/office/drawing/2014/main" id="{17AACD32-81E2-6A80-FE68-8FF0018D9C91}"/>
                </a:ext>
              </a:extLst>
            </p:cNvPr>
            <p:cNvSpPr/>
            <p:nvPr/>
          </p:nvSpPr>
          <p:spPr>
            <a:xfrm>
              <a:off x="5287817" y="2197100"/>
              <a:ext cx="4525822" cy="825500"/>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15" name="文本框 14">
            <a:extLst>
              <a:ext uri="{FF2B5EF4-FFF2-40B4-BE49-F238E27FC236}">
                <a16:creationId xmlns:a16="http://schemas.microsoft.com/office/drawing/2014/main" id="{F11AF98F-E77B-A119-B5D0-C6CE83C6D1F5}"/>
              </a:ext>
            </a:extLst>
          </p:cNvPr>
          <p:cNvSpPr txBox="1"/>
          <p:nvPr/>
        </p:nvSpPr>
        <p:spPr>
          <a:xfrm>
            <a:off x="3076853" y="252656"/>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645214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D6E4CFC-0AED-3636-14F2-15D06DF8CFF0}"/>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1BDD8DA2-F25D-69EE-EC4F-41ABFF2C4F5E}"/>
              </a:ext>
            </a:extLst>
          </p:cNvPr>
          <p:cNvGrpSpPr/>
          <p:nvPr/>
        </p:nvGrpSpPr>
        <p:grpSpPr>
          <a:xfrm>
            <a:off x="6441196" y="760049"/>
            <a:ext cx="5523914" cy="2000226"/>
            <a:chOff x="5375565" y="3772567"/>
            <a:chExt cx="6581486" cy="2383176"/>
          </a:xfrm>
        </p:grpSpPr>
        <p:pic>
          <p:nvPicPr>
            <p:cNvPr id="9" name="图片 8">
              <a:extLst>
                <a:ext uri="{FF2B5EF4-FFF2-40B4-BE49-F238E27FC236}">
                  <a16:creationId xmlns:a16="http://schemas.microsoft.com/office/drawing/2014/main" id="{78ADF1B0-ECCB-5AD8-AC37-2E65CF5F6321}"/>
                </a:ext>
              </a:extLst>
            </p:cNvPr>
            <p:cNvPicPr>
              <a:picLocks noChangeAspect="1"/>
            </p:cNvPicPr>
            <p:nvPr/>
          </p:nvPicPr>
          <p:blipFill>
            <a:blip r:embed="rId2"/>
            <a:srcRect r="895"/>
            <a:stretch/>
          </p:blipFill>
          <p:spPr>
            <a:xfrm>
              <a:off x="5375565" y="3772567"/>
              <a:ext cx="6581486" cy="2383176"/>
            </a:xfrm>
            <a:prstGeom prst="rect">
              <a:avLst/>
            </a:prstGeom>
          </p:spPr>
        </p:pic>
        <p:sp>
          <p:nvSpPr>
            <p:cNvPr id="10" name="矩形 9">
              <a:extLst>
                <a:ext uri="{FF2B5EF4-FFF2-40B4-BE49-F238E27FC236}">
                  <a16:creationId xmlns:a16="http://schemas.microsoft.com/office/drawing/2014/main" id="{2DF0BD41-13D1-A8F2-D68F-AC733AFB1B6B}"/>
                </a:ext>
              </a:extLst>
            </p:cNvPr>
            <p:cNvSpPr/>
            <p:nvPr/>
          </p:nvSpPr>
          <p:spPr>
            <a:xfrm>
              <a:off x="9813639" y="3772567"/>
              <a:ext cx="2143412" cy="655782"/>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5BFF1537-95E1-3B9E-6229-537A4B7AD816}"/>
              </a:ext>
            </a:extLst>
          </p:cNvPr>
          <p:cNvSpPr txBox="1"/>
          <p:nvPr/>
        </p:nvSpPr>
        <p:spPr>
          <a:xfrm>
            <a:off x="226890" y="760049"/>
            <a:ext cx="5749037" cy="6097951"/>
          </a:xfrm>
          <a:prstGeom prst="rect">
            <a:avLst/>
          </a:prstGeom>
          <a:noFill/>
        </p:spPr>
        <p:txBody>
          <a:bodyPr wrap="square" rtlCol="0">
            <a:spAutoFit/>
          </a:bodyPr>
          <a:lstStyle/>
          <a:p>
            <a:pPr marR="0" algn="l" rtl="0">
              <a:lnSpc>
                <a:spcPct val="150000"/>
              </a:lnSpc>
            </a:pPr>
            <a:r>
              <a:rPr lang="en-GB" altLang="zh-CN" sz="2400" b="0" i="0" u="none" strike="noStrike" baseline="30000" dirty="0">
                <a:solidFill>
                  <a:srgbClr val="6C4C9A"/>
                </a:solidFill>
                <a:latin typeface="Segoe UI Semibold" panose="020B0702040204020203" pitchFamily="34" charset="0"/>
              </a:rPr>
              <a:t>// NSGA-II Algorithm Simplified</a:t>
            </a:r>
          </a:p>
          <a:p>
            <a:pPr marR="0" algn="l" rtl="0">
              <a:lnSpc>
                <a:spcPct val="150000"/>
              </a:lnSpc>
            </a:pPr>
            <a:r>
              <a:rPr lang="en-GB" altLang="zh-CN" sz="1800" b="0" i="0" u="none" strike="noStrike" baseline="30000" dirty="0">
                <a:solidFill>
                  <a:schemeClr val="bg1"/>
                </a:solidFill>
                <a:latin typeface="Segoe UI" panose="020B0502040204020203" pitchFamily="34" charset="0"/>
              </a:rPr>
              <a:t>function RunNSGA2(</a:t>
            </a:r>
            <a:r>
              <a:rPr lang="en-GB" altLang="zh-CN" sz="1800" b="0" i="0" u="none" strike="noStrike" baseline="30000" dirty="0" err="1">
                <a:solidFill>
                  <a:schemeClr val="bg1"/>
                </a:solidFill>
                <a:latin typeface="Segoe UI" panose="020B0502040204020203" pitchFamily="34" charset="0"/>
              </a:rPr>
              <a:t>fitnessFunction</a:t>
            </a: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Representation: Binary array (true/false) for grid cells</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GenerateRandomPopulation</a:t>
            </a:r>
            <a:r>
              <a:rPr lang="en-GB" altLang="zh-CN" sz="1800" b="0" i="0" u="none" strike="noStrike" baseline="30000" dirty="0">
                <a:solidFill>
                  <a:schemeClr val="bg1"/>
                </a:solidFill>
                <a:latin typeface="Segoe UI" panose="020B0502040204020203" pitchFamily="34" charset="0"/>
              </a:rPr>
              <a:t>(100, </a:t>
            </a:r>
            <a:r>
              <a:rPr lang="en-GB" altLang="zh-CN" sz="1800" b="0" i="0" u="none" strike="noStrike" baseline="30000" dirty="0" err="1">
                <a:solidFill>
                  <a:schemeClr val="bg1"/>
                </a:solidFill>
                <a:latin typeface="Segoe UI" panose="020B0502040204020203" pitchFamily="34" charset="0"/>
              </a:rPr>
              <a:t>geneLength</a:t>
            </a:r>
            <a:r>
              <a:rPr lang="en-GB" altLang="zh-CN" sz="1800" b="0" i="0" u="none" strike="noStrike" baseline="30000" dirty="0">
                <a:solidFill>
                  <a:schemeClr val="bg1"/>
                </a:solidFill>
                <a:latin typeface="Segoe UI" panose="020B0502040204020203" pitchFamily="34" charset="0"/>
              </a:rPr>
              <a:t>)  // 100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for generation = 1 to 50:  // Evolve for 50 generations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Selection: Binary tournament based on non-dominated ranking and crowding</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Crossover: Uniform crossover exchanging genes between parents</a:t>
            </a:r>
          </a:p>
          <a:p>
            <a:pPr marR="0" algn="l" rtl="0">
              <a:lnSpc>
                <a:spcPct val="150000"/>
              </a:lnSpc>
            </a:pPr>
            <a:r>
              <a:rPr lang="en-US" altLang="zh-CN" sz="1800" b="0" i="0" u="none" strike="noStrike" baseline="30000" dirty="0">
                <a:solidFill>
                  <a:schemeClr val="accent5">
                    <a:lumMod val="40000"/>
                    <a:lumOff val="60000"/>
                  </a:schemeClr>
                </a:solidFill>
                <a:latin typeface="Segoe UI" panose="020B0502040204020203" pitchFamily="34" charset="0"/>
              </a:rPr>
              <a:t>        // Mutation: Low-probability bit-flip mutation changing individual grid states</a:t>
            </a:r>
          </a:p>
          <a:p>
            <a:pPr marR="0" algn="l" rtl="0">
              <a:lnSpc>
                <a:spcPct val="150000"/>
              </a:lnSpc>
            </a:pPr>
            <a:r>
              <a:rPr lang="en-GB" altLang="zh-CN" sz="1800" b="0" i="0" u="none" strike="noStrike" baseline="30000" dirty="0">
                <a:solidFill>
                  <a:schemeClr val="bg1"/>
                </a:solidFill>
                <a:latin typeface="Segoe UI" panose="020B0502040204020203" pitchFamily="34" charset="0"/>
              </a:rPr>
              <a:t>        offspring = </a:t>
            </a:r>
            <a:r>
              <a:rPr lang="en-GB" altLang="zh-CN" sz="1800" b="0" i="0" u="none" strike="noStrike" baseline="30000" dirty="0" err="1">
                <a:solidFill>
                  <a:schemeClr val="bg1"/>
                </a:solidFill>
                <a:latin typeface="Segoe UI" panose="020B0502040204020203" pitchFamily="34" charset="0"/>
              </a:rPr>
              <a:t>CreateOffspring</a:t>
            </a:r>
            <a:r>
              <a:rPr lang="en-GB" altLang="zh-CN" sz="1800" b="0" i="0" u="none" strike="noStrike" baseline="30000" dirty="0">
                <a:solidFill>
                  <a:schemeClr val="bg1"/>
                </a:solidFill>
                <a:latin typeface="Segoe UI" panose="020B0502040204020203" pitchFamily="34" charset="0"/>
              </a:rPr>
              <a:t>(population)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US" altLang="zh-CN" sz="1800" b="0" i="0" u="none" strike="noStrike" baseline="30000" dirty="0">
                <a:solidFill>
                  <a:schemeClr val="bg1"/>
                </a:solidFill>
                <a:latin typeface="Segoe UI" panose="020B0502040204020203" pitchFamily="34" charset="0"/>
              </a:rPr>
              <a:t>        </a:t>
            </a:r>
            <a:r>
              <a:rPr lang="en-US" altLang="zh-CN" sz="1800" b="0" i="0" u="none" strike="noStrike" baseline="30000" dirty="0">
                <a:solidFill>
                  <a:schemeClr val="accent5">
                    <a:lumMod val="40000"/>
                    <a:lumOff val="60000"/>
                  </a:schemeClr>
                </a:solidFill>
                <a:latin typeface="Segoe UI" panose="020B0502040204020203" pitchFamily="34" charset="0"/>
              </a:rPr>
              <a:t>// Combine and sort by non-domination relationship</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 = population + offspring</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 </a:t>
            </a:r>
            <a:r>
              <a:rPr lang="en-GB" altLang="zh-CN" sz="1800" b="0" i="0" u="none" strike="noStrike" baseline="30000" dirty="0" err="1">
                <a:solidFill>
                  <a:schemeClr val="bg1"/>
                </a:solidFill>
                <a:latin typeface="Segoe UI" panose="020B0502040204020203" pitchFamily="34" charset="0"/>
              </a:rPr>
              <a:t>NonDominatedSort</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combinedPopulation</a:t>
            </a:r>
            <a:r>
              <a:rPr lang="en-GB" altLang="zh-CN" sz="1800" b="0" i="0" u="none" strike="noStrike" baseline="30000" dirty="0">
                <a:solidFill>
                  <a:schemeClr val="bg1"/>
                </a:solidFill>
                <a:latin typeface="Segoe UI" panose="020B0502040204020203" pitchFamily="34" charset="0"/>
              </a:rPr>
              <a:t>)</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r>
              <a:rPr lang="en-GB" altLang="zh-CN" sz="1800" b="0" i="0" u="none" strike="noStrike" baseline="30000" dirty="0">
                <a:solidFill>
                  <a:schemeClr val="accent5">
                    <a:lumMod val="40000"/>
                    <a:lumOff val="60000"/>
                  </a:schemeClr>
                </a:solidFill>
                <a:latin typeface="Segoe UI" panose="020B0502040204020203" pitchFamily="34" charset="0"/>
              </a:rPr>
              <a:t>// Select new generation</a:t>
            </a:r>
          </a:p>
          <a:p>
            <a:pPr marR="0" algn="l" rtl="0">
              <a:lnSpc>
                <a:spcPct val="150000"/>
              </a:lnSpc>
            </a:pPr>
            <a:r>
              <a:rPr lang="en-GB" altLang="zh-CN" sz="1800" b="0" i="0" u="none" strike="noStrike" baseline="30000" dirty="0">
                <a:solidFill>
                  <a:schemeClr val="bg1"/>
                </a:solidFill>
                <a:latin typeface="Segoe UI" panose="020B0502040204020203" pitchFamily="34" charset="0"/>
              </a:rPr>
              <a:t>        population = </a:t>
            </a:r>
            <a:r>
              <a:rPr lang="en-GB" altLang="zh-CN" sz="1800" b="0" i="0" u="none" strike="noStrike" baseline="30000" dirty="0" err="1">
                <a:solidFill>
                  <a:schemeClr val="bg1"/>
                </a:solidFill>
                <a:latin typeface="Segoe UI" panose="020B0502040204020203" pitchFamily="34" charset="0"/>
              </a:rPr>
              <a:t>SelectNewGeneration</a:t>
            </a:r>
            <a:r>
              <a:rPr lang="en-GB" altLang="zh-CN" sz="1800" b="0" i="0" u="none" strike="noStrike" baseline="30000" dirty="0">
                <a:solidFill>
                  <a:schemeClr val="bg1"/>
                </a:solidFill>
                <a:latin typeface="Segoe UI" panose="020B0502040204020203" pitchFamily="34" charset="0"/>
              </a:rPr>
              <a:t>(</a:t>
            </a:r>
            <a:r>
              <a:rPr lang="en-GB" altLang="zh-CN" sz="1800" b="0" i="0" u="none" strike="noStrike" baseline="30000" dirty="0" err="1">
                <a:solidFill>
                  <a:schemeClr val="bg1"/>
                </a:solidFill>
                <a:latin typeface="Segoe UI" panose="020B0502040204020203" pitchFamily="34" charset="0"/>
              </a:rPr>
              <a:t>sortedPopulation</a:t>
            </a:r>
            <a:r>
              <a:rPr lang="en-GB" altLang="zh-CN" sz="1800" b="0" i="0" u="none" strike="noStrike" baseline="30000" dirty="0">
                <a:solidFill>
                  <a:schemeClr val="bg1"/>
                </a:solidFill>
                <a:latin typeface="Segoe UI" panose="020B0502040204020203" pitchFamily="34" charset="0"/>
              </a:rPr>
              <a:t>, 100)</a:t>
            </a:r>
          </a:p>
          <a:p>
            <a:pPr marR="0" algn="l" rtl="0">
              <a:lnSpc>
                <a:spcPct val="150000"/>
              </a:lnSpc>
            </a:pPr>
            <a:r>
              <a:rPr lang="en-GB" altLang="zh-CN" sz="1800" b="0" i="0" u="none" strike="noStrike" baseline="30000" dirty="0">
                <a:solidFill>
                  <a:schemeClr val="bg1"/>
                </a:solidFill>
                <a:latin typeface="Segoe UI" panose="020B0502040204020203" pitchFamily="34" charset="0"/>
              </a:rPr>
              <a:t>    </a:t>
            </a:r>
          </a:p>
          <a:p>
            <a:pPr marR="0" algn="l" rtl="0">
              <a:lnSpc>
                <a:spcPct val="150000"/>
              </a:lnSpc>
            </a:pPr>
            <a:r>
              <a:rPr lang="en-GB" altLang="zh-CN" sz="1800" b="0" i="0" u="none" strike="noStrike" baseline="30000" dirty="0">
                <a:solidFill>
                  <a:schemeClr val="accent5">
                    <a:lumMod val="40000"/>
                    <a:lumOff val="60000"/>
                  </a:schemeClr>
                </a:solidFill>
                <a:latin typeface="Segoe UI" panose="020B0502040204020203" pitchFamily="34" charset="0"/>
              </a:rPr>
              <a:t>    // Return Pareto-optimal solutions</a:t>
            </a:r>
          </a:p>
          <a:p>
            <a:pPr marR="0" algn="l" rtl="0">
              <a:lnSpc>
                <a:spcPct val="150000"/>
              </a:lnSpc>
            </a:pPr>
            <a:r>
              <a:rPr lang="en-GB" altLang="zh-CN" sz="1800" b="0" i="0" u="none" strike="noStrike" baseline="30000" dirty="0">
                <a:solidFill>
                  <a:schemeClr val="bg1"/>
                </a:solidFill>
                <a:latin typeface="Segoe UI" panose="020B0502040204020203" pitchFamily="34" charset="0"/>
              </a:rPr>
              <a:t>    return </a:t>
            </a:r>
            <a:r>
              <a:rPr lang="en-GB" altLang="zh-CN" sz="1800" b="0" i="0" u="none" strike="noStrike" baseline="30000" dirty="0" err="1">
                <a:solidFill>
                  <a:schemeClr val="bg1"/>
                </a:solidFill>
                <a:latin typeface="Segoe UI" panose="020B0502040204020203" pitchFamily="34" charset="0"/>
              </a:rPr>
              <a:t>GetParetoFront</a:t>
            </a:r>
            <a:r>
              <a:rPr lang="en-GB" altLang="zh-CN" sz="1800" b="0" i="0" u="none" strike="noStrike" baseline="30000" dirty="0">
                <a:solidFill>
                  <a:schemeClr val="bg1"/>
                </a:solidFill>
                <a:latin typeface="Segoe UI" panose="020B0502040204020203" pitchFamily="34" charset="0"/>
              </a:rPr>
              <a:t>(population)</a:t>
            </a:r>
            <a:endParaRPr lang="zh-CN" altLang="en-US" dirty="0">
              <a:solidFill>
                <a:schemeClr val="bg1"/>
              </a:solidFill>
            </a:endParaRPr>
          </a:p>
        </p:txBody>
      </p:sp>
      <p:pic>
        <p:nvPicPr>
          <p:cNvPr id="5" name="图片 4">
            <a:extLst>
              <a:ext uri="{FF2B5EF4-FFF2-40B4-BE49-F238E27FC236}">
                <a16:creationId xmlns:a16="http://schemas.microsoft.com/office/drawing/2014/main" id="{EA65845B-D289-F33A-7CDC-18B603CD602C}"/>
              </a:ext>
            </a:extLst>
          </p:cNvPr>
          <p:cNvPicPr>
            <a:picLocks noChangeAspect="1"/>
          </p:cNvPicPr>
          <p:nvPr/>
        </p:nvPicPr>
        <p:blipFill>
          <a:blip r:embed="rId3"/>
          <a:srcRect r="1863"/>
          <a:stretch/>
        </p:blipFill>
        <p:spPr>
          <a:xfrm>
            <a:off x="7383551" y="2905658"/>
            <a:ext cx="3639203" cy="3881268"/>
          </a:xfrm>
          <a:prstGeom prst="rect">
            <a:avLst/>
          </a:prstGeom>
        </p:spPr>
      </p:pic>
      <p:sp>
        <p:nvSpPr>
          <p:cNvPr id="8" name="文本框 7">
            <a:extLst>
              <a:ext uri="{FF2B5EF4-FFF2-40B4-BE49-F238E27FC236}">
                <a16:creationId xmlns:a16="http://schemas.microsoft.com/office/drawing/2014/main" id="{2DA5EA26-9A32-BC12-E8B2-C6157202C4A9}"/>
              </a:ext>
            </a:extLst>
          </p:cNvPr>
          <p:cNvSpPr txBox="1"/>
          <p:nvPr/>
        </p:nvSpPr>
        <p:spPr>
          <a:xfrm>
            <a:off x="3076853" y="252656"/>
            <a:ext cx="6694076"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NSGA-II ALGORITHM FOR GREEN SPACE OPTIMIZATION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268324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1A20FE5-C1E8-A9C4-812A-4A738C2EBFE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CF8EC41-DD81-A359-7C31-B86B20D748B9}"/>
              </a:ext>
            </a:extLst>
          </p:cNvPr>
          <p:cNvSpPr txBox="1"/>
          <p:nvPr/>
        </p:nvSpPr>
        <p:spPr>
          <a:xfrm>
            <a:off x="3565092" y="2904836"/>
            <a:ext cx="5061816" cy="646331"/>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REVIEW OF METHODS</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9" name="文本框 8">
            <a:extLst>
              <a:ext uri="{FF2B5EF4-FFF2-40B4-BE49-F238E27FC236}">
                <a16:creationId xmlns:a16="http://schemas.microsoft.com/office/drawing/2014/main" id="{0A830E64-09B2-2591-8DAE-E8BDC3C59D50}"/>
              </a:ext>
            </a:extLst>
          </p:cNvPr>
          <p:cNvSpPr txBox="1"/>
          <p:nvPr/>
        </p:nvSpPr>
        <p:spPr>
          <a:xfrm>
            <a:off x="2978727" y="3551167"/>
            <a:ext cx="6234545" cy="338554"/>
          </a:xfrm>
          <a:prstGeom prst="rect">
            <a:avLst/>
          </a:prstGeom>
          <a:noFill/>
        </p:spPr>
        <p:txBody>
          <a:bodyPr wrap="square" rtlCol="0">
            <a:spAutoFit/>
          </a:bodyPr>
          <a:lstStyle/>
          <a:p>
            <a:pPr algn="ctr"/>
            <a:r>
              <a:rPr lang="en-US" altLang="zh-CN" sz="1600" dirty="0">
                <a:solidFill>
                  <a:schemeClr val="bg1"/>
                </a:solidFill>
                <a:latin typeface="Segoe UI Semibold" panose="020B0702040204020203" pitchFamily="34" charset="0"/>
                <a:cs typeface="Segoe UI Semibold" panose="020B0702040204020203" pitchFamily="34" charset="0"/>
              </a:rPr>
              <a:t>Adapting Layouts through Visual Analysis and Evolutionary Logic</a:t>
            </a:r>
            <a:endParaRPr lang="zh-CN" altLang="en-US" sz="16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5450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F770DC-EFC1-C6AD-9835-96093F3F523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B998740-621B-F625-D5BE-BDC4EB611A4A}"/>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METHODOLOGY FRAMEWORK</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F47CD286-385F-F630-1BBA-4F12650B9FB5}"/>
              </a:ext>
            </a:extLst>
          </p:cNvPr>
          <p:cNvPicPr>
            <a:picLocks noChangeAspect="1"/>
          </p:cNvPicPr>
          <p:nvPr/>
        </p:nvPicPr>
        <p:blipFill>
          <a:blip r:embed="rId2"/>
          <a:srcRect t="1" r="949" b="1651"/>
          <a:stretch/>
        </p:blipFill>
        <p:spPr>
          <a:xfrm>
            <a:off x="1874043" y="1118707"/>
            <a:ext cx="8443913" cy="2519843"/>
          </a:xfrm>
          <a:prstGeom prst="rect">
            <a:avLst/>
          </a:prstGeom>
        </p:spPr>
      </p:pic>
      <p:pic>
        <p:nvPicPr>
          <p:cNvPr id="7" name="图片 6">
            <a:extLst>
              <a:ext uri="{FF2B5EF4-FFF2-40B4-BE49-F238E27FC236}">
                <a16:creationId xmlns:a16="http://schemas.microsoft.com/office/drawing/2014/main" id="{285B6FF3-6BD6-49E7-D553-453198B12632}"/>
              </a:ext>
            </a:extLst>
          </p:cNvPr>
          <p:cNvPicPr>
            <a:picLocks noChangeAspect="1"/>
          </p:cNvPicPr>
          <p:nvPr/>
        </p:nvPicPr>
        <p:blipFill>
          <a:blip r:embed="rId3"/>
          <a:srcRect b="4301"/>
          <a:stretch/>
        </p:blipFill>
        <p:spPr>
          <a:xfrm>
            <a:off x="1874043" y="4275941"/>
            <a:ext cx="8524875" cy="1712832"/>
          </a:xfrm>
          <a:prstGeom prst="rect">
            <a:avLst/>
          </a:prstGeom>
        </p:spPr>
      </p:pic>
    </p:spTree>
    <p:extLst>
      <p:ext uri="{BB962C8B-B14F-4D97-AF65-F5344CB8AC3E}">
        <p14:creationId xmlns:p14="http://schemas.microsoft.com/office/powerpoint/2010/main" val="3721976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B0C6522-324B-8C2B-BC1E-BE410D0F6D6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B67D7FD-DE03-00FA-5CC0-7D6846845784}"/>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METHODOLOGY FRAMEWORK</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A269C1E4-45C7-58E2-FE60-F95D7F43C3AD}"/>
              </a:ext>
            </a:extLst>
          </p:cNvPr>
          <p:cNvPicPr>
            <a:picLocks noChangeAspect="1"/>
          </p:cNvPicPr>
          <p:nvPr/>
        </p:nvPicPr>
        <p:blipFill>
          <a:blip r:embed="rId2"/>
          <a:srcRect b="1155"/>
          <a:stretch/>
        </p:blipFill>
        <p:spPr>
          <a:xfrm>
            <a:off x="1330036" y="714054"/>
            <a:ext cx="9816047" cy="5929390"/>
          </a:xfrm>
          <a:prstGeom prst="rect">
            <a:avLst/>
          </a:prstGeom>
        </p:spPr>
      </p:pic>
    </p:spTree>
    <p:extLst>
      <p:ext uri="{BB962C8B-B14F-4D97-AF65-F5344CB8AC3E}">
        <p14:creationId xmlns:p14="http://schemas.microsoft.com/office/powerpoint/2010/main" val="2047667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255834-205B-AD7B-CD10-0F85048EA9F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348E162-7AEF-1E1B-89D5-394E32F90705}"/>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ADAPTATION PROCESS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2730D832-7C3F-0744-5E0C-F2B60837AA16}"/>
              </a:ext>
            </a:extLst>
          </p:cNvPr>
          <p:cNvPicPr>
            <a:picLocks noChangeAspect="1"/>
          </p:cNvPicPr>
          <p:nvPr/>
        </p:nvPicPr>
        <p:blipFill>
          <a:blip r:embed="rId2"/>
          <a:srcRect l="2143" t="3129" r="2721" b="3129"/>
          <a:stretch/>
        </p:blipFill>
        <p:spPr>
          <a:xfrm>
            <a:off x="6905050" y="1933575"/>
            <a:ext cx="5029775" cy="3443043"/>
          </a:xfrm>
          <a:prstGeom prst="rect">
            <a:avLst/>
          </a:prstGeom>
        </p:spPr>
      </p:pic>
      <p:sp>
        <p:nvSpPr>
          <p:cNvPr id="6" name="矩形 5">
            <a:extLst>
              <a:ext uri="{FF2B5EF4-FFF2-40B4-BE49-F238E27FC236}">
                <a16:creationId xmlns:a16="http://schemas.microsoft.com/office/drawing/2014/main" id="{86C778CA-341B-4E5D-19E0-43990C570464}"/>
              </a:ext>
            </a:extLst>
          </p:cNvPr>
          <p:cNvSpPr/>
          <p:nvPr/>
        </p:nvSpPr>
        <p:spPr>
          <a:xfrm>
            <a:off x="316705" y="952500"/>
            <a:ext cx="4157663"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2D35D37-2FD3-1A25-BD23-3B23E28F3329}"/>
              </a:ext>
            </a:extLst>
          </p:cNvPr>
          <p:cNvSpPr txBox="1"/>
          <p:nvPr/>
        </p:nvSpPr>
        <p:spPr>
          <a:xfrm>
            <a:off x="466994" y="1046976"/>
            <a:ext cx="3857084"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 Environmental Adaptation Mechanism</a:t>
            </a:r>
          </a:p>
        </p:txBody>
      </p:sp>
      <p:sp>
        <p:nvSpPr>
          <p:cNvPr id="8" name="文本框 7">
            <a:extLst>
              <a:ext uri="{FF2B5EF4-FFF2-40B4-BE49-F238E27FC236}">
                <a16:creationId xmlns:a16="http://schemas.microsoft.com/office/drawing/2014/main" id="{6E8867FD-12ED-8822-527D-D6A2FF423781}"/>
              </a:ext>
            </a:extLst>
          </p:cNvPr>
          <p:cNvSpPr txBox="1"/>
          <p:nvPr/>
        </p:nvSpPr>
        <p:spPr>
          <a:xfrm>
            <a:off x="316705" y="1523309"/>
            <a:ext cx="3407570" cy="297517"/>
          </a:xfrm>
          <a:prstGeom prst="rect">
            <a:avLst/>
          </a:prstGeom>
          <a:noFill/>
        </p:spPr>
        <p:txBody>
          <a:bodyPr wrap="square" rtlCol="0">
            <a:spAutoFit/>
          </a:bodyPr>
          <a:lstStyle/>
          <a:p>
            <a:r>
              <a:rPr lang="en-US" altLang="zh-CN" sz="2000" b="0" i="0" u="none" strike="noStrike" baseline="30000" dirty="0">
                <a:solidFill>
                  <a:srgbClr val="FFFFFF"/>
                </a:solidFill>
                <a:latin typeface="Segoe UI Semibold" panose="020B0702040204020203" pitchFamily="34" charset="0"/>
              </a:rPr>
              <a:t>Spatial Recognition and Constraints</a:t>
            </a:r>
          </a:p>
        </p:txBody>
      </p:sp>
      <p:sp>
        <p:nvSpPr>
          <p:cNvPr id="9" name="文本框 8">
            <a:extLst>
              <a:ext uri="{FF2B5EF4-FFF2-40B4-BE49-F238E27FC236}">
                <a16:creationId xmlns:a16="http://schemas.microsoft.com/office/drawing/2014/main" id="{CD5494F6-21CF-8459-C1BC-08EED9315777}"/>
              </a:ext>
            </a:extLst>
          </p:cNvPr>
          <p:cNvSpPr txBox="1"/>
          <p:nvPr/>
        </p:nvSpPr>
        <p:spPr>
          <a:xfrm>
            <a:off x="316705" y="4224765"/>
            <a:ext cx="2712245" cy="297517"/>
          </a:xfrm>
          <a:prstGeom prst="rect">
            <a:avLst/>
          </a:prstGeom>
          <a:noFill/>
        </p:spPr>
        <p:txBody>
          <a:bodyPr wrap="square" rtlCol="0">
            <a:spAutoFit/>
          </a:bodyPr>
          <a:lstStyle/>
          <a:p>
            <a:pPr marR="0" algn="l" rtl="0"/>
            <a:r>
              <a:rPr lang="en-GB" altLang="zh-CN" sz="2000" b="0" i="0" u="none" strike="noStrike" baseline="30000" dirty="0">
                <a:solidFill>
                  <a:schemeClr val="bg1"/>
                </a:solidFill>
                <a:latin typeface="Segoe UI Semibold" panose="020B0702040204020203" pitchFamily="34" charset="0"/>
              </a:rPr>
              <a:t>Green Visibility Evaluation</a:t>
            </a:r>
          </a:p>
        </p:txBody>
      </p:sp>
      <p:sp>
        <p:nvSpPr>
          <p:cNvPr id="10" name="文本框 9">
            <a:extLst>
              <a:ext uri="{FF2B5EF4-FFF2-40B4-BE49-F238E27FC236}">
                <a16:creationId xmlns:a16="http://schemas.microsoft.com/office/drawing/2014/main" id="{807FD310-3CB8-1490-7421-7067C6A3C4B4}"/>
              </a:ext>
            </a:extLst>
          </p:cNvPr>
          <p:cNvSpPr txBox="1"/>
          <p:nvPr/>
        </p:nvSpPr>
        <p:spPr>
          <a:xfrm>
            <a:off x="316705" y="1778777"/>
            <a:ext cx="5664996" cy="1991186"/>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Building Adaptation: Automatically identify areas relative to building footprints</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Path Sampling: Optimize sampling point generation along walking paths</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Regional Adaptation: Automatically recognize and differentiate multiple zones</a:t>
            </a:r>
            <a:endParaRPr lang="zh-CN" altLang="en-US" sz="1400" dirty="0">
              <a:solidFill>
                <a:schemeClr val="bg1"/>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05EBCD91-00CC-15CF-FF8E-501EB25485F0}"/>
              </a:ext>
            </a:extLst>
          </p:cNvPr>
          <p:cNvSpPr txBox="1"/>
          <p:nvPr/>
        </p:nvSpPr>
        <p:spPr>
          <a:xfrm>
            <a:off x="343034" y="4466169"/>
            <a:ext cx="5371831" cy="134485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Ray-casting Simulation: Simulate human vision through ray emission to detect green visibility</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Occlusion Consideration: Account for building occlusions impacting green view</a:t>
            </a:r>
            <a:endParaRPr lang="zh-CN" altLang="en-US" sz="14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03813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0F767AE-5788-CB00-C60B-797E517DC90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62AFA76-95C9-B28F-6873-EB8D78FD77C8}"/>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ADAPTATION PROCESS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6" name="矩形 5">
            <a:extLst>
              <a:ext uri="{FF2B5EF4-FFF2-40B4-BE49-F238E27FC236}">
                <a16:creationId xmlns:a16="http://schemas.microsoft.com/office/drawing/2014/main" id="{9A4A5A3A-80D8-F0CF-2AD4-3D7275606125}"/>
              </a:ext>
            </a:extLst>
          </p:cNvPr>
          <p:cNvSpPr/>
          <p:nvPr/>
        </p:nvSpPr>
        <p:spPr>
          <a:xfrm>
            <a:off x="316705" y="952500"/>
            <a:ext cx="4157663"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90AB122-9D43-5AC1-9803-908326AB698D}"/>
              </a:ext>
            </a:extLst>
          </p:cNvPr>
          <p:cNvSpPr txBox="1"/>
          <p:nvPr/>
        </p:nvSpPr>
        <p:spPr>
          <a:xfrm>
            <a:off x="466994" y="1046976"/>
            <a:ext cx="3857084"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Multi-objective Optimization Process</a:t>
            </a:r>
          </a:p>
        </p:txBody>
      </p:sp>
      <p:sp>
        <p:nvSpPr>
          <p:cNvPr id="8" name="文本框 7">
            <a:extLst>
              <a:ext uri="{FF2B5EF4-FFF2-40B4-BE49-F238E27FC236}">
                <a16:creationId xmlns:a16="http://schemas.microsoft.com/office/drawing/2014/main" id="{3C69A46B-E214-BDBD-BAF4-9587C369D00C}"/>
              </a:ext>
            </a:extLst>
          </p:cNvPr>
          <p:cNvSpPr txBox="1"/>
          <p:nvPr/>
        </p:nvSpPr>
        <p:spPr>
          <a:xfrm>
            <a:off x="316705" y="1774309"/>
            <a:ext cx="3407570" cy="297517"/>
          </a:xfrm>
          <a:prstGeom prst="rect">
            <a:avLst/>
          </a:prstGeom>
          <a:noFill/>
        </p:spPr>
        <p:txBody>
          <a:bodyPr wrap="square" rtlCol="0">
            <a:spAutoFit/>
          </a:bodyPr>
          <a:lstStyle/>
          <a:p>
            <a:r>
              <a:rPr lang="en-US" altLang="zh-CN" sz="2000" b="0" i="0" u="none" strike="noStrike" baseline="30000" dirty="0">
                <a:solidFill>
                  <a:srgbClr val="FFFFFF"/>
                </a:solidFill>
                <a:latin typeface="Segoe UI Semibold" panose="020B0702040204020203" pitchFamily="34" charset="0"/>
              </a:rPr>
              <a:t>NSGA-II Algorithm Implementation</a:t>
            </a:r>
          </a:p>
        </p:txBody>
      </p:sp>
      <p:sp>
        <p:nvSpPr>
          <p:cNvPr id="9" name="文本框 8">
            <a:extLst>
              <a:ext uri="{FF2B5EF4-FFF2-40B4-BE49-F238E27FC236}">
                <a16:creationId xmlns:a16="http://schemas.microsoft.com/office/drawing/2014/main" id="{30D8B653-BFA6-8B3B-6EAE-F4C7F8F1E564}"/>
              </a:ext>
            </a:extLst>
          </p:cNvPr>
          <p:cNvSpPr txBox="1"/>
          <p:nvPr/>
        </p:nvSpPr>
        <p:spPr>
          <a:xfrm>
            <a:off x="316705" y="4871095"/>
            <a:ext cx="2712245" cy="297517"/>
          </a:xfrm>
          <a:prstGeom prst="rect">
            <a:avLst/>
          </a:prstGeom>
          <a:noFill/>
        </p:spPr>
        <p:txBody>
          <a:bodyPr wrap="square" rtlCol="0">
            <a:spAutoFit/>
          </a:bodyPr>
          <a:lstStyle/>
          <a:p>
            <a:pPr marR="0" algn="l" rtl="0"/>
            <a:r>
              <a:rPr lang="en-GB" altLang="zh-CN" sz="2000" b="0" i="0" u="none" strike="noStrike" baseline="30000" dirty="0">
                <a:solidFill>
                  <a:schemeClr val="bg1"/>
                </a:solidFill>
                <a:latin typeface="Segoe UI Semibold" panose="020B0702040204020203" pitchFamily="34" charset="0"/>
              </a:rPr>
              <a:t>Trade-off Solution Selection</a:t>
            </a:r>
          </a:p>
        </p:txBody>
      </p:sp>
      <p:sp>
        <p:nvSpPr>
          <p:cNvPr id="10" name="文本框 9">
            <a:extLst>
              <a:ext uri="{FF2B5EF4-FFF2-40B4-BE49-F238E27FC236}">
                <a16:creationId xmlns:a16="http://schemas.microsoft.com/office/drawing/2014/main" id="{8E1E8D9C-18B9-FE7F-CC57-08AF689D91C2}"/>
              </a:ext>
            </a:extLst>
          </p:cNvPr>
          <p:cNvSpPr txBox="1"/>
          <p:nvPr/>
        </p:nvSpPr>
        <p:spPr>
          <a:xfrm>
            <a:off x="316705" y="2029777"/>
            <a:ext cx="5664996" cy="231435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Population Initialization: Generate initial green layouts randomly</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Multi-objective Fitness: Calculate green view gain and green area variance</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Regional Balancing: Use penalty factors to ensure green space distribution balance</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Non-dominated Sorting: Rank solutions based on Pareto optimality</a:t>
            </a:r>
            <a:endParaRPr lang="zh-CN" altLang="en-US" sz="1400" dirty="0">
              <a:solidFill>
                <a:schemeClr val="bg1"/>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6FFA90E0-E34F-E766-248F-BA6D08CBEECC}"/>
              </a:ext>
            </a:extLst>
          </p:cNvPr>
          <p:cNvSpPr txBox="1"/>
          <p:nvPr/>
        </p:nvSpPr>
        <p:spPr>
          <a:xfrm>
            <a:off x="343034" y="5112499"/>
            <a:ext cx="5371831" cy="69852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Calculate distance to ideal objectives and select a well-balanced solution</a:t>
            </a:r>
            <a:endParaRPr lang="zh-CN" altLang="en-US" sz="1400" dirty="0">
              <a:solidFill>
                <a:schemeClr val="bg1"/>
              </a:solidFill>
              <a:latin typeface="Segoe UI" panose="020B0502040204020203" pitchFamily="34" charset="0"/>
              <a:cs typeface="Segoe UI" panose="020B0502040204020203" pitchFamily="34" charset="0"/>
            </a:endParaRPr>
          </a:p>
        </p:txBody>
      </p:sp>
      <p:pic>
        <p:nvPicPr>
          <p:cNvPr id="4" name="图片 3">
            <a:extLst>
              <a:ext uri="{FF2B5EF4-FFF2-40B4-BE49-F238E27FC236}">
                <a16:creationId xmlns:a16="http://schemas.microsoft.com/office/drawing/2014/main" id="{7EE291EF-D976-6859-2EC3-F520763B962A}"/>
              </a:ext>
            </a:extLst>
          </p:cNvPr>
          <p:cNvPicPr>
            <a:picLocks noChangeAspect="1"/>
          </p:cNvPicPr>
          <p:nvPr/>
        </p:nvPicPr>
        <p:blipFill>
          <a:blip r:embed="rId2"/>
          <a:srcRect l="2387" t="3129" r="2820"/>
          <a:stretch/>
        </p:blipFill>
        <p:spPr>
          <a:xfrm>
            <a:off x="6309879" y="1323975"/>
            <a:ext cx="5815312" cy="4619625"/>
          </a:xfrm>
          <a:prstGeom prst="rect">
            <a:avLst/>
          </a:prstGeom>
        </p:spPr>
      </p:pic>
    </p:spTree>
    <p:extLst>
      <p:ext uri="{BB962C8B-B14F-4D97-AF65-F5344CB8AC3E}">
        <p14:creationId xmlns:p14="http://schemas.microsoft.com/office/powerpoint/2010/main" val="135241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6B391F2-59F9-8DC2-2098-B3CD3EA7A73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BFA90B3-94E6-90E5-F383-D7B5901C555C}"/>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ADAPTATION PROCESS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6" name="矩形 5">
            <a:extLst>
              <a:ext uri="{FF2B5EF4-FFF2-40B4-BE49-F238E27FC236}">
                <a16:creationId xmlns:a16="http://schemas.microsoft.com/office/drawing/2014/main" id="{ADE65283-7584-7346-73AE-0847B004ECB4}"/>
              </a:ext>
            </a:extLst>
          </p:cNvPr>
          <p:cNvSpPr/>
          <p:nvPr/>
        </p:nvSpPr>
        <p:spPr>
          <a:xfrm>
            <a:off x="280987" y="1243436"/>
            <a:ext cx="4157663"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0FCC1B6-CDFC-C01B-D0DD-03B3DFE73C83}"/>
              </a:ext>
            </a:extLst>
          </p:cNvPr>
          <p:cNvSpPr txBox="1"/>
          <p:nvPr/>
        </p:nvSpPr>
        <p:spPr>
          <a:xfrm>
            <a:off x="431276" y="1337912"/>
            <a:ext cx="3857084"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Green Visibility Evaluation Mechanism</a:t>
            </a:r>
          </a:p>
        </p:txBody>
      </p:sp>
      <p:sp>
        <p:nvSpPr>
          <p:cNvPr id="10" name="文本框 9">
            <a:extLst>
              <a:ext uri="{FF2B5EF4-FFF2-40B4-BE49-F238E27FC236}">
                <a16:creationId xmlns:a16="http://schemas.microsoft.com/office/drawing/2014/main" id="{5384FA13-B565-D274-6E39-557D8895BC09}"/>
              </a:ext>
            </a:extLst>
          </p:cNvPr>
          <p:cNvSpPr txBox="1"/>
          <p:nvPr/>
        </p:nvSpPr>
        <p:spPr>
          <a:xfrm>
            <a:off x="280987" y="1954491"/>
            <a:ext cx="4436270" cy="2044796"/>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Green view evaluation is the core adaptation mechanism, ensuring optimization results match human perceptual experiences</a:t>
            </a:r>
          </a:p>
          <a:p>
            <a:pPr marL="285750" indent="-285750">
              <a:lnSpc>
                <a:spcPct val="150000"/>
              </a:lnSpc>
              <a:buFont typeface="Wingdings" panose="05000000000000000000" pitchFamily="2" charset="2"/>
              <a:buChar char="Ø"/>
            </a:pPr>
            <a:r>
              <a:rPr lang="en-US" altLang="zh-CN" sz="1400" dirty="0">
                <a:solidFill>
                  <a:schemeClr val="bg1"/>
                </a:solidFill>
                <a:latin typeface="Segoe UI" panose="020B0502040204020203" pitchFamily="34" charset="0"/>
                <a:cs typeface="Segoe UI" panose="020B0502040204020203" pitchFamily="34" charset="0"/>
              </a:rPr>
              <a:t>Each sampling point emits rays to assess visibility and building occlusion impacts, providing a perceptual-based green view ratio</a:t>
            </a:r>
            <a:endParaRPr lang="zh-CN" altLang="en-US" sz="1400" dirty="0">
              <a:solidFill>
                <a:schemeClr val="bg1"/>
              </a:solidFill>
              <a:latin typeface="Segoe UI" panose="020B0502040204020203" pitchFamily="34" charset="0"/>
              <a:cs typeface="Segoe UI" panose="020B0502040204020203" pitchFamily="34" charset="0"/>
            </a:endParaRPr>
          </a:p>
        </p:txBody>
      </p:sp>
      <p:pic>
        <p:nvPicPr>
          <p:cNvPr id="5" name="图片 4">
            <a:extLst>
              <a:ext uri="{FF2B5EF4-FFF2-40B4-BE49-F238E27FC236}">
                <a16:creationId xmlns:a16="http://schemas.microsoft.com/office/drawing/2014/main" id="{B64B9D78-6EAA-7658-9A88-9395EF21708F}"/>
              </a:ext>
            </a:extLst>
          </p:cNvPr>
          <p:cNvPicPr>
            <a:picLocks noChangeAspect="1"/>
          </p:cNvPicPr>
          <p:nvPr/>
        </p:nvPicPr>
        <p:blipFill>
          <a:blip r:embed="rId2"/>
          <a:srcRect l="257" t="631" r="51555" b="9020"/>
          <a:stretch/>
        </p:blipFill>
        <p:spPr>
          <a:xfrm>
            <a:off x="7526226" y="1511012"/>
            <a:ext cx="2521527" cy="2565942"/>
          </a:xfrm>
          <a:prstGeom prst="rect">
            <a:avLst/>
          </a:prstGeom>
        </p:spPr>
      </p:pic>
      <p:pic>
        <p:nvPicPr>
          <p:cNvPr id="13" name="图片 12">
            <a:extLst>
              <a:ext uri="{FF2B5EF4-FFF2-40B4-BE49-F238E27FC236}">
                <a16:creationId xmlns:a16="http://schemas.microsoft.com/office/drawing/2014/main" id="{F9294C0E-29A5-6D8E-294A-C22B32586138}"/>
              </a:ext>
            </a:extLst>
          </p:cNvPr>
          <p:cNvPicPr>
            <a:picLocks noChangeAspect="1"/>
          </p:cNvPicPr>
          <p:nvPr/>
        </p:nvPicPr>
        <p:blipFill>
          <a:blip r:embed="rId2"/>
          <a:srcRect l="51406" t="51082" r="834" b="9277"/>
          <a:stretch/>
        </p:blipFill>
        <p:spPr>
          <a:xfrm>
            <a:off x="7526226" y="4751627"/>
            <a:ext cx="3463637" cy="1560301"/>
          </a:xfrm>
          <a:prstGeom prst="rect">
            <a:avLst/>
          </a:prstGeom>
        </p:spPr>
      </p:pic>
      <p:sp>
        <p:nvSpPr>
          <p:cNvPr id="15" name="文本框 14">
            <a:extLst>
              <a:ext uri="{FF2B5EF4-FFF2-40B4-BE49-F238E27FC236}">
                <a16:creationId xmlns:a16="http://schemas.microsoft.com/office/drawing/2014/main" id="{65E5E16F-8A94-03BE-12CC-E0D34FC4949B}"/>
              </a:ext>
            </a:extLst>
          </p:cNvPr>
          <p:cNvSpPr txBox="1"/>
          <p:nvPr/>
        </p:nvSpPr>
        <p:spPr>
          <a:xfrm>
            <a:off x="7526226" y="1243436"/>
            <a:ext cx="941771" cy="307777"/>
          </a:xfrm>
          <a:prstGeom prst="rect">
            <a:avLst/>
          </a:prstGeom>
          <a:noFill/>
        </p:spPr>
        <p:txBody>
          <a:bodyPr wrap="square">
            <a:spAutoFit/>
          </a:bodyPr>
          <a:lstStyle/>
          <a:p>
            <a:r>
              <a:rPr lang="en-US" altLang="zh-CN" sz="1400" dirty="0">
                <a:solidFill>
                  <a:schemeClr val="bg1"/>
                </a:solidFill>
                <a:latin typeface="Segoe UI" panose="020B0502040204020203" pitchFamily="34" charset="0"/>
                <a:cs typeface="Segoe UI" panose="020B0502040204020203" pitchFamily="34" charset="0"/>
              </a:rPr>
              <a:t>Top View</a:t>
            </a:r>
            <a:endParaRPr lang="zh-CN" altLang="en-US" sz="1400" dirty="0">
              <a:solidFill>
                <a:schemeClr val="bg1"/>
              </a:solidFill>
              <a:latin typeface="Segoe UI" panose="020B0502040204020203" pitchFamily="34" charset="0"/>
              <a:cs typeface="Segoe UI" panose="020B0502040204020203" pitchFamily="34" charset="0"/>
            </a:endParaRPr>
          </a:p>
        </p:txBody>
      </p:sp>
      <p:sp>
        <p:nvSpPr>
          <p:cNvPr id="16" name="文本框 15">
            <a:extLst>
              <a:ext uri="{FF2B5EF4-FFF2-40B4-BE49-F238E27FC236}">
                <a16:creationId xmlns:a16="http://schemas.microsoft.com/office/drawing/2014/main" id="{79E223AE-7EF4-EE18-3263-DCD46148FF71}"/>
              </a:ext>
            </a:extLst>
          </p:cNvPr>
          <p:cNvSpPr txBox="1"/>
          <p:nvPr/>
        </p:nvSpPr>
        <p:spPr>
          <a:xfrm>
            <a:off x="7526226" y="4443850"/>
            <a:ext cx="1080316" cy="307777"/>
          </a:xfrm>
          <a:prstGeom prst="rect">
            <a:avLst/>
          </a:prstGeom>
          <a:noFill/>
        </p:spPr>
        <p:txBody>
          <a:bodyPr wrap="square">
            <a:spAutoFit/>
          </a:bodyPr>
          <a:lstStyle/>
          <a:p>
            <a:r>
              <a:rPr lang="en-US" altLang="zh-CN" sz="1400" dirty="0">
                <a:solidFill>
                  <a:schemeClr val="bg1"/>
                </a:solidFill>
                <a:latin typeface="Segoe UI" panose="020B0502040204020203" pitchFamily="34" charset="0"/>
                <a:cs typeface="Segoe UI" panose="020B0502040204020203" pitchFamily="34" charset="0"/>
              </a:rPr>
              <a:t>Side View</a:t>
            </a:r>
            <a:endParaRPr lang="zh-CN" altLang="en-US" sz="1400" dirty="0">
              <a:solidFill>
                <a:schemeClr val="bg1"/>
              </a:solidFill>
              <a:latin typeface="Segoe UI" panose="020B0502040204020203" pitchFamily="34" charset="0"/>
              <a:cs typeface="Segoe UI" panose="020B0502040204020203" pitchFamily="34" charset="0"/>
            </a:endParaRPr>
          </a:p>
        </p:txBody>
      </p:sp>
      <p:pic>
        <p:nvPicPr>
          <p:cNvPr id="18" name="图片 17">
            <a:extLst>
              <a:ext uri="{FF2B5EF4-FFF2-40B4-BE49-F238E27FC236}">
                <a16:creationId xmlns:a16="http://schemas.microsoft.com/office/drawing/2014/main" id="{5F222467-9BBA-98A9-B46E-9C8CA66D8263}"/>
              </a:ext>
            </a:extLst>
          </p:cNvPr>
          <p:cNvPicPr>
            <a:picLocks noChangeAspect="1"/>
          </p:cNvPicPr>
          <p:nvPr/>
        </p:nvPicPr>
        <p:blipFill>
          <a:blip r:embed="rId3"/>
          <a:srcRect r="1447"/>
          <a:stretch/>
        </p:blipFill>
        <p:spPr>
          <a:xfrm>
            <a:off x="10165788" y="2685953"/>
            <a:ext cx="1745225" cy="1388620"/>
          </a:xfrm>
          <a:prstGeom prst="rect">
            <a:avLst/>
          </a:prstGeom>
        </p:spPr>
      </p:pic>
    </p:spTree>
    <p:extLst>
      <p:ext uri="{BB962C8B-B14F-4D97-AF65-F5344CB8AC3E}">
        <p14:creationId xmlns:p14="http://schemas.microsoft.com/office/powerpoint/2010/main" val="1532336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F9154A-19E3-8697-3211-C823CCC5706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4639F1E-44F9-0492-324E-31D5596F802C}"/>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ADAPTATION PROCESS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6" name="矩形 5">
            <a:extLst>
              <a:ext uri="{FF2B5EF4-FFF2-40B4-BE49-F238E27FC236}">
                <a16:creationId xmlns:a16="http://schemas.microsoft.com/office/drawing/2014/main" id="{2F4290B6-A6B3-5500-74FD-B4F3E399E098}"/>
              </a:ext>
            </a:extLst>
          </p:cNvPr>
          <p:cNvSpPr/>
          <p:nvPr/>
        </p:nvSpPr>
        <p:spPr>
          <a:xfrm>
            <a:off x="280987" y="1243436"/>
            <a:ext cx="4157663" cy="3714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64C5ECC4-F217-482B-8323-2B0DF5184907}"/>
              </a:ext>
            </a:extLst>
          </p:cNvPr>
          <p:cNvSpPr txBox="1"/>
          <p:nvPr/>
        </p:nvSpPr>
        <p:spPr>
          <a:xfrm>
            <a:off x="431276" y="1337912"/>
            <a:ext cx="3857084" cy="297517"/>
          </a:xfrm>
          <a:prstGeom prst="rect">
            <a:avLst/>
          </a:prstGeom>
          <a:noFill/>
        </p:spPr>
        <p:txBody>
          <a:bodyPr wrap="square" rtlCol="0">
            <a:spAutoFit/>
          </a:bodyPr>
          <a:lstStyle/>
          <a:p>
            <a:pPr algn="ctr"/>
            <a:r>
              <a:rPr lang="en-US" altLang="zh-CN" sz="2000" b="0" i="0" u="none" strike="noStrike" baseline="30000" dirty="0">
                <a:solidFill>
                  <a:srgbClr val="FFFFFF"/>
                </a:solidFill>
                <a:latin typeface="Segoe UI Semibold" panose="020B0702040204020203" pitchFamily="34" charset="0"/>
              </a:rPr>
              <a:t>Green Space Layout Adaptation</a:t>
            </a:r>
          </a:p>
        </p:txBody>
      </p:sp>
      <p:sp>
        <p:nvSpPr>
          <p:cNvPr id="10" name="文本框 9">
            <a:extLst>
              <a:ext uri="{FF2B5EF4-FFF2-40B4-BE49-F238E27FC236}">
                <a16:creationId xmlns:a16="http://schemas.microsoft.com/office/drawing/2014/main" id="{5C1BFC09-8CC8-66AD-6EE9-3FCF3642A453}"/>
              </a:ext>
            </a:extLst>
          </p:cNvPr>
          <p:cNvSpPr txBox="1"/>
          <p:nvPr/>
        </p:nvSpPr>
        <p:spPr>
          <a:xfrm>
            <a:off x="280987" y="1954491"/>
            <a:ext cx="4436270" cy="3381888"/>
          </a:xfrm>
          <a:prstGeom prst="rect">
            <a:avLst/>
          </a:prstGeom>
          <a:noFill/>
        </p:spPr>
        <p:txBody>
          <a:bodyPr wrap="square" rtlCol="0">
            <a:spAutoFit/>
          </a:bodyPr>
          <a:lstStyle/>
          <a:p>
            <a:pPr marL="285750" marR="0" indent="-285750" algn="l" rtl="0">
              <a:lnSpc>
                <a:spcPct val="150000"/>
              </a:lnSpc>
              <a:buFont typeface="Wingdings" panose="05000000000000000000" pitchFamily="2" charset="2"/>
              <a:buChar char="Ø"/>
            </a:pPr>
            <a:r>
              <a:rPr lang="en-US" altLang="zh-CN" b="0" i="0" u="none" strike="noStrike" baseline="30000" dirty="0">
                <a:solidFill>
                  <a:schemeClr val="bg1"/>
                </a:solidFill>
                <a:latin typeface="Segoe UI" panose="020B0502040204020203" pitchFamily="34" charset="0"/>
              </a:rPr>
              <a:t>Through iterative optimization, the green space layout gradually adapts to the spatial needs of the community environment. </a:t>
            </a:r>
          </a:p>
          <a:p>
            <a:pPr marL="285750" marR="0" indent="-285750" algn="l" rtl="0">
              <a:lnSpc>
                <a:spcPct val="150000"/>
              </a:lnSpc>
              <a:buFont typeface="Wingdings" panose="05000000000000000000" pitchFamily="2" charset="2"/>
              <a:buChar char="Ø"/>
            </a:pPr>
            <a:r>
              <a:rPr lang="en-US" altLang="zh-CN" b="0" i="0" u="none" strike="noStrike" baseline="30000" dirty="0">
                <a:solidFill>
                  <a:schemeClr val="bg1"/>
                </a:solidFill>
                <a:latin typeface="Segoe UI" panose="020B0502040204020203" pitchFamily="34" charset="0"/>
              </a:rPr>
              <a:t>From the initial random distribution to the final optimized state, the layout evolves into a more balanced pattern along pedestrian paths.</a:t>
            </a:r>
          </a:p>
          <a:p>
            <a:pPr marL="285750" marR="0" indent="-285750" algn="l" rtl="0">
              <a:lnSpc>
                <a:spcPct val="150000"/>
              </a:lnSpc>
              <a:buFont typeface="Wingdings" panose="05000000000000000000" pitchFamily="2" charset="2"/>
              <a:buChar char="Ø"/>
            </a:pPr>
            <a:r>
              <a:rPr lang="en-US" altLang="zh-CN" b="0" i="0" u="none" strike="noStrike" baseline="30000" dirty="0">
                <a:solidFill>
                  <a:schemeClr val="bg1"/>
                </a:solidFill>
                <a:latin typeface="Segoe UI" panose="020B0502040204020203" pitchFamily="34" charset="0"/>
              </a:rPr>
              <a:t>The system dynamically balances two competing objectives—green view improvement and area equality—meeting both perceptual experience needs and planning requirements.</a:t>
            </a:r>
          </a:p>
          <a:p>
            <a:pPr marL="285750" marR="0" indent="-285750" algn="l" rtl="0">
              <a:lnSpc>
                <a:spcPct val="150000"/>
              </a:lnSpc>
              <a:buFont typeface="Wingdings" panose="05000000000000000000" pitchFamily="2" charset="2"/>
              <a:buChar char="Ø"/>
            </a:pPr>
            <a:r>
              <a:rPr lang="en-US" altLang="zh-CN" b="0" i="0" u="none" strike="noStrike" baseline="30000" dirty="0">
                <a:solidFill>
                  <a:schemeClr val="bg1"/>
                </a:solidFill>
                <a:latin typeface="Segoe UI" panose="020B0502040204020203" pitchFamily="34" charset="0"/>
              </a:rPr>
              <a:t>Each region receives a reasonable allocation of green spaces, avoiding uneven distribution issues.</a:t>
            </a:r>
          </a:p>
        </p:txBody>
      </p:sp>
      <p:pic>
        <p:nvPicPr>
          <p:cNvPr id="20" name="图片 19">
            <a:extLst>
              <a:ext uri="{FF2B5EF4-FFF2-40B4-BE49-F238E27FC236}">
                <a16:creationId xmlns:a16="http://schemas.microsoft.com/office/drawing/2014/main" id="{A008EC05-EF7A-D36B-A614-9878E02DAA29}"/>
              </a:ext>
            </a:extLst>
          </p:cNvPr>
          <p:cNvPicPr>
            <a:picLocks noChangeAspect="1"/>
          </p:cNvPicPr>
          <p:nvPr/>
        </p:nvPicPr>
        <p:blipFill>
          <a:blip r:embed="rId2"/>
          <a:stretch>
            <a:fillRect/>
          </a:stretch>
        </p:blipFill>
        <p:spPr>
          <a:xfrm>
            <a:off x="4809858" y="1903996"/>
            <a:ext cx="2369083" cy="3381888"/>
          </a:xfrm>
          <a:prstGeom prst="rect">
            <a:avLst/>
          </a:prstGeom>
        </p:spPr>
      </p:pic>
      <p:pic>
        <p:nvPicPr>
          <p:cNvPr id="22" name="图片 21">
            <a:extLst>
              <a:ext uri="{FF2B5EF4-FFF2-40B4-BE49-F238E27FC236}">
                <a16:creationId xmlns:a16="http://schemas.microsoft.com/office/drawing/2014/main" id="{3A1F48BF-9D3B-BADD-A428-0195D53FBC93}"/>
              </a:ext>
            </a:extLst>
          </p:cNvPr>
          <p:cNvPicPr>
            <a:picLocks noChangeAspect="1"/>
          </p:cNvPicPr>
          <p:nvPr/>
        </p:nvPicPr>
        <p:blipFill>
          <a:blip r:embed="rId3"/>
          <a:srcRect r="1517"/>
          <a:stretch/>
        </p:blipFill>
        <p:spPr>
          <a:xfrm>
            <a:off x="7223413" y="1943578"/>
            <a:ext cx="2399755" cy="3381888"/>
          </a:xfrm>
          <a:prstGeom prst="rect">
            <a:avLst/>
          </a:prstGeom>
        </p:spPr>
      </p:pic>
      <p:pic>
        <p:nvPicPr>
          <p:cNvPr id="24" name="图片 23">
            <a:extLst>
              <a:ext uri="{FF2B5EF4-FFF2-40B4-BE49-F238E27FC236}">
                <a16:creationId xmlns:a16="http://schemas.microsoft.com/office/drawing/2014/main" id="{CA7BB0F6-9943-17DC-2ECC-41AFB68C69A0}"/>
              </a:ext>
            </a:extLst>
          </p:cNvPr>
          <p:cNvPicPr>
            <a:picLocks noChangeAspect="1"/>
          </p:cNvPicPr>
          <p:nvPr/>
        </p:nvPicPr>
        <p:blipFill>
          <a:blip r:embed="rId4"/>
          <a:srcRect l="1986" r="7379" b="6279"/>
          <a:stretch/>
        </p:blipFill>
        <p:spPr>
          <a:xfrm>
            <a:off x="9631820" y="1869561"/>
            <a:ext cx="2401450" cy="3503209"/>
          </a:xfrm>
          <a:prstGeom prst="rect">
            <a:avLst/>
          </a:prstGeom>
        </p:spPr>
      </p:pic>
    </p:spTree>
    <p:extLst>
      <p:ext uri="{BB962C8B-B14F-4D97-AF65-F5344CB8AC3E}">
        <p14:creationId xmlns:p14="http://schemas.microsoft.com/office/powerpoint/2010/main" val="2419778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A9D2F8-1717-D9D4-D38F-307C9EA39BF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20B21C4-4A00-D68E-9C0D-FEA028E27E7D}"/>
              </a:ext>
            </a:extLst>
          </p:cNvPr>
          <p:cNvSpPr txBox="1"/>
          <p:nvPr/>
        </p:nvSpPr>
        <p:spPr>
          <a:xfrm>
            <a:off x="3588926" y="214556"/>
            <a:ext cx="5924550"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BEFORE AND AFTER OPTIMISATION</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9" name="图片 8" descr="游戏机里面的人物&#10;&#10;AI 生成的内容可能不正确。">
            <a:extLst>
              <a:ext uri="{FF2B5EF4-FFF2-40B4-BE49-F238E27FC236}">
                <a16:creationId xmlns:a16="http://schemas.microsoft.com/office/drawing/2014/main" id="{922A2A0F-1C0F-F023-10C8-23ADDC3DE721}"/>
              </a:ext>
            </a:extLst>
          </p:cNvPr>
          <p:cNvPicPr>
            <a:picLocks noChangeAspect="1"/>
          </p:cNvPicPr>
          <p:nvPr/>
        </p:nvPicPr>
        <p:blipFill>
          <a:blip r:embed="rId2">
            <a:extLst>
              <a:ext uri="{28A0092B-C50C-407E-A947-70E740481C1C}">
                <a14:useLocalDpi xmlns:a14="http://schemas.microsoft.com/office/drawing/2010/main" val="0"/>
              </a:ext>
            </a:extLst>
          </a:blip>
          <a:srcRect l="16894" t="7572" r="21969" b="6869"/>
          <a:stretch/>
        </p:blipFill>
        <p:spPr>
          <a:xfrm>
            <a:off x="424874" y="1523700"/>
            <a:ext cx="3615438" cy="2846065"/>
          </a:xfrm>
          <a:prstGeom prst="rect">
            <a:avLst/>
          </a:prstGeom>
        </p:spPr>
      </p:pic>
      <p:sp>
        <p:nvSpPr>
          <p:cNvPr id="11" name="文本框 10">
            <a:extLst>
              <a:ext uri="{FF2B5EF4-FFF2-40B4-BE49-F238E27FC236}">
                <a16:creationId xmlns:a16="http://schemas.microsoft.com/office/drawing/2014/main" id="{BF70D20B-1807-E75E-81E8-45A92F0EF2EE}"/>
              </a:ext>
            </a:extLst>
          </p:cNvPr>
          <p:cNvSpPr txBox="1"/>
          <p:nvPr/>
        </p:nvSpPr>
        <p:spPr>
          <a:xfrm>
            <a:off x="323274" y="1062182"/>
            <a:ext cx="3265652" cy="297517"/>
          </a:xfrm>
          <a:prstGeom prst="rect">
            <a:avLst/>
          </a:prstGeom>
          <a:noFill/>
        </p:spPr>
        <p:txBody>
          <a:bodyPr wrap="square" rtlCol="0">
            <a:spAutoFit/>
          </a:bodyPr>
          <a:lstStyle/>
          <a:p>
            <a:pPr algn="ctr"/>
            <a:r>
              <a:rPr lang="en-US" altLang="zh-CN" sz="2000" b="0" i="0" u="none" strike="noStrike" baseline="30000" dirty="0">
                <a:solidFill>
                  <a:schemeClr val="bg1"/>
                </a:solidFill>
                <a:latin typeface="Segoe UI Semibold" panose="020B0702040204020203" pitchFamily="34" charset="0"/>
              </a:rPr>
              <a:t>Current Status Of The Site</a:t>
            </a:r>
          </a:p>
        </p:txBody>
      </p:sp>
      <p:sp>
        <p:nvSpPr>
          <p:cNvPr id="12" name="文本框 11">
            <a:extLst>
              <a:ext uri="{FF2B5EF4-FFF2-40B4-BE49-F238E27FC236}">
                <a16:creationId xmlns:a16="http://schemas.microsoft.com/office/drawing/2014/main" id="{D18BDF3B-9614-A7AB-72A8-79B88A1BFE67}"/>
              </a:ext>
            </a:extLst>
          </p:cNvPr>
          <p:cNvSpPr txBox="1"/>
          <p:nvPr/>
        </p:nvSpPr>
        <p:spPr>
          <a:xfrm>
            <a:off x="5751837" y="1062181"/>
            <a:ext cx="3616035" cy="297517"/>
          </a:xfrm>
          <a:prstGeom prst="rect">
            <a:avLst/>
          </a:prstGeom>
          <a:noFill/>
        </p:spPr>
        <p:txBody>
          <a:bodyPr wrap="square" rtlCol="0">
            <a:spAutoFit/>
          </a:bodyPr>
          <a:lstStyle/>
          <a:p>
            <a:pPr algn="ctr"/>
            <a:r>
              <a:rPr lang="en-US" altLang="zh-CN" sz="2000" b="0" i="0" u="none" strike="noStrike" baseline="30000" dirty="0">
                <a:solidFill>
                  <a:schemeClr val="bg1"/>
                </a:solidFill>
                <a:latin typeface="Segoe UI Semibold" panose="020B0702040204020203" pitchFamily="34" charset="0"/>
              </a:rPr>
              <a:t>Optimized Green Space Layout</a:t>
            </a:r>
          </a:p>
        </p:txBody>
      </p:sp>
      <p:pic>
        <p:nvPicPr>
          <p:cNvPr id="14" name="图片 13" descr="电脑萤幕画面&#10;&#10;AI 生成的内容可能不正确。">
            <a:extLst>
              <a:ext uri="{FF2B5EF4-FFF2-40B4-BE49-F238E27FC236}">
                <a16:creationId xmlns:a16="http://schemas.microsoft.com/office/drawing/2014/main" id="{29CB0609-AEC0-A2AB-3AE2-0E82DB412BF0}"/>
              </a:ext>
            </a:extLst>
          </p:cNvPr>
          <p:cNvPicPr>
            <a:picLocks noChangeAspect="1"/>
          </p:cNvPicPr>
          <p:nvPr/>
        </p:nvPicPr>
        <p:blipFill>
          <a:blip r:embed="rId3">
            <a:extLst>
              <a:ext uri="{28A0092B-C50C-407E-A947-70E740481C1C}">
                <a14:useLocalDpi xmlns:a14="http://schemas.microsoft.com/office/drawing/2010/main" val="0"/>
              </a:ext>
            </a:extLst>
          </a:blip>
          <a:srcRect l="19243" t="9201" r="21591" b="8934"/>
          <a:stretch/>
        </p:blipFill>
        <p:spPr>
          <a:xfrm>
            <a:off x="4816774" y="1359698"/>
            <a:ext cx="5334476" cy="4151750"/>
          </a:xfrm>
          <a:prstGeom prst="rect">
            <a:avLst/>
          </a:prstGeom>
        </p:spPr>
      </p:pic>
      <p:sp>
        <p:nvSpPr>
          <p:cNvPr id="15" name="文本框 14">
            <a:extLst>
              <a:ext uri="{FF2B5EF4-FFF2-40B4-BE49-F238E27FC236}">
                <a16:creationId xmlns:a16="http://schemas.microsoft.com/office/drawing/2014/main" id="{6F2045E0-4EE1-0064-B12E-6321F5874571}"/>
              </a:ext>
            </a:extLst>
          </p:cNvPr>
          <p:cNvSpPr txBox="1"/>
          <p:nvPr/>
        </p:nvSpPr>
        <p:spPr>
          <a:xfrm>
            <a:off x="424874" y="4536019"/>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Visibility: 0.753</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6" name="文本框 15">
            <a:extLst>
              <a:ext uri="{FF2B5EF4-FFF2-40B4-BE49-F238E27FC236}">
                <a16:creationId xmlns:a16="http://schemas.microsoft.com/office/drawing/2014/main" id="{356FDF34-5C7F-C273-F5D2-D5D5FC513A8A}"/>
              </a:ext>
            </a:extLst>
          </p:cNvPr>
          <p:cNvSpPr txBox="1"/>
          <p:nvPr/>
        </p:nvSpPr>
        <p:spPr>
          <a:xfrm>
            <a:off x="424874" y="4813018"/>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Area: 2488.193</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7" name="文本框 16">
            <a:extLst>
              <a:ext uri="{FF2B5EF4-FFF2-40B4-BE49-F238E27FC236}">
                <a16:creationId xmlns:a16="http://schemas.microsoft.com/office/drawing/2014/main" id="{4C22CFC6-D7D7-327E-7439-95A713A6FBC4}"/>
              </a:ext>
            </a:extLst>
          </p:cNvPr>
          <p:cNvSpPr txBox="1"/>
          <p:nvPr/>
        </p:nvSpPr>
        <p:spPr>
          <a:xfrm>
            <a:off x="2159310" y="4536019"/>
            <a:ext cx="1483034"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Planned Area: 6476</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8" name="文本框 17">
            <a:extLst>
              <a:ext uri="{FF2B5EF4-FFF2-40B4-BE49-F238E27FC236}">
                <a16:creationId xmlns:a16="http://schemas.microsoft.com/office/drawing/2014/main" id="{7E2650A3-C496-1764-EAFB-8F24930F256D}"/>
              </a:ext>
            </a:extLst>
          </p:cNvPr>
          <p:cNvSpPr txBox="1"/>
          <p:nvPr/>
        </p:nvSpPr>
        <p:spPr>
          <a:xfrm>
            <a:off x="2159309" y="4813017"/>
            <a:ext cx="1915947"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Area Difference: 3987.806</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19" name="文本框 18">
            <a:extLst>
              <a:ext uri="{FF2B5EF4-FFF2-40B4-BE49-F238E27FC236}">
                <a16:creationId xmlns:a16="http://schemas.microsoft.com/office/drawing/2014/main" id="{25554306-B41B-1DD4-06EB-DEEB4DC80AD7}"/>
              </a:ext>
            </a:extLst>
          </p:cNvPr>
          <p:cNvSpPr txBox="1"/>
          <p:nvPr/>
        </p:nvSpPr>
        <p:spPr>
          <a:xfrm>
            <a:off x="10151250" y="4536019"/>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Visibility: 0.972</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21" name="文本框 20">
            <a:extLst>
              <a:ext uri="{FF2B5EF4-FFF2-40B4-BE49-F238E27FC236}">
                <a16:creationId xmlns:a16="http://schemas.microsoft.com/office/drawing/2014/main" id="{6996CEDE-A069-4BB1-1EC4-C7EB20EFAC0C}"/>
              </a:ext>
            </a:extLst>
          </p:cNvPr>
          <p:cNvSpPr txBox="1"/>
          <p:nvPr/>
        </p:nvSpPr>
        <p:spPr>
          <a:xfrm>
            <a:off x="10151250" y="4813018"/>
            <a:ext cx="1699491"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Green Area: 5239.824</a:t>
            </a:r>
            <a:endParaRPr lang="zh-CN" altLang="en-US" sz="1200" dirty="0">
              <a:solidFill>
                <a:schemeClr val="bg1"/>
              </a:solidFill>
              <a:latin typeface="Segoe UI" panose="020B0502040204020203" pitchFamily="34" charset="0"/>
              <a:cs typeface="Segoe UI" panose="020B0502040204020203" pitchFamily="34" charset="0"/>
            </a:endParaRPr>
          </a:p>
        </p:txBody>
      </p:sp>
      <p:sp>
        <p:nvSpPr>
          <p:cNvPr id="25" name="文本框 24">
            <a:extLst>
              <a:ext uri="{FF2B5EF4-FFF2-40B4-BE49-F238E27FC236}">
                <a16:creationId xmlns:a16="http://schemas.microsoft.com/office/drawing/2014/main" id="{52FB9C49-54A0-CFD8-15ED-CC82C428BFBE}"/>
              </a:ext>
            </a:extLst>
          </p:cNvPr>
          <p:cNvSpPr txBox="1"/>
          <p:nvPr/>
        </p:nvSpPr>
        <p:spPr>
          <a:xfrm>
            <a:off x="10151250" y="5090017"/>
            <a:ext cx="1915947" cy="276999"/>
          </a:xfrm>
          <a:prstGeom prst="rect">
            <a:avLst/>
          </a:prstGeom>
          <a:noFill/>
        </p:spPr>
        <p:txBody>
          <a:bodyPr wrap="square" rtlCol="0">
            <a:spAutoFit/>
          </a:bodyPr>
          <a:lstStyle/>
          <a:p>
            <a:r>
              <a:rPr lang="en-US" altLang="zh-CN" sz="1200" dirty="0">
                <a:solidFill>
                  <a:schemeClr val="bg1"/>
                </a:solidFill>
                <a:latin typeface="Segoe UI" panose="020B0502040204020203" pitchFamily="34" charset="0"/>
                <a:cs typeface="Segoe UI" panose="020B0502040204020203" pitchFamily="34" charset="0"/>
              </a:rPr>
              <a:t>Area Difference: 1236.175</a:t>
            </a:r>
            <a:endParaRPr lang="zh-CN" altLang="en-US" sz="12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27578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5C4257-FACB-0571-02FE-24B15AED1A2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3761724-BF48-D06B-E06F-FF54A660A55A}"/>
              </a:ext>
            </a:extLst>
          </p:cNvPr>
          <p:cNvSpPr txBox="1"/>
          <p:nvPr/>
        </p:nvSpPr>
        <p:spPr>
          <a:xfrm>
            <a:off x="3509818" y="214556"/>
            <a:ext cx="6003658"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INBETWEEN GENERATED RESULTS COMPARISONS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7BBC3AD7-8CE9-1BD6-1278-267AF7D803CA}"/>
              </a:ext>
            </a:extLst>
          </p:cNvPr>
          <p:cNvPicPr>
            <a:picLocks noChangeAspect="1"/>
          </p:cNvPicPr>
          <p:nvPr/>
        </p:nvPicPr>
        <p:blipFill>
          <a:blip r:embed="rId2"/>
          <a:srcRect r="644"/>
          <a:stretch/>
        </p:blipFill>
        <p:spPr>
          <a:xfrm>
            <a:off x="822014" y="841295"/>
            <a:ext cx="10686496" cy="5802149"/>
          </a:xfrm>
          <a:prstGeom prst="rect">
            <a:avLst/>
          </a:prstGeom>
        </p:spPr>
      </p:pic>
    </p:spTree>
    <p:extLst>
      <p:ext uri="{BB962C8B-B14F-4D97-AF65-F5344CB8AC3E}">
        <p14:creationId xmlns:p14="http://schemas.microsoft.com/office/powerpoint/2010/main" val="3631682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03C5B8-31DE-B2FF-7F03-D2454FEBDEB4}"/>
            </a:ext>
          </a:extLst>
        </p:cNvPr>
        <p:cNvGrpSpPr/>
        <p:nvPr/>
      </p:nvGrpSpPr>
      <p:grpSpPr>
        <a:xfrm>
          <a:off x="0" y="0"/>
          <a:ext cx="0" cy="0"/>
          <a:chOff x="0" y="0"/>
          <a:chExt cx="0" cy="0"/>
        </a:xfrm>
      </p:grpSpPr>
      <p:pic>
        <p:nvPicPr>
          <p:cNvPr id="2" name="布局优化">
            <a:hlinkClick r:id="" action="ppaction://media"/>
            <a:extLst>
              <a:ext uri="{FF2B5EF4-FFF2-40B4-BE49-F238E27FC236}">
                <a16:creationId xmlns:a16="http://schemas.microsoft.com/office/drawing/2014/main" id="{206BBD7D-7D32-9AB9-AE17-3D83147CCAE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51709" y="998668"/>
            <a:ext cx="9837173" cy="5082540"/>
          </a:xfrm>
          <a:prstGeom prst="rect">
            <a:avLst/>
          </a:prstGeom>
        </p:spPr>
      </p:pic>
      <p:sp>
        <p:nvSpPr>
          <p:cNvPr id="3" name="文本框 2">
            <a:extLst>
              <a:ext uri="{FF2B5EF4-FFF2-40B4-BE49-F238E27FC236}">
                <a16:creationId xmlns:a16="http://schemas.microsoft.com/office/drawing/2014/main" id="{8B1616B5-23BF-BED1-FE9C-DACDD60CD3FD}"/>
              </a:ext>
            </a:extLst>
          </p:cNvPr>
          <p:cNvSpPr txBox="1"/>
          <p:nvPr/>
        </p:nvSpPr>
        <p:spPr>
          <a:xfrm>
            <a:off x="3509818" y="214556"/>
            <a:ext cx="6003658"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EVALUATE SOLUTIONS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pic>
        <p:nvPicPr>
          <p:cNvPr id="5" name="图片 4">
            <a:extLst>
              <a:ext uri="{FF2B5EF4-FFF2-40B4-BE49-F238E27FC236}">
                <a16:creationId xmlns:a16="http://schemas.microsoft.com/office/drawing/2014/main" id="{CC9CF0D9-48A9-CD07-12DB-0965EEB817D4}"/>
              </a:ext>
            </a:extLst>
          </p:cNvPr>
          <p:cNvPicPr>
            <a:picLocks noChangeAspect="1"/>
          </p:cNvPicPr>
          <p:nvPr/>
        </p:nvPicPr>
        <p:blipFill>
          <a:blip r:embed="rId5"/>
          <a:srcRect t="3213" r="67197"/>
          <a:stretch/>
        </p:blipFill>
        <p:spPr>
          <a:xfrm>
            <a:off x="6822098" y="1068844"/>
            <a:ext cx="3187865" cy="2471094"/>
          </a:xfrm>
          <a:prstGeom prst="rect">
            <a:avLst/>
          </a:prstGeom>
        </p:spPr>
      </p:pic>
      <p:pic>
        <p:nvPicPr>
          <p:cNvPr id="7" name="图片 6">
            <a:extLst>
              <a:ext uri="{FF2B5EF4-FFF2-40B4-BE49-F238E27FC236}">
                <a16:creationId xmlns:a16="http://schemas.microsoft.com/office/drawing/2014/main" id="{271B9775-0421-191E-9B04-57059EF97558}"/>
              </a:ext>
            </a:extLst>
          </p:cNvPr>
          <p:cNvPicPr>
            <a:picLocks noChangeAspect="1"/>
          </p:cNvPicPr>
          <p:nvPr/>
        </p:nvPicPr>
        <p:blipFill>
          <a:blip r:embed="rId5"/>
          <a:srcRect l="49754" t="2018" r="17443" b="1195"/>
          <a:stretch/>
        </p:blipFill>
        <p:spPr>
          <a:xfrm>
            <a:off x="6822098" y="3920225"/>
            <a:ext cx="3187865" cy="2471094"/>
          </a:xfrm>
          <a:prstGeom prst="rect">
            <a:avLst/>
          </a:prstGeom>
        </p:spPr>
      </p:pic>
      <p:pic>
        <p:nvPicPr>
          <p:cNvPr id="9" name="图片 8">
            <a:extLst>
              <a:ext uri="{FF2B5EF4-FFF2-40B4-BE49-F238E27FC236}">
                <a16:creationId xmlns:a16="http://schemas.microsoft.com/office/drawing/2014/main" id="{1B820E40-C823-2FE5-41F7-3018CA0BC0DC}"/>
              </a:ext>
            </a:extLst>
          </p:cNvPr>
          <p:cNvPicPr>
            <a:picLocks noChangeAspect="1"/>
          </p:cNvPicPr>
          <p:nvPr/>
        </p:nvPicPr>
        <p:blipFill>
          <a:blip r:embed="rId6"/>
          <a:srcRect b="5026"/>
          <a:stretch/>
        </p:blipFill>
        <p:spPr>
          <a:xfrm>
            <a:off x="10009964" y="2690951"/>
            <a:ext cx="1930634" cy="738049"/>
          </a:xfrm>
          <a:prstGeom prst="rect">
            <a:avLst/>
          </a:prstGeom>
        </p:spPr>
      </p:pic>
      <p:pic>
        <p:nvPicPr>
          <p:cNvPr id="11" name="图片 10">
            <a:extLst>
              <a:ext uri="{FF2B5EF4-FFF2-40B4-BE49-F238E27FC236}">
                <a16:creationId xmlns:a16="http://schemas.microsoft.com/office/drawing/2014/main" id="{CDE39B6E-608F-34E9-ADDD-68C98BD7A27E}"/>
              </a:ext>
            </a:extLst>
          </p:cNvPr>
          <p:cNvPicPr>
            <a:picLocks noChangeAspect="1"/>
          </p:cNvPicPr>
          <p:nvPr/>
        </p:nvPicPr>
        <p:blipFill>
          <a:blip r:embed="rId7"/>
          <a:srcRect b="6325"/>
          <a:stretch/>
        </p:blipFill>
        <p:spPr>
          <a:xfrm>
            <a:off x="10009964" y="5534164"/>
            <a:ext cx="1930634" cy="738049"/>
          </a:xfrm>
          <a:prstGeom prst="rect">
            <a:avLst/>
          </a:prstGeom>
        </p:spPr>
      </p:pic>
    </p:spTree>
    <p:extLst>
      <p:ext uri="{BB962C8B-B14F-4D97-AF65-F5344CB8AC3E}">
        <p14:creationId xmlns:p14="http://schemas.microsoft.com/office/powerpoint/2010/main" val="252144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67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D9E31B-E27B-DE90-BFA8-62C4B1B5DAD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1B6D08C-40EB-1996-1306-F07F8D18746D}"/>
              </a:ext>
            </a:extLst>
          </p:cNvPr>
          <p:cNvSpPr txBox="1"/>
          <p:nvPr/>
        </p:nvSpPr>
        <p:spPr>
          <a:xfrm>
            <a:off x="3509818" y="214556"/>
            <a:ext cx="6003658"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FUTURE WORK &amp; LIMITATIONS</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
        <p:nvSpPr>
          <p:cNvPr id="2" name="文本框 1">
            <a:extLst>
              <a:ext uri="{FF2B5EF4-FFF2-40B4-BE49-F238E27FC236}">
                <a16:creationId xmlns:a16="http://schemas.microsoft.com/office/drawing/2014/main" id="{7BB21732-873A-856F-63D7-5E80EB38544C}"/>
              </a:ext>
            </a:extLst>
          </p:cNvPr>
          <p:cNvSpPr txBox="1"/>
          <p:nvPr/>
        </p:nvSpPr>
        <p:spPr>
          <a:xfrm>
            <a:off x="1300898" y="1348032"/>
            <a:ext cx="4986780" cy="369332"/>
          </a:xfrm>
          <a:prstGeom prst="rect">
            <a:avLst/>
          </a:prstGeom>
          <a:noFill/>
        </p:spPr>
        <p:txBody>
          <a:bodyPr wrap="square" rtlCol="0">
            <a:spAutoFit/>
          </a:bodyPr>
          <a:lstStyle/>
          <a:p>
            <a:r>
              <a:rPr lang="en-US" altLang="zh-CN" dirty="0">
                <a:solidFill>
                  <a:srgbClr val="6C4C9A"/>
                </a:solidFill>
                <a:latin typeface="Segoe UI Semibold" panose="020B0702040204020203" pitchFamily="34" charset="0"/>
                <a:cs typeface="Segoe UI Semibold" panose="020B0702040204020203" pitchFamily="34" charset="0"/>
              </a:rPr>
              <a:t>Lack of Parameter Calibration in View Analysis</a:t>
            </a:r>
            <a:endParaRPr lang="zh-CN" altLang="en-US" dirty="0">
              <a:solidFill>
                <a:srgbClr val="6C4C9A"/>
              </a:solidFill>
              <a:latin typeface="Segoe UI Semibold" panose="020B0702040204020203" pitchFamily="34" charset="0"/>
              <a:cs typeface="Segoe UI Semibold" panose="020B0702040204020203" pitchFamily="34" charset="0"/>
            </a:endParaRPr>
          </a:p>
        </p:txBody>
      </p:sp>
      <p:sp>
        <p:nvSpPr>
          <p:cNvPr id="4" name="文本框 3">
            <a:extLst>
              <a:ext uri="{FF2B5EF4-FFF2-40B4-BE49-F238E27FC236}">
                <a16:creationId xmlns:a16="http://schemas.microsoft.com/office/drawing/2014/main" id="{F448738E-90A9-BB47-39ED-0D521C37B391}"/>
              </a:ext>
            </a:extLst>
          </p:cNvPr>
          <p:cNvSpPr txBox="1"/>
          <p:nvPr/>
        </p:nvSpPr>
        <p:spPr>
          <a:xfrm>
            <a:off x="1297756" y="1948196"/>
            <a:ext cx="6400801" cy="369332"/>
          </a:xfrm>
          <a:prstGeom prst="rect">
            <a:avLst/>
          </a:prstGeom>
          <a:noFill/>
        </p:spPr>
        <p:txBody>
          <a:bodyPr wrap="square" rtlCol="0">
            <a:spAutoFit/>
          </a:bodyPr>
          <a:lstStyle/>
          <a:p>
            <a:r>
              <a:rPr lang="en-US" altLang="zh-CN" dirty="0">
                <a:solidFill>
                  <a:srgbClr val="6C4C9A"/>
                </a:solidFill>
                <a:latin typeface="Segoe UI Semibold" panose="020B0702040204020203" pitchFamily="34" charset="0"/>
                <a:cs typeface="Segoe UI Semibold" panose="020B0702040204020203" pitchFamily="34" charset="0"/>
              </a:rPr>
              <a:t>No Control Over Spatial Continuity or Shape of Green Areas</a:t>
            </a:r>
            <a:endParaRPr lang="zh-CN" altLang="en-US" dirty="0">
              <a:solidFill>
                <a:srgbClr val="6C4C9A"/>
              </a:solidFill>
              <a:latin typeface="Segoe UI Semibold" panose="020B0702040204020203" pitchFamily="34" charset="0"/>
              <a:cs typeface="Segoe UI Semibold" panose="020B0702040204020203" pitchFamily="34" charset="0"/>
            </a:endParaRPr>
          </a:p>
        </p:txBody>
      </p:sp>
      <p:sp>
        <p:nvSpPr>
          <p:cNvPr id="10" name="文本框 9">
            <a:extLst>
              <a:ext uri="{FF2B5EF4-FFF2-40B4-BE49-F238E27FC236}">
                <a16:creationId xmlns:a16="http://schemas.microsoft.com/office/drawing/2014/main" id="{C0207D83-0D34-DB4A-1B3F-EA8CD189209A}"/>
              </a:ext>
            </a:extLst>
          </p:cNvPr>
          <p:cNvSpPr txBox="1"/>
          <p:nvPr/>
        </p:nvSpPr>
        <p:spPr>
          <a:xfrm>
            <a:off x="1297757" y="3958662"/>
            <a:ext cx="10358534" cy="1569982"/>
          </a:xfrm>
          <a:prstGeom prst="rect">
            <a:avLst/>
          </a:prstGeom>
          <a:noFill/>
        </p:spPr>
        <p:txBody>
          <a:bodyPr wrap="square" rtlCol="0">
            <a:spAutoFit/>
          </a:bodyPr>
          <a:lstStyle/>
          <a:p>
            <a:pPr>
              <a:lnSpc>
                <a:spcPct val="150000"/>
              </a:lnSpc>
            </a:pPr>
            <a:r>
              <a:rPr lang="en-US" altLang="zh-CN" dirty="0">
                <a:solidFill>
                  <a:srgbClr val="6C4C9A"/>
                </a:solidFill>
                <a:latin typeface="Segoe UI Semibold" panose="020B0702040204020203" pitchFamily="34" charset="0"/>
                <a:cs typeface="Segoe UI Semibold" panose="020B0702040204020203" pitchFamily="34" charset="0"/>
              </a:rPr>
              <a:t>Limited Evaluation Dimensions: </a:t>
            </a:r>
          </a:p>
          <a:p>
            <a:pPr>
              <a:lnSpc>
                <a:spcPct val="150000"/>
              </a:lnSpc>
            </a:pPr>
            <a:r>
              <a:rPr lang="en-US" altLang="zh-CN" sz="1600" dirty="0">
                <a:solidFill>
                  <a:schemeClr val="bg1"/>
                </a:solidFill>
                <a:latin typeface="Segoe UI" panose="020B0502040204020203" pitchFamily="34" charset="0"/>
                <a:cs typeface="Segoe UI" panose="020B0502040204020203" pitchFamily="34" charset="0"/>
              </a:rPr>
              <a:t>The optimization currently considers only visual exposure and area compliance. Other important aspects such as accessibility usability, sunlight exposure, and acoustic buffering are not yet incorporated into the fitness evaluation.</a:t>
            </a:r>
            <a:endParaRPr lang="zh-CN" altLang="en-US" sz="1600" dirty="0">
              <a:solidFill>
                <a:schemeClr val="bg1"/>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CD15631D-4AC8-9181-D2BC-7AC815F21F40}"/>
              </a:ext>
            </a:extLst>
          </p:cNvPr>
          <p:cNvSpPr txBox="1"/>
          <p:nvPr/>
        </p:nvSpPr>
        <p:spPr>
          <a:xfrm>
            <a:off x="1297756" y="2548360"/>
            <a:ext cx="10358535" cy="1200650"/>
          </a:xfrm>
          <a:prstGeom prst="rect">
            <a:avLst/>
          </a:prstGeom>
          <a:noFill/>
        </p:spPr>
        <p:txBody>
          <a:bodyPr wrap="square" rtlCol="0">
            <a:spAutoFit/>
          </a:bodyPr>
          <a:lstStyle/>
          <a:p>
            <a:pPr>
              <a:lnSpc>
                <a:spcPct val="150000"/>
              </a:lnSpc>
            </a:pPr>
            <a:r>
              <a:rPr lang="en-US" altLang="zh-CN" dirty="0">
                <a:solidFill>
                  <a:srgbClr val="6C4C9A"/>
                </a:solidFill>
                <a:latin typeface="Segoe UI Semibold" panose="020B0702040204020203" pitchFamily="34" charset="0"/>
                <a:cs typeface="Segoe UI Semibold" panose="020B0702040204020203" pitchFamily="34" charset="0"/>
              </a:rPr>
              <a:t>No integration with Environmental or Behavioral Data: </a:t>
            </a:r>
          </a:p>
          <a:p>
            <a:pPr>
              <a:lnSpc>
                <a:spcPct val="150000"/>
              </a:lnSpc>
            </a:pPr>
            <a:r>
              <a:rPr lang="en-US" altLang="zh-CN" sz="1600" dirty="0">
                <a:solidFill>
                  <a:schemeClr val="bg1"/>
                </a:solidFill>
                <a:latin typeface="Segoe UI" panose="020B0502040204020203" pitchFamily="34" charset="0"/>
                <a:cs typeface="Segoe UI" panose="020B0502040204020203" pitchFamily="34" charset="0"/>
              </a:rPr>
              <a:t>The optimization is static and does not respond to external data such as sunlight, wind, or pedestrian movement, Future work could integrate real-time or context-aware inputs to enable adaptive green space planning</a:t>
            </a:r>
            <a:endParaRPr lang="zh-CN" altLang="en-US" sz="1600" dirty="0">
              <a:solidFill>
                <a:schemeClr val="bg1"/>
              </a:solidFill>
              <a:latin typeface="Segoe UI" panose="020B0502040204020203" pitchFamily="34" charset="0"/>
              <a:cs typeface="Segoe UI" panose="020B0502040204020203" pitchFamily="34" charset="0"/>
            </a:endParaRPr>
          </a:p>
        </p:txBody>
      </p:sp>
      <p:sp>
        <p:nvSpPr>
          <p:cNvPr id="12" name="椭圆 11">
            <a:extLst>
              <a:ext uri="{FF2B5EF4-FFF2-40B4-BE49-F238E27FC236}">
                <a16:creationId xmlns:a16="http://schemas.microsoft.com/office/drawing/2014/main" id="{CB036832-95F4-2B17-1EE7-DEF9BF4D2C77}"/>
              </a:ext>
            </a:extLst>
          </p:cNvPr>
          <p:cNvSpPr/>
          <p:nvPr/>
        </p:nvSpPr>
        <p:spPr>
          <a:xfrm>
            <a:off x="891423" y="1440460"/>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C1D0CD8-298A-9E36-0AB3-4481D09B153F}"/>
              </a:ext>
            </a:extLst>
          </p:cNvPr>
          <p:cNvSpPr/>
          <p:nvPr/>
        </p:nvSpPr>
        <p:spPr>
          <a:xfrm>
            <a:off x="891423" y="204199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89628BC-6563-D88C-C1A9-037B2B83CA62}"/>
              </a:ext>
            </a:extLst>
          </p:cNvPr>
          <p:cNvSpPr/>
          <p:nvPr/>
        </p:nvSpPr>
        <p:spPr>
          <a:xfrm>
            <a:off x="891423" y="272144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B37BC23-23FC-BC8B-C47D-2C38A2B7D671}"/>
              </a:ext>
            </a:extLst>
          </p:cNvPr>
          <p:cNvSpPr/>
          <p:nvPr/>
        </p:nvSpPr>
        <p:spPr>
          <a:xfrm>
            <a:off x="891423" y="4147658"/>
            <a:ext cx="207128" cy="207128"/>
          </a:xfrm>
          <a:prstGeom prst="ellipse">
            <a:avLst/>
          </a:prstGeom>
          <a:solidFill>
            <a:srgbClr val="6C4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7879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38543C-CDD4-197B-F0E6-977E4771CA3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0846A8D-1E94-68BB-BF18-1464849E9E57}"/>
              </a:ext>
            </a:extLst>
          </p:cNvPr>
          <p:cNvSpPr txBox="1"/>
          <p:nvPr/>
        </p:nvSpPr>
        <p:spPr>
          <a:xfrm>
            <a:off x="3325018" y="3105834"/>
            <a:ext cx="5541963" cy="646331"/>
          </a:xfrm>
          <a:prstGeom prst="rect">
            <a:avLst/>
          </a:prstGeom>
          <a:noFill/>
        </p:spPr>
        <p:txBody>
          <a:bodyPr wrap="square" rtlCol="0">
            <a:spAutoFit/>
          </a:bodyPr>
          <a:lstStyle/>
          <a:p>
            <a:pPr algn="ctr"/>
            <a:r>
              <a:rPr lang="en-US" altLang="zh-CN" sz="3600" dirty="0">
                <a:solidFill>
                  <a:schemeClr val="bg1"/>
                </a:solidFill>
                <a:latin typeface="Segoe UI Semibold" panose="020B0702040204020203" pitchFamily="34" charset="0"/>
                <a:ea typeface="Segoe UI Black" panose="020B0A02040204020203" pitchFamily="34" charset="0"/>
                <a:cs typeface="Segoe UI Semibold" panose="020B0702040204020203" pitchFamily="34" charset="0"/>
              </a:rPr>
              <a:t>THANKS FOR LISTENING</a:t>
            </a:r>
            <a:endParaRPr lang="zh-CN" altLang="en-US" sz="3600" dirty="0">
              <a:solidFill>
                <a:schemeClr val="bg1"/>
              </a:solidFill>
              <a:latin typeface="Segoe UI Semibold" panose="020B0702040204020203" pitchFamily="34" charset="0"/>
              <a:ea typeface="Arial Unicode MS" panose="020B0604020202020204" pitchFamily="34" charset="-122"/>
              <a:cs typeface="Segoe UI Semibold" panose="020B0702040204020203" pitchFamily="34" charset="0"/>
            </a:endParaRPr>
          </a:p>
        </p:txBody>
      </p:sp>
      <p:sp>
        <p:nvSpPr>
          <p:cNvPr id="2" name="文本框 1">
            <a:extLst>
              <a:ext uri="{FF2B5EF4-FFF2-40B4-BE49-F238E27FC236}">
                <a16:creationId xmlns:a16="http://schemas.microsoft.com/office/drawing/2014/main" id="{6264FB33-4217-071D-213D-D2A4A9C8C30B}"/>
              </a:ext>
            </a:extLst>
          </p:cNvPr>
          <p:cNvSpPr txBox="1"/>
          <p:nvPr/>
        </p:nvSpPr>
        <p:spPr>
          <a:xfrm>
            <a:off x="5559828" y="3752165"/>
            <a:ext cx="1072342" cy="400110"/>
          </a:xfrm>
          <a:prstGeom prst="rect">
            <a:avLst/>
          </a:prstGeom>
          <a:noFill/>
        </p:spPr>
        <p:txBody>
          <a:bodyPr wrap="square" rtlCol="0">
            <a:spAutoFit/>
          </a:bodyPr>
          <a:lstStyle/>
          <a:p>
            <a:pPr algn="ctr"/>
            <a:r>
              <a:rPr lang="en-US" altLang="zh-CN" sz="2000" dirty="0">
                <a:solidFill>
                  <a:schemeClr val="bg1"/>
                </a:solidFill>
                <a:latin typeface="Segoe UI Semibold" panose="020B0702040204020203" pitchFamily="34" charset="0"/>
                <a:cs typeface="Segoe UI Semibold" panose="020B0702040204020203" pitchFamily="34" charset="0"/>
              </a:rPr>
              <a:t>Rui Gu</a:t>
            </a:r>
            <a:endParaRPr lang="zh-CN" altLang="en-US" sz="2000"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6896682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TotalTime>
  <Words>2164</Words>
  <Application>Microsoft Office PowerPoint</Application>
  <PresentationFormat>宽屏</PresentationFormat>
  <Paragraphs>285</Paragraphs>
  <Slides>21</Slides>
  <Notes>0</Notes>
  <HiddenSlides>0</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等线</vt:lpstr>
      <vt:lpstr>等线 Light</vt:lpstr>
      <vt:lpstr>Arial</vt:lpstr>
      <vt:lpstr>Cambria Math</vt:lpstr>
      <vt:lpstr>Minion Pro</vt:lpstr>
      <vt:lpstr>Segoe UI</vt:lpstr>
      <vt:lpstr>Segoe UI Semibold</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 Rui</dc:creator>
  <cp:lastModifiedBy>Gu, Rui</cp:lastModifiedBy>
  <cp:revision>16</cp:revision>
  <dcterms:created xsi:type="dcterms:W3CDTF">2025-04-30T10:40:34Z</dcterms:created>
  <dcterms:modified xsi:type="dcterms:W3CDTF">2025-04-30T18:53:37Z</dcterms:modified>
</cp:coreProperties>
</file>